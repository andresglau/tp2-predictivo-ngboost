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12192000"/>
  <p:embeddedFontLst>
    <p:embeddedFont>
      <p:font typeface="IBM Plex Sans"/>
      <p:regular r:id="rId22"/>
      <p:bold r:id="rId23"/>
      <p:italic r:id="rId24"/>
      <p:boldItalic r:id="rId25"/>
    </p:embeddedFont>
    <p:embeddedFont>
      <p:font typeface="JetBrains Mon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hvQrbyFt6loxgoMWOH3nmV162/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03B2D7-0C71-4136-ACE7-F17EAFAD8684}">
  <a:tblStyle styleId="{C403B2D7-0C71-4136-ACE7-F17EAFAD868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IBMPlexSans-regular.fntdata"/><Relationship Id="rId21" Type="http://schemas.openxmlformats.org/officeDocument/2006/relationships/slide" Target="slides/slide16.xml"/><Relationship Id="rId24" Type="http://schemas.openxmlformats.org/officeDocument/2006/relationships/font" Target="fonts/IBMPlexSans-italic.fntdata"/><Relationship Id="rId23" Type="http://schemas.openxmlformats.org/officeDocument/2006/relationships/font" Target="fonts/IBMPlexSans-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JetBrainsMono-regular.fntdata"/><Relationship Id="rId25" Type="http://schemas.openxmlformats.org/officeDocument/2006/relationships/font" Target="fonts/IBMPlexSans-boldItalic.fntdata"/><Relationship Id="rId28" Type="http://schemas.openxmlformats.org/officeDocument/2006/relationships/font" Target="fonts/JetBrainsMono-italic.fntdata"/><Relationship Id="rId27" Type="http://schemas.openxmlformats.org/officeDocument/2006/relationships/font" Target="fonts/JetBrainsMon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JetBrainsMono-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Presentamos NGBoost, un método de boosting que en lugar de predecir un solo valor predice una distribución de probabilidad para cada observación. La idea es cubrir: qué problema resuelve, cómo funciona, qué muestra la evidencia, en qué casos sirve y cuáles son sus limitaciones.</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Ejemplo con valores ilustrativos. Dos casas con la misma media predicha, 150 mil dólares. En la A el modelo está muy seguro; en la B casi no sabe. Una regresión o un XGBoost estiman solo la esperanza condicional E[y|x], un número, y no distinguen estos casos. Para decidir (fijar un precio, aprobar un crédito, prometer un plazo) esa diferencia importa.</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Esto se llama regresión probabilística: estimar P(y|x), la distribución de y condicional a x, en vez de E[y|x]. Ojo: no es la distribución del dataset entero; es la distribución de y para una observación con esas características. Todas comparten la familia (por ejemplo Normal) pero cada una tiene sus parámetros. Con una Normal son 2 parámetros por observación; con Poisson sería 1 (lambda). En clasificación ya es normal predecir probabilidades; NGBoost lleva eso a la regresión.</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paper arranca justificando por qué hace falta un método nuevo. Las opciones existentes son rígidas (homocedástico, GAMLSS), lentas (bayesianos) o difíciles de usar (bayesianos, deep learning). Los gradient boosting clásicos funcionan muy bien en datos tabulares, incluso con pocos datos, pero en regresión solo dan un número.</a:t>
            </a:r>
            <a:endParaRPr/>
          </a:p>
        </p:txBody>
      </p:sp>
      <p:sp>
        <p:nvSpPr>
          <p:cNvPr id="73" name="Google Shape;7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Los dos son gradient boosting: árboles chicos entrenados en secuencia, cada uno corrigiendo lo que el ensamble hace mal. La diferencia es qué se boostea. XGBoost boostea un número; NGBoost boostea los parámetros de una distribución, con un árbol por parámetro. Sección 3.4 del paper: con Normal de varianza fija y log score se recupera el boosting estándar con MSE, salvo el line search por hoja. XGBoost también usa información de segundo orden (Hessiano); justamente el paper muestra que eso no funciona bien para varios parámetros.</a:t>
            </a:r>
            <a:endParaRPr/>
          </a:p>
        </p:txBody>
      </p:sp>
      <p:sp>
        <p:nvSpPr>
          <p:cNvPr id="84" name="Google Shape;8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Figura 2 del paper, de izquierda a derecha. Las variables x entran a los árboles base. Su salida son los parámetros θ de la distribución de esa observación (para la Normal, mu y log sigma). Con eso se arma la distribución predicha. La scoring rule la compara con el valor real y, como una función de pérdida. La flecha de abajo es el aprendizaje: se calcula el gradiente natural del score respecto de θ, y los árboles de la etapa siguiente se entrenan para predecirlo. Las tres piezas del medio son intercambiables: eso es lo que el paper llama modular.</a:t>
            </a:r>
            <a:endParaRPr/>
          </a:p>
        </p:txBody>
      </p:sp>
      <p:sp>
        <p:nvSpPr>
          <p:cNvPr id="95" name="Google Shape;9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Así como una regresión común se entrena minimizando el error cuadrático, NGBoost se entrena minimizando una scoring rule, que evalúa la distribución entera contra el valor que efectivamente ocurrió. La más común es el log score: menos el logaritmo de la probabilidad (densidad) que el modelo le asignó al valor real; es lo mismo que la verosimilitud negativa (NLL), y es la métrica que usa el paper para comparar. Premia concentrar probabilidad donde caen los datos, pero castiga tanto la sobreconfianza como la vaguedad. El CRPS es una alternativa más robusta a valores extremos. Dato: si se fija la incertidumbre constante, el log score de la Normal se reduce al error cuadrático, o sea, al boosting clásico.</a:t>
            </a:r>
            <a:endParaRPr/>
          </a:p>
        </p:txBody>
      </p:sp>
      <p:sp>
        <p:nvSpPr>
          <p:cNvPr id="114" name="Google Shape;11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Sección 3.2 del paper. El descenso de gradiente da pasos de tamaño fijo en el espacio de parámetros. Pero lo que importa es cuánto cambia la distribución. Con sigma chico, mover la media en 1 cambia todo; con sigma grande, casi nada. Además, la misma Normal se puede escribir con (mu, sigma), (mu, sigma al cuadrado) o (mu, log sigma), y el gradiente común da caminos distintos en cada caso: no es invariante a la parametrización. Con varios parámetros a la vez esto desbalancea el entrenamiento.</a:t>
            </a:r>
            <a:endParaRPr/>
          </a:p>
        </p:txBody>
      </p:sp>
      <p:sp>
        <p:nvSpPr>
          <p:cNvPr id="137" name="Google Shape;13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gradiente natural responde: de todos los pasos que cambian la distribución en una cantidad fija (medida con la divergencia de la scoring rule, KL para el log score), cuál mejora más el score. La respuesta es el gradiente común multiplicado por la inversa de I. El gradiente natural ya existía (Amari 1998) para KL; el aporte del paper es generalizarlo a cualquier scoring rule propia, como CRPS. NGBoost usa (mu, log sigma) porque log sigma garantiza sigma positivo y separa la predicción de la incertidumbre; el gradiente natural no se ve afectado por esa elección, Newton sí.</a:t>
            </a:r>
            <a:endParaRPr/>
          </a:p>
        </p:txBody>
      </p:sp>
      <p:sp>
        <p:nvSpPr>
          <p:cNvPr id="155" name="Google Shape;15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Algoritmo 1. Se arranca con la distribución marginal: por ejemplo una Normal ajustada a todos los precios del dataset. En cada etapa, para cada observación, se calcula hacia dónde mover sus parámetros (gradiente natural). Se entrena un árbol por parámetro para predecir esas direcciones a partir de x: el árbol generaliza y agrupa observaciones parecidas. Se elige el tamaño de paso rho con line search simple y se actualiza con learning rate eta (0,01 en el paper). Costo extra frente al boosting común: p árboles por etapa e invertir una matriz p por p por observación; como p suele ser 1 o 2, es poco. Con datasets grandes se usan minibatches.</a:t>
            </a:r>
            <a:endParaRPr/>
          </a:p>
        </p:txBody>
      </p:sp>
      <p:sp>
        <p:nvSpPr>
          <p:cNvPr id="175" name="Google Shape;17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h1a4c769d1022f2f8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h1a4c769d1022f2f8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Sección 3.2 del paper. El descenso de gradiente da pasos de tamaño fijo en el espacio de parámetros. Pero lo que importa es cuánto cambia la distribución. Con sigma chico, mover la media en 1 cambia todo; con sigma grande, casi nada. Además, la misma Normal se puede escribir con (mu, sigma), (mu, sigma al cuadrado) o (mu, log sigma), y el gradiente común da caminos distintos en cada caso: no es invariante a la parametrización. Con varios parámetros a la vez esto desbalancea el entrenamiento.</a:t>
            </a:r>
            <a:endParaRPr/>
          </a:p>
        </p:txBody>
      </p:sp>
      <p:sp>
        <p:nvSpPr>
          <p:cNvPr id="207" name="Google Shape;207;h1a4c769d1022f2f8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Tres experimentos. Tabla 1: contra otros métodos probabilísticos, NGBoost es competitivo, no dominante; los resultados de las redes fueron copiados de sus papers originales. Tabla 2, la más importante: multiparámetro y gradiente natural tienen que ir juntos; ninguno sirve solo. Tabla 3: usando la media como predicción, el costo en RMSE es chico aun optimizando NLL y sin tuning fuerte. Ojo: el paper afirma que es flexible, escalable y fácil de usar, pero admite que no lo midió rigurosamente.</a:t>
            </a:r>
            <a:endParaRPr/>
          </a:p>
        </p:txBody>
      </p:sp>
      <p:sp>
        <p:nvSpPr>
          <p:cNvPr id="222" name="Google Shape;22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Las ventajas que respaldan el paper y nuestra demo. La más importante es la primera: con la misma interfaz de un regresor común obtenés una distribución por observación. Las de flexibilidad y facilidad de uso las afirma el paper, aunque reconoce que no las midió rigurosamente.</a:t>
            </a:r>
            <a:endParaRPr/>
          </a:p>
        </p:txBody>
      </p:sp>
      <p:sp>
        <p:nvSpPr>
          <p:cNvPr id="246" name="Google Shape;24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nuestra demo se vio la primera: la Normal le asigna probabilidad a precios negativos, y los precios de California están topeados en 500 mil dólares, algo que ninguna de las dos familias modela. La lentitud también se notó: con learning rate 0,01 necesitó unas 1500 iteraciones. Trabajo futuro que propone el paper: mejores árboles y regularización estilo XGBoost/LightGBM, predicción conjunta de varias variables y estudiar sus propiedades teóricas.</a:t>
            </a:r>
            <a:endParaRPr/>
          </a:p>
        </p:txBody>
      </p:sp>
      <p:sp>
        <p:nvSpPr>
          <p:cNvPr id="273" name="Google Shape;27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Cierre en una frase. Repasar: el problema (una predicción puntual esconde la incertidumbre), la idea (boostear los parámetros de una distribución), la clave técnica (el gradiente natural, verificada en el paper y en nuestra demo) y el criterio para usarlo.</a:t>
            </a:r>
            <a:endParaRPr/>
          </a:p>
        </p:txBody>
      </p:sp>
      <p:sp>
        <p:nvSpPr>
          <p:cNvPr id="297" name="Google Shape;29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Gracias. Preguntas.</a:t>
            </a:r>
            <a:endParaRPr/>
          </a:p>
        </p:txBody>
      </p:sp>
      <p:sp>
        <p:nvSpPr>
          <p:cNvPr id="311" name="Google Shape;31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5F7FA"/>
        </a:solidFill>
      </p:bgPr>
    </p:bg>
    <p:spTree>
      <p:nvGrpSpPr>
        <p:cNvPr id="12" name="Shape 12"/>
        <p:cNvGrpSpPr/>
        <p:nvPr/>
      </p:nvGrpSpPr>
      <p:grpSpPr>
        <a:xfrm>
          <a:off x="0" y="0"/>
          <a:ext cx="0" cy="0"/>
          <a:chOff x="0" y="0"/>
          <a:chExt cx="0" cy="0"/>
        </a:xfrm>
      </p:grpSpPr>
      <p:sp>
        <p:nvSpPr>
          <p:cNvPr id="13" name="Google Shape;13;p18"/>
          <p:cNvSpPr txBox="1"/>
          <p:nvPr>
            <p:ph type="title"/>
          </p:nvPr>
        </p:nvSpPr>
        <p:spPr>
          <a:xfrm>
            <a:off x="812800" y="1102320"/>
            <a:ext cx="10566400" cy="46732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0B2545"/>
              </a:buClr>
              <a:buSzPts val="3200"/>
              <a:buFont typeface="IBM Plex Sans"/>
              <a:buNone/>
              <a:defRPr sz="3200">
                <a:solidFill>
                  <a:srgbClr val="0B2545"/>
                </a:solidFill>
                <a:latin typeface="IBM Plex Sans"/>
                <a:ea typeface="IBM Plex Sans"/>
                <a:cs typeface="IBM Plex Sans"/>
                <a:sym typeface="IBM Plex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8"/>
          <p:cNvSpPr txBox="1"/>
          <p:nvPr>
            <p:ph idx="1" type="body"/>
          </p:nvPr>
        </p:nvSpPr>
        <p:spPr>
          <a:xfrm>
            <a:off x="812800" y="1874441"/>
            <a:ext cx="10566400" cy="417075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0B2545"/>
              </a:buClr>
              <a:buSzPts val="1600"/>
              <a:buNone/>
              <a:defRPr sz="1600">
                <a:solidFill>
                  <a:srgbClr val="0B2545"/>
                </a:solidFill>
                <a:latin typeface="IBM Plex Sans"/>
                <a:ea typeface="IBM Plex Sans"/>
                <a:cs typeface="IBM Plex Sans"/>
                <a:sym typeface="IBM Plex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12800" y="1102320"/>
            <a:ext cx="10566400" cy="46732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0B2545"/>
              </a:buClr>
              <a:buSzPts val="3200"/>
              <a:buFont typeface="IBM Plex Sans"/>
              <a:buNone/>
              <a:defRPr b="0" i="0" sz="3200" u="none" cap="none" strike="noStrike">
                <a:solidFill>
                  <a:srgbClr val="0B2545"/>
                </a:solidFill>
                <a:latin typeface="IBM Plex Sans"/>
                <a:ea typeface="IBM Plex Sans"/>
                <a:cs typeface="IBM Plex Sans"/>
                <a:sym typeface="IBM Plex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7"/>
          <p:cNvSpPr txBox="1"/>
          <p:nvPr>
            <p:ph idx="1" type="body"/>
          </p:nvPr>
        </p:nvSpPr>
        <p:spPr>
          <a:xfrm>
            <a:off x="812800" y="1874441"/>
            <a:ext cx="10566400" cy="417075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0B2545"/>
              </a:buClr>
              <a:buSzPts val="1600"/>
              <a:buFont typeface="Arial"/>
              <a:buNone/>
              <a:defRPr b="0" i="0" sz="1600" u="none" cap="none" strike="noStrike">
                <a:solidFill>
                  <a:srgbClr val="0B2545"/>
                </a:solidFill>
                <a:latin typeface="IBM Plex Sans"/>
                <a:ea typeface="IBM Plex Sans"/>
                <a:cs typeface="IBM Plex Sans"/>
                <a:sym typeface="IBM Plex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BM Plex Sans"/>
                <a:ea typeface="IBM Plex Sans"/>
                <a:cs typeface="IBM Plex Sans"/>
                <a:sym typeface="IBM Plex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BM Plex Sans"/>
                <a:ea typeface="IBM Plex Sans"/>
                <a:cs typeface="IBM Plex Sans"/>
                <a:sym typeface="IBM Plex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26.png"/><Relationship Id="rId5"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image" Target="../media/image31.png"/><Relationship Id="rId6"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22.png"/><Relationship Id="rId6"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7.png"/><Relationship Id="rId7" Type="http://schemas.openxmlformats.org/officeDocument/2006/relationships/image" Target="../media/image36.png"/><Relationship Id="rId8"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hyperlink" Target="https://arxiv.org/abs/1910.03225" TargetMode="External"/><Relationship Id="rId5" Type="http://schemas.openxmlformats.org/officeDocument/2006/relationships/hyperlink" Target="https://stanfordmlgroup.github.io/ngboost" TargetMode="External"/><Relationship Id="rId6" Type="http://schemas.openxmlformats.org/officeDocument/2006/relationships/hyperlink" Target="https://github.com/stanfordmlgroup/ngboost" TargetMode="External"/><Relationship Id="rId7" Type="http://schemas.openxmlformats.org/officeDocument/2006/relationships/hyperlink" Target="https://github.com/andresglau/tp2-predictivo-ngboos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 name="Shape 20"/>
        <p:cNvGrpSpPr/>
        <p:nvPr/>
      </p:nvGrpSpPr>
      <p:grpSpPr>
        <a:xfrm>
          <a:off x="0" y="0"/>
          <a:ext cx="0" cy="0"/>
          <a:chOff x="0" y="0"/>
          <a:chExt cx="0" cy="0"/>
        </a:xfrm>
      </p:grpSpPr>
      <p:sp>
        <p:nvSpPr>
          <p:cNvPr id="21" name="Google Shape;21;p1"/>
          <p:cNvSpPr/>
          <p:nvPr/>
        </p:nvSpPr>
        <p:spPr>
          <a:xfrm>
            <a:off x="0" y="0"/>
            <a:ext cx="12192000" cy="101600"/>
          </a:xfrm>
          <a:prstGeom prst="rect">
            <a:avLst/>
          </a:prstGeom>
          <a:solidFill>
            <a:srgbClr val="3D8B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812800" y="1755880"/>
            <a:ext cx="10883400" cy="274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8E6"/>
              </a:buClr>
              <a:buSzPts val="1400"/>
              <a:buFont typeface="IBM Plex Sans"/>
              <a:buNone/>
            </a:pPr>
            <a:r>
              <a:rPr b="1" i="0" lang="en-US" sz="1400" u="none" cap="none" strike="noStrike">
                <a:solidFill>
                  <a:srgbClr val="8FB8E6"/>
                </a:solidFill>
                <a:latin typeface="IBM Plex Sans"/>
                <a:ea typeface="IBM Plex Sans"/>
                <a:cs typeface="IBM Plex Sans"/>
                <a:sym typeface="IBM Plex Sans"/>
              </a:rPr>
              <a:t>ANÁLISIS PREDICTIVO · EXAMEN 2</a:t>
            </a:r>
            <a:endParaRPr b="0" i="0" sz="1400" u="none" cap="none" strike="noStrike">
              <a:solidFill>
                <a:schemeClr val="dk1"/>
              </a:solidFill>
              <a:latin typeface="IBM Plex Sans"/>
              <a:ea typeface="IBM Plex Sans"/>
              <a:cs typeface="IBM Plex Sans"/>
              <a:sym typeface="IBM Plex Sans"/>
            </a:endParaRPr>
          </a:p>
        </p:txBody>
      </p:sp>
      <p:sp>
        <p:nvSpPr>
          <p:cNvPr id="23" name="Google Shape;23;p1"/>
          <p:cNvSpPr txBox="1"/>
          <p:nvPr>
            <p:ph type="title"/>
          </p:nvPr>
        </p:nvSpPr>
        <p:spPr>
          <a:xfrm>
            <a:off x="812800" y="2258770"/>
            <a:ext cx="10883400" cy="1041300"/>
          </a:xfrm>
          <a:prstGeom prst="rect">
            <a:avLst/>
          </a:prstGeom>
          <a:noFill/>
          <a:ln>
            <a:noFill/>
          </a:ln>
        </p:spPr>
        <p:txBody>
          <a:bodyPr anchorCtr="0" anchor="t" bIns="0" lIns="0" spcFirstLastPara="1" rIns="0" wrap="square" tIns="0">
            <a:normAutofit fontScale="90000"/>
          </a:bodyPr>
          <a:lstStyle/>
          <a:p>
            <a:pPr indent="0" lvl="0" marL="0" rtl="0" algn="l">
              <a:lnSpc>
                <a:spcPct val="100000"/>
              </a:lnSpc>
              <a:spcBef>
                <a:spcPts val="0"/>
              </a:spcBef>
              <a:spcAft>
                <a:spcPts val="0"/>
              </a:spcAft>
              <a:buClr>
                <a:srgbClr val="F5F7FA"/>
              </a:buClr>
              <a:buSzPct val="100000"/>
              <a:buFont typeface="IBM Plex Sans"/>
              <a:buNone/>
            </a:pPr>
            <a:r>
              <a:rPr b="1" i="0" lang="en-US" sz="8000">
                <a:solidFill>
                  <a:srgbClr val="F5F7FA"/>
                </a:solidFill>
                <a:latin typeface="IBM Plex Sans"/>
                <a:ea typeface="IBM Plex Sans"/>
                <a:cs typeface="IBM Plex Sans"/>
                <a:sym typeface="IBM Plex Sans"/>
              </a:rPr>
              <a:t>NGBoost</a:t>
            </a:r>
            <a:endParaRPr sz="8000"/>
          </a:p>
        </p:txBody>
      </p:sp>
      <p:sp>
        <p:nvSpPr>
          <p:cNvPr id="24" name="Google Shape;24;p1"/>
          <p:cNvSpPr/>
          <p:nvPr/>
        </p:nvSpPr>
        <p:spPr>
          <a:xfrm>
            <a:off x="812800" y="3528770"/>
            <a:ext cx="7848600" cy="78750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D4E2F2"/>
              </a:buClr>
              <a:buSzPts val="2400"/>
              <a:buFont typeface="IBM Plex Sans"/>
              <a:buNone/>
            </a:pPr>
            <a:r>
              <a:rPr b="0" i="0" lang="en-US" sz="2200" u="none" cap="none" strike="noStrike">
                <a:solidFill>
                  <a:srgbClr val="D4E2F2"/>
                </a:solidFill>
                <a:latin typeface="IBM Plex Sans"/>
                <a:ea typeface="IBM Plex Sans"/>
                <a:cs typeface="IBM Plex Sans"/>
                <a:sym typeface="IBM Plex Sans"/>
              </a:rPr>
              <a:t>Natural Gradient Boosting:</a:t>
            </a:r>
            <a:endParaRPr b="0" i="0" sz="2200" u="none" cap="none" strike="noStrike">
              <a:solidFill>
                <a:srgbClr val="D4E2F2"/>
              </a:solidFill>
              <a:latin typeface="IBM Plex Sans"/>
              <a:ea typeface="IBM Plex Sans"/>
              <a:cs typeface="IBM Plex Sans"/>
              <a:sym typeface="IBM Plex Sans"/>
            </a:endParaRPr>
          </a:p>
          <a:p>
            <a:pPr indent="0" lvl="0" marL="0" marR="0" rtl="0" algn="l">
              <a:lnSpc>
                <a:spcPct val="125000"/>
              </a:lnSpc>
              <a:spcBef>
                <a:spcPts val="0"/>
              </a:spcBef>
              <a:spcAft>
                <a:spcPts val="0"/>
              </a:spcAft>
              <a:buClr>
                <a:srgbClr val="D4E2F2"/>
              </a:buClr>
              <a:buSzPts val="2400"/>
              <a:buFont typeface="IBM Plex Sans"/>
              <a:buNone/>
            </a:pPr>
            <a:r>
              <a:rPr lang="en-US" sz="1800">
                <a:solidFill>
                  <a:srgbClr val="D4E2F2"/>
                </a:solidFill>
                <a:latin typeface="IBM Plex Sans"/>
                <a:ea typeface="IBM Plex Sans"/>
                <a:cs typeface="IBM Plex Sans"/>
                <a:sym typeface="IBM Plex Sans"/>
              </a:rPr>
              <a:t>P</a:t>
            </a:r>
            <a:r>
              <a:rPr b="0" i="0" lang="en-US" sz="1800" u="none" cap="none" strike="noStrike">
                <a:solidFill>
                  <a:srgbClr val="D4E2F2"/>
                </a:solidFill>
                <a:latin typeface="IBM Plex Sans"/>
                <a:ea typeface="IBM Plex Sans"/>
                <a:cs typeface="IBM Plex Sans"/>
                <a:sym typeface="IBM Plex Sans"/>
              </a:rPr>
              <a:t>redecir una distribución completa, </a:t>
            </a:r>
            <a:endParaRPr b="0" i="0" sz="1800" u="none" cap="none" strike="noStrike">
              <a:solidFill>
                <a:srgbClr val="D4E2F2"/>
              </a:solidFill>
              <a:latin typeface="IBM Plex Sans"/>
              <a:ea typeface="IBM Plex Sans"/>
              <a:cs typeface="IBM Plex Sans"/>
              <a:sym typeface="IBM Plex Sans"/>
            </a:endParaRPr>
          </a:p>
          <a:p>
            <a:pPr indent="0" lvl="0" marL="0" marR="0" rtl="0" algn="l">
              <a:lnSpc>
                <a:spcPct val="125000"/>
              </a:lnSpc>
              <a:spcBef>
                <a:spcPts val="0"/>
              </a:spcBef>
              <a:spcAft>
                <a:spcPts val="0"/>
              </a:spcAft>
              <a:buClr>
                <a:srgbClr val="D4E2F2"/>
              </a:buClr>
              <a:buSzPts val="2400"/>
              <a:buFont typeface="IBM Plex Sans"/>
              <a:buNone/>
            </a:pPr>
            <a:r>
              <a:rPr b="0" i="0" lang="en-US" sz="1800" u="none" cap="none" strike="noStrike">
                <a:solidFill>
                  <a:srgbClr val="D4E2F2"/>
                </a:solidFill>
                <a:latin typeface="IBM Plex Sans"/>
                <a:ea typeface="IBM Plex Sans"/>
                <a:cs typeface="IBM Plex Sans"/>
                <a:sym typeface="IBM Plex Sans"/>
              </a:rPr>
              <a:t>no solo un número</a:t>
            </a:r>
            <a:endParaRPr b="0" i="0" sz="1800" u="none" cap="none" strike="noStrike">
              <a:solidFill>
                <a:schemeClr val="dk1"/>
              </a:solidFill>
              <a:latin typeface="IBM Plex Sans"/>
              <a:ea typeface="IBM Plex Sans"/>
              <a:cs typeface="IBM Plex Sans"/>
              <a:sym typeface="IBM Plex Sans"/>
            </a:endParaRPr>
          </a:p>
        </p:txBody>
      </p:sp>
      <p:sp>
        <p:nvSpPr>
          <p:cNvPr id="25" name="Google Shape;25;p1"/>
          <p:cNvSpPr/>
          <p:nvPr/>
        </p:nvSpPr>
        <p:spPr>
          <a:xfrm>
            <a:off x="812800" y="5593860"/>
            <a:ext cx="7848600" cy="274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8E6"/>
              </a:buClr>
              <a:buSzPts val="1400"/>
              <a:buFont typeface="IBM Plex Sans"/>
              <a:buNone/>
            </a:pPr>
            <a:r>
              <a:rPr b="0" i="0" lang="en-US" sz="1400" u="none" cap="none" strike="noStrike">
                <a:solidFill>
                  <a:srgbClr val="8FB8E6"/>
                </a:solidFill>
                <a:latin typeface="IBM Plex Sans"/>
                <a:ea typeface="IBM Plex Sans"/>
                <a:cs typeface="IBM Plex Sans"/>
                <a:sym typeface="IBM Plex Sans"/>
              </a:rPr>
              <a:t>Basado en Duan et al. (2019), Stanford ML Group · ITBA</a:t>
            </a:r>
            <a:endParaRPr b="0" i="0" sz="1400" u="none" cap="none" strike="noStrike">
              <a:solidFill>
                <a:schemeClr val="dk1"/>
              </a:solidFill>
              <a:latin typeface="IBM Plex Sans"/>
              <a:ea typeface="IBM Plex Sans"/>
              <a:cs typeface="IBM Plex Sans"/>
              <a:sym typeface="IBM Plex Sans"/>
            </a:endParaRPr>
          </a:p>
        </p:txBody>
      </p:sp>
      <p:pic>
        <p:nvPicPr>
          <p:cNvPr id="26" name="Google Shape;26;p1"/>
          <p:cNvPicPr preferRelativeResize="0"/>
          <p:nvPr/>
        </p:nvPicPr>
        <p:blipFill>
          <a:blip r:embed="rId4">
            <a:alphaModFix/>
          </a:blip>
          <a:stretch>
            <a:fillRect/>
          </a:stretch>
        </p:blipFill>
        <p:spPr>
          <a:xfrm>
            <a:off x="7031225" y="1435925"/>
            <a:ext cx="4157925" cy="4157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 name="Shape 31"/>
        <p:cNvGrpSpPr/>
        <p:nvPr/>
      </p:nvGrpSpPr>
      <p:grpSpPr>
        <a:xfrm>
          <a:off x="0" y="0"/>
          <a:ext cx="0" cy="0"/>
          <a:chOff x="0" y="0"/>
          <a:chExt cx="0" cy="0"/>
        </a:xfrm>
      </p:grpSpPr>
      <p:sp>
        <p:nvSpPr>
          <p:cNvPr id="32" name="Google Shape;32;p2"/>
          <p:cNvSpPr/>
          <p:nvPr/>
        </p:nvSpPr>
        <p:spPr>
          <a:xfrm>
            <a:off x="812800" y="790250"/>
            <a:ext cx="10883400" cy="23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200"/>
              <a:buFont typeface="IBM Plex Sans"/>
              <a:buNone/>
            </a:pPr>
            <a:r>
              <a:rPr b="1" i="0" lang="en-US" sz="1200" u="none" cap="none" strike="noStrike">
                <a:solidFill>
                  <a:srgbClr val="1B5FA8"/>
                </a:solidFill>
                <a:latin typeface="IBM Plex Sans"/>
                <a:ea typeface="IBM Plex Sans"/>
                <a:cs typeface="IBM Plex Sans"/>
                <a:sym typeface="IBM Plex Sans"/>
              </a:rPr>
              <a:t>EL PROBLEMA</a:t>
            </a:r>
            <a:endParaRPr b="0" i="0" sz="1200" u="none" cap="none" strike="noStrike">
              <a:solidFill>
                <a:schemeClr val="dk1"/>
              </a:solidFill>
              <a:latin typeface="IBM Plex Sans"/>
              <a:ea typeface="IBM Plex Sans"/>
              <a:cs typeface="IBM Plex Sans"/>
              <a:sym typeface="IBM Plex Sans"/>
            </a:endParaRPr>
          </a:p>
        </p:txBody>
      </p:sp>
      <p:sp>
        <p:nvSpPr>
          <p:cNvPr id="33" name="Google Shape;33;p2"/>
          <p:cNvSpPr txBox="1"/>
          <p:nvPr>
            <p:ph type="title"/>
          </p:nvPr>
        </p:nvSpPr>
        <p:spPr>
          <a:xfrm>
            <a:off x="1691700" y="1186820"/>
            <a:ext cx="10883400" cy="49260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0B2545"/>
              </a:buClr>
              <a:buSzPts val="3200"/>
              <a:buFont typeface="IBM Plex Sans"/>
              <a:buNone/>
            </a:pPr>
            <a:r>
              <a:rPr b="1" i="0" lang="en-US" sz="3200">
                <a:solidFill>
                  <a:srgbClr val="0B2545"/>
                </a:solidFill>
                <a:latin typeface="IBM Plex Sans"/>
                <a:ea typeface="IBM Plex Sans"/>
                <a:cs typeface="IBM Plex Sans"/>
                <a:sym typeface="IBM Plex Sans"/>
              </a:rPr>
              <a:t>Dos casas, la misma predicción</a:t>
            </a:r>
            <a:endParaRPr sz="3200"/>
          </a:p>
        </p:txBody>
      </p:sp>
      <p:pic>
        <p:nvPicPr>
          <p:cNvPr descr="Dos distribuciones normales con media 150 mil dólares: una angosta con desvío 8 mil y otra ancha con desvío 40 mil" id="34" name="Google Shape;34;p2"/>
          <p:cNvPicPr preferRelativeResize="0"/>
          <p:nvPr/>
        </p:nvPicPr>
        <p:blipFill rotWithShape="1">
          <a:blip r:embed="rId4">
            <a:alphaModFix/>
          </a:blip>
          <a:srcRect b="0" l="0" r="0" t="0"/>
          <a:stretch/>
        </p:blipFill>
        <p:spPr>
          <a:xfrm>
            <a:off x="812800" y="1913880"/>
            <a:ext cx="5715000" cy="2286000"/>
          </a:xfrm>
          <a:prstGeom prst="rect">
            <a:avLst/>
          </a:prstGeom>
          <a:noFill/>
          <a:ln>
            <a:noFill/>
          </a:ln>
        </p:spPr>
      </p:pic>
      <p:sp>
        <p:nvSpPr>
          <p:cNvPr id="35" name="Google Shape;35;p2"/>
          <p:cNvSpPr/>
          <p:nvPr/>
        </p:nvSpPr>
        <p:spPr>
          <a:xfrm>
            <a:off x="787400" y="4276080"/>
            <a:ext cx="57150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6B7A8F"/>
              </a:buClr>
              <a:buSzPts val="1200"/>
              <a:buFont typeface="IBM Plex Sans"/>
              <a:buNone/>
            </a:pPr>
            <a:r>
              <a:rPr b="0" i="0" lang="en-US" sz="1200" u="none" cap="none" strike="noStrike">
                <a:solidFill>
                  <a:srgbClr val="6B7A8F"/>
                </a:solidFill>
                <a:latin typeface="IBM Plex Sans"/>
                <a:ea typeface="IBM Plex Sans"/>
                <a:cs typeface="IBM Plex Sans"/>
                <a:sym typeface="IBM Plex Sans"/>
              </a:rPr>
              <a:t>50k</a:t>
            </a:r>
            <a:endParaRPr b="0" i="0" sz="1200" u="none" cap="none" strike="noStrike">
              <a:solidFill>
                <a:schemeClr val="dk1"/>
              </a:solidFill>
              <a:latin typeface="IBM Plex Sans"/>
              <a:ea typeface="IBM Plex Sans"/>
              <a:cs typeface="IBM Plex Sans"/>
              <a:sym typeface="IBM Plex Sans"/>
            </a:endParaRPr>
          </a:p>
        </p:txBody>
      </p:sp>
      <p:sp>
        <p:nvSpPr>
          <p:cNvPr id="36" name="Google Shape;36;p2"/>
          <p:cNvSpPr/>
          <p:nvPr/>
        </p:nvSpPr>
        <p:spPr>
          <a:xfrm>
            <a:off x="2089150" y="4276080"/>
            <a:ext cx="57150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6B7A8F"/>
              </a:buClr>
              <a:buSzPts val="1200"/>
              <a:buFont typeface="IBM Plex Sans"/>
              <a:buNone/>
            </a:pPr>
            <a:r>
              <a:rPr b="0" i="0" lang="en-US" sz="1200" u="none" cap="none" strike="noStrike">
                <a:solidFill>
                  <a:srgbClr val="6B7A8F"/>
                </a:solidFill>
                <a:latin typeface="IBM Plex Sans"/>
                <a:ea typeface="IBM Plex Sans"/>
                <a:cs typeface="IBM Plex Sans"/>
                <a:sym typeface="IBM Plex Sans"/>
              </a:rPr>
              <a:t>100k</a:t>
            </a:r>
            <a:endParaRPr b="0" i="0" sz="1200" u="none" cap="none" strike="noStrike">
              <a:solidFill>
                <a:schemeClr val="dk1"/>
              </a:solidFill>
              <a:latin typeface="IBM Plex Sans"/>
              <a:ea typeface="IBM Plex Sans"/>
              <a:cs typeface="IBM Plex Sans"/>
              <a:sym typeface="IBM Plex Sans"/>
            </a:endParaRPr>
          </a:p>
        </p:txBody>
      </p:sp>
      <p:sp>
        <p:nvSpPr>
          <p:cNvPr id="37" name="Google Shape;37;p2"/>
          <p:cNvSpPr/>
          <p:nvPr/>
        </p:nvSpPr>
        <p:spPr>
          <a:xfrm>
            <a:off x="3384550" y="4276080"/>
            <a:ext cx="57150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B2545"/>
              </a:buClr>
              <a:buSzPts val="1200"/>
              <a:buFont typeface="IBM Plex Sans"/>
              <a:buNone/>
            </a:pPr>
            <a:r>
              <a:rPr b="1" i="0" lang="en-US" sz="1200" u="none" cap="none" strike="noStrike">
                <a:solidFill>
                  <a:srgbClr val="0B2545"/>
                </a:solidFill>
                <a:latin typeface="IBM Plex Sans"/>
                <a:ea typeface="IBM Plex Sans"/>
                <a:cs typeface="IBM Plex Sans"/>
                <a:sym typeface="IBM Plex Sans"/>
              </a:rPr>
              <a:t>150k</a:t>
            </a:r>
            <a:endParaRPr b="0" i="0" sz="1200" u="none" cap="none" strike="noStrike">
              <a:solidFill>
                <a:schemeClr val="dk1"/>
              </a:solidFill>
              <a:latin typeface="IBM Plex Sans"/>
              <a:ea typeface="IBM Plex Sans"/>
              <a:cs typeface="IBM Plex Sans"/>
              <a:sym typeface="IBM Plex Sans"/>
            </a:endParaRPr>
          </a:p>
        </p:txBody>
      </p:sp>
      <p:sp>
        <p:nvSpPr>
          <p:cNvPr id="38" name="Google Shape;38;p2"/>
          <p:cNvSpPr/>
          <p:nvPr/>
        </p:nvSpPr>
        <p:spPr>
          <a:xfrm>
            <a:off x="4686300" y="4276080"/>
            <a:ext cx="57150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6B7A8F"/>
              </a:buClr>
              <a:buSzPts val="1200"/>
              <a:buFont typeface="IBM Plex Sans"/>
              <a:buNone/>
            </a:pPr>
            <a:r>
              <a:rPr b="0" i="0" lang="en-US" sz="1200" u="none" cap="none" strike="noStrike">
                <a:solidFill>
                  <a:srgbClr val="6B7A8F"/>
                </a:solidFill>
                <a:latin typeface="IBM Plex Sans"/>
                <a:ea typeface="IBM Plex Sans"/>
                <a:cs typeface="IBM Plex Sans"/>
                <a:sym typeface="IBM Plex Sans"/>
              </a:rPr>
              <a:t>200k</a:t>
            </a:r>
            <a:endParaRPr b="0" i="0" sz="1200" u="none" cap="none" strike="noStrike">
              <a:solidFill>
                <a:schemeClr val="dk1"/>
              </a:solidFill>
              <a:latin typeface="IBM Plex Sans"/>
              <a:ea typeface="IBM Plex Sans"/>
              <a:cs typeface="IBM Plex Sans"/>
              <a:sym typeface="IBM Plex Sans"/>
            </a:endParaRPr>
          </a:p>
        </p:txBody>
      </p:sp>
      <p:sp>
        <p:nvSpPr>
          <p:cNvPr id="39" name="Google Shape;39;p2"/>
          <p:cNvSpPr/>
          <p:nvPr/>
        </p:nvSpPr>
        <p:spPr>
          <a:xfrm>
            <a:off x="5981700" y="4276080"/>
            <a:ext cx="571500"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6B7A8F"/>
              </a:buClr>
              <a:buSzPts val="1200"/>
              <a:buFont typeface="IBM Plex Sans"/>
              <a:buNone/>
            </a:pPr>
            <a:r>
              <a:rPr b="0" i="0" lang="en-US" sz="1200" u="none" cap="none" strike="noStrike">
                <a:solidFill>
                  <a:srgbClr val="6B7A8F"/>
                </a:solidFill>
                <a:latin typeface="IBM Plex Sans"/>
                <a:ea typeface="IBM Plex Sans"/>
                <a:cs typeface="IBM Plex Sans"/>
                <a:sym typeface="IBM Plex Sans"/>
              </a:rPr>
              <a:t>250k</a:t>
            </a:r>
            <a:endParaRPr b="0" i="0" sz="1200" u="none" cap="none" strike="noStrike">
              <a:solidFill>
                <a:schemeClr val="dk1"/>
              </a:solidFill>
              <a:latin typeface="IBM Plex Sans"/>
              <a:ea typeface="IBM Plex Sans"/>
              <a:cs typeface="IBM Plex Sans"/>
              <a:sym typeface="IBM Plex Sans"/>
            </a:endParaRPr>
          </a:p>
        </p:txBody>
      </p:sp>
      <p:cxnSp>
        <p:nvCxnSpPr>
          <p:cNvPr id="40" name="Google Shape;40;p2"/>
          <p:cNvCxnSpPr/>
          <p:nvPr/>
        </p:nvCxnSpPr>
        <p:spPr>
          <a:xfrm>
            <a:off x="7054850" y="2582565"/>
            <a:ext cx="0" cy="582265"/>
          </a:xfrm>
          <a:prstGeom prst="straightConnector1">
            <a:avLst/>
          </a:prstGeom>
          <a:noFill/>
          <a:ln cap="flat" cmpd="sng" w="38100">
            <a:solidFill>
              <a:srgbClr val="0B2545"/>
            </a:solidFill>
            <a:prstDash val="solid"/>
            <a:round/>
            <a:headEnd len="sm" w="sm" type="none"/>
            <a:tailEnd len="sm" w="sm" type="none"/>
          </a:ln>
        </p:spPr>
      </p:cxnSp>
      <p:sp>
        <p:nvSpPr>
          <p:cNvPr id="41" name="Google Shape;41;p2"/>
          <p:cNvSpPr/>
          <p:nvPr/>
        </p:nvSpPr>
        <p:spPr>
          <a:xfrm>
            <a:off x="7226300" y="2582565"/>
            <a:ext cx="4277487" cy="29969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B2545"/>
              </a:buClr>
              <a:buSzPts val="1800"/>
              <a:buFont typeface="IBM Plex Sans"/>
              <a:buNone/>
            </a:pPr>
            <a:r>
              <a:rPr b="1" i="0" lang="en-US" sz="1800" u="none" cap="none" strike="noStrike">
                <a:solidFill>
                  <a:srgbClr val="0B2545"/>
                </a:solidFill>
                <a:latin typeface="IBM Plex Sans"/>
                <a:ea typeface="IBM Plex Sans"/>
                <a:cs typeface="IBM Plex Sans"/>
                <a:sym typeface="IBM Plex Sans"/>
              </a:rPr>
              <a:t>Casa A · σ = 8k</a:t>
            </a:r>
            <a:endParaRPr b="0" i="0" sz="1800" u="none" cap="none" strike="noStrike">
              <a:solidFill>
                <a:schemeClr val="dk1"/>
              </a:solidFill>
              <a:latin typeface="IBM Plex Sans"/>
              <a:ea typeface="IBM Plex Sans"/>
              <a:cs typeface="IBM Plex Sans"/>
              <a:sym typeface="IBM Plex Sans"/>
            </a:endParaRPr>
          </a:p>
        </p:txBody>
      </p:sp>
      <p:sp>
        <p:nvSpPr>
          <p:cNvPr id="42" name="Google Shape;42;p2"/>
          <p:cNvSpPr/>
          <p:nvPr/>
        </p:nvSpPr>
        <p:spPr>
          <a:xfrm>
            <a:off x="7226300" y="2907655"/>
            <a:ext cx="4277487" cy="2825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500"/>
              <a:buFont typeface="IBM Plex Sans"/>
              <a:buNone/>
            </a:pPr>
            <a:r>
              <a:rPr b="0" i="0" lang="en-US" sz="1500" u="none" cap="none" strike="noStrike">
                <a:solidFill>
                  <a:srgbClr val="3B4A5E"/>
                </a:solidFill>
                <a:latin typeface="IBM Plex Sans"/>
                <a:ea typeface="IBM Plex Sans"/>
                <a:cs typeface="IBM Plex Sans"/>
                <a:sym typeface="IBM Plex Sans"/>
              </a:rPr>
              <a:t>95% de chance entre 134k y 166k</a:t>
            </a:r>
            <a:endParaRPr b="0" i="0" sz="1500" u="none" cap="none" strike="noStrike">
              <a:solidFill>
                <a:schemeClr val="dk1"/>
              </a:solidFill>
              <a:latin typeface="IBM Plex Sans"/>
              <a:ea typeface="IBM Plex Sans"/>
              <a:cs typeface="IBM Plex Sans"/>
              <a:sym typeface="IBM Plex Sans"/>
            </a:endParaRPr>
          </a:p>
        </p:txBody>
      </p:sp>
      <p:cxnSp>
        <p:nvCxnSpPr>
          <p:cNvPr id="43" name="Google Shape;43;p2"/>
          <p:cNvCxnSpPr/>
          <p:nvPr/>
        </p:nvCxnSpPr>
        <p:spPr>
          <a:xfrm>
            <a:off x="7054850" y="3393430"/>
            <a:ext cx="0" cy="582265"/>
          </a:xfrm>
          <a:prstGeom prst="straightConnector1">
            <a:avLst/>
          </a:prstGeom>
          <a:noFill/>
          <a:ln cap="flat" cmpd="sng" w="38100">
            <a:solidFill>
              <a:srgbClr val="C2560F"/>
            </a:solidFill>
            <a:prstDash val="solid"/>
            <a:round/>
            <a:headEnd len="sm" w="sm" type="none"/>
            <a:tailEnd len="sm" w="sm" type="none"/>
          </a:ln>
        </p:spPr>
      </p:cxnSp>
      <p:sp>
        <p:nvSpPr>
          <p:cNvPr id="44" name="Google Shape;44;p2"/>
          <p:cNvSpPr/>
          <p:nvPr/>
        </p:nvSpPr>
        <p:spPr>
          <a:xfrm>
            <a:off x="7226300" y="3393430"/>
            <a:ext cx="4277487" cy="29969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C2560F"/>
              </a:buClr>
              <a:buSzPts val="1800"/>
              <a:buFont typeface="IBM Plex Sans"/>
              <a:buNone/>
            </a:pPr>
            <a:r>
              <a:rPr b="1" i="0" lang="en-US" sz="1800" u="none" cap="none" strike="noStrike">
                <a:solidFill>
                  <a:srgbClr val="C2560F"/>
                </a:solidFill>
                <a:latin typeface="IBM Plex Sans"/>
                <a:ea typeface="IBM Plex Sans"/>
                <a:cs typeface="IBM Plex Sans"/>
                <a:sym typeface="IBM Plex Sans"/>
              </a:rPr>
              <a:t>Casa B · σ = 40k</a:t>
            </a:r>
            <a:endParaRPr b="0" i="0" sz="1800" u="none" cap="none" strike="noStrike">
              <a:solidFill>
                <a:schemeClr val="dk1"/>
              </a:solidFill>
              <a:latin typeface="IBM Plex Sans"/>
              <a:ea typeface="IBM Plex Sans"/>
              <a:cs typeface="IBM Plex Sans"/>
              <a:sym typeface="IBM Plex Sans"/>
            </a:endParaRPr>
          </a:p>
        </p:txBody>
      </p:sp>
      <p:sp>
        <p:nvSpPr>
          <p:cNvPr id="45" name="Google Shape;45;p2"/>
          <p:cNvSpPr/>
          <p:nvPr/>
        </p:nvSpPr>
        <p:spPr>
          <a:xfrm>
            <a:off x="7226300" y="3718520"/>
            <a:ext cx="4277487" cy="2825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500"/>
              <a:buFont typeface="IBM Plex Sans"/>
              <a:buNone/>
            </a:pPr>
            <a:r>
              <a:rPr b="0" i="0" lang="en-US" sz="1500" u="none" cap="none" strike="noStrike">
                <a:solidFill>
                  <a:srgbClr val="3B4A5E"/>
                </a:solidFill>
                <a:latin typeface="IBM Plex Sans"/>
                <a:ea typeface="IBM Plex Sans"/>
                <a:cs typeface="IBM Plex Sans"/>
                <a:sym typeface="IBM Plex Sans"/>
              </a:rPr>
              <a:t>95% de chance entre 72k y 228k</a:t>
            </a:r>
            <a:endParaRPr b="0" i="0" sz="1500" u="none" cap="none" strike="noStrike">
              <a:solidFill>
                <a:schemeClr val="dk1"/>
              </a:solidFill>
              <a:latin typeface="IBM Plex Sans"/>
              <a:ea typeface="IBM Plex Sans"/>
              <a:cs typeface="IBM Plex Sans"/>
              <a:sym typeface="IBM Plex Sans"/>
            </a:endParaRPr>
          </a:p>
        </p:txBody>
      </p:sp>
      <p:sp>
        <p:nvSpPr>
          <p:cNvPr id="46" name="Google Shape;46;p2"/>
          <p:cNvSpPr/>
          <p:nvPr/>
        </p:nvSpPr>
        <p:spPr>
          <a:xfrm>
            <a:off x="812800" y="4988620"/>
            <a:ext cx="10566400" cy="853380"/>
          </a:xfrm>
          <a:prstGeom prst="roundRect">
            <a:avLst>
              <a:gd fmla="val 8929" name="adj"/>
            </a:avLst>
          </a:prstGeom>
          <a:solidFill>
            <a:srgbClr val="E3ECF6"/>
          </a:solidFill>
          <a:ln>
            <a:noFill/>
          </a:ln>
        </p:spPr>
        <p:txBody>
          <a:bodyPr anchorCtr="0" anchor="t" bIns="104675" lIns="180875" spcFirstLastPara="1" rIns="0" wrap="square" tIns="130075">
            <a:normAutofit/>
          </a:bodyPr>
          <a:lstStyle/>
          <a:p>
            <a:pPr indent="0" lvl="0" marL="0" marR="0" rtl="0" algn="l">
              <a:lnSpc>
                <a:spcPct val="135000"/>
              </a:lnSpc>
              <a:spcBef>
                <a:spcPts val="0"/>
              </a:spcBef>
              <a:spcAft>
                <a:spcPts val="0"/>
              </a:spcAft>
              <a:buClr>
                <a:srgbClr val="0B2545"/>
              </a:buClr>
              <a:buSzPts val="1600"/>
              <a:buFont typeface="IBM Plex Sans"/>
              <a:buNone/>
            </a:pPr>
            <a:r>
              <a:rPr b="0" i="0" lang="en-US" sz="1600" u="none" cap="none" strike="noStrike">
                <a:solidFill>
                  <a:srgbClr val="0B2545"/>
                </a:solidFill>
                <a:latin typeface="IBM Plex Sans"/>
                <a:ea typeface="IBM Plex Sans"/>
                <a:cs typeface="IBM Plex Sans"/>
                <a:sym typeface="IBM Plex Sans"/>
              </a:rPr>
              <a:t>Un modelo de predicción puntual dice </a:t>
            </a:r>
            <a:r>
              <a:rPr b="1" i="0" lang="en-US" sz="1600" u="none" cap="none" strike="noStrike">
                <a:solidFill>
                  <a:srgbClr val="0B2545"/>
                </a:solidFill>
                <a:latin typeface="IBM Plex Sans"/>
                <a:ea typeface="IBM Plex Sans"/>
                <a:cs typeface="IBM Plex Sans"/>
                <a:sym typeface="IBM Plex Sans"/>
              </a:rPr>
              <a:t>“USD 150k”</a:t>
            </a:r>
            <a:r>
              <a:rPr b="0" i="0" lang="en-US" sz="1600" u="none" cap="none" strike="noStrike">
                <a:solidFill>
                  <a:srgbClr val="0B2545"/>
                </a:solidFill>
                <a:latin typeface="IBM Plex Sans"/>
                <a:ea typeface="IBM Plex Sans"/>
                <a:cs typeface="IBM Plex Sans"/>
                <a:sym typeface="IBM Plex Sans"/>
              </a:rPr>
              <a:t> para las dos. La diferencia en la incertidumbre queda oculta.</a:t>
            </a:r>
            <a:endParaRPr b="0" i="0" sz="1600" u="none" cap="none" strike="noStrike">
              <a:solidFill>
                <a:schemeClr val="dk1"/>
              </a:solidFill>
              <a:latin typeface="IBM Plex Sans"/>
              <a:ea typeface="IBM Plex Sans"/>
              <a:cs typeface="IBM Plex Sans"/>
              <a:sym typeface="IBM Plex Sans"/>
            </a:endParaRPr>
          </a:p>
        </p:txBody>
      </p:sp>
      <p:sp>
        <p:nvSpPr>
          <p:cNvPr id="47" name="Google Shape;47;p2"/>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A8F"/>
              </a:buClr>
              <a:buSzPts val="1200"/>
              <a:buFont typeface="IBM Plex Sans"/>
              <a:buNone/>
            </a:pPr>
            <a:r>
              <a:rPr b="0" i="0" lang="en-US" sz="1200" u="none" cap="none" strike="noStrike">
                <a:solidFill>
                  <a:srgbClr val="6B7A8F"/>
                </a:solidFill>
                <a:latin typeface="IBM Plex Sans"/>
                <a:ea typeface="IBM Plex Sans"/>
                <a:cs typeface="IBM Plex Sans"/>
                <a:sym typeface="IBM Plex Sans"/>
              </a:rPr>
              <a:t>NGBoost · Análisis Predictivo · 02</a:t>
            </a:r>
            <a:endParaRPr b="0" i="0" sz="1200" u="none" cap="none" strike="noStrike">
              <a:solidFill>
                <a:schemeClr val="dk1"/>
              </a:solidFill>
              <a:latin typeface="IBM Plex Sans"/>
              <a:ea typeface="IBM Plex Sans"/>
              <a:cs typeface="IBM Plex Sans"/>
              <a:sym typeface="IBM Plex Sans"/>
            </a:endParaRPr>
          </a:p>
        </p:txBody>
      </p:sp>
      <p:pic>
        <p:nvPicPr>
          <p:cNvPr id="48" name="Google Shape;48;p2"/>
          <p:cNvPicPr preferRelativeResize="0"/>
          <p:nvPr/>
        </p:nvPicPr>
        <p:blipFill>
          <a:blip r:embed="rId5">
            <a:alphaModFix/>
          </a:blip>
          <a:stretch>
            <a:fillRect/>
          </a:stretch>
        </p:blipFill>
        <p:spPr>
          <a:xfrm>
            <a:off x="812800" y="1029050"/>
            <a:ext cx="712375" cy="712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200"/>
              <a:buFont typeface="IBM Plex Sans"/>
              <a:buNone/>
            </a:pPr>
            <a:r>
              <a:rPr b="1" i="0" lang="en-US" sz="1200" u="none" cap="none" strike="noStrike">
                <a:solidFill>
                  <a:srgbClr val="1B5FA8"/>
                </a:solidFill>
                <a:latin typeface="IBM Plex Sans"/>
                <a:ea typeface="IBM Plex Sans"/>
                <a:cs typeface="IBM Plex Sans"/>
                <a:sym typeface="IBM Plex Sans"/>
              </a:rPr>
              <a:t>LA IDEA</a:t>
            </a:r>
            <a:endParaRPr b="0" i="0" sz="1200" u="none" cap="none" strike="noStrike">
              <a:solidFill>
                <a:schemeClr val="dk1"/>
              </a:solidFill>
              <a:latin typeface="IBM Plex Sans"/>
              <a:ea typeface="IBM Plex Sans"/>
              <a:cs typeface="IBM Plex Sans"/>
              <a:sym typeface="IBM Plex Sans"/>
            </a:endParaRPr>
          </a:p>
        </p:txBody>
      </p:sp>
      <p:sp>
        <p:nvSpPr>
          <p:cNvPr id="55" name="Google Shape;55;p3"/>
          <p:cNvSpPr/>
          <p:nvPr/>
        </p:nvSpPr>
        <p:spPr>
          <a:xfrm>
            <a:off x="812800" y="1874441"/>
            <a:ext cx="10566400" cy="1271240"/>
          </a:xfrm>
          <a:prstGeom prst="roundRect">
            <a:avLst>
              <a:gd fmla="val 7992" name="adj"/>
            </a:avLst>
          </a:prstGeom>
          <a:solidFill>
            <a:srgbClr val="0B25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1117600" y="2103041"/>
            <a:ext cx="10255504" cy="52323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F7FA"/>
              </a:buClr>
              <a:buSzPts val="2800"/>
              <a:buFont typeface="JetBrains Mono"/>
              <a:buNone/>
            </a:pPr>
            <a:r>
              <a:rPr b="1" i="0" lang="en-US" sz="2800" u="none" cap="none" strike="noStrike">
                <a:solidFill>
                  <a:srgbClr val="F5F7FA"/>
                </a:solidFill>
                <a:latin typeface="JetBrains Mono"/>
                <a:ea typeface="JetBrains Mono"/>
                <a:cs typeface="JetBrains Mono"/>
                <a:sym typeface="JetBrains Mono"/>
              </a:rPr>
              <a:t>Y | X = x ~ D(θ(x))</a:t>
            </a:r>
            <a:endParaRPr b="0" i="0" sz="2800" u="none" cap="none" strike="noStrike">
              <a:solidFill>
                <a:schemeClr val="dk1"/>
              </a:solidFill>
              <a:latin typeface="IBM Plex Sans"/>
              <a:ea typeface="IBM Plex Sans"/>
              <a:cs typeface="IBM Plex Sans"/>
              <a:sym typeface="IBM Plex Sans"/>
            </a:endParaRPr>
          </a:p>
        </p:txBody>
      </p:sp>
      <p:sp>
        <p:nvSpPr>
          <p:cNvPr id="57" name="Google Shape;57;p3"/>
          <p:cNvSpPr/>
          <p:nvPr/>
        </p:nvSpPr>
        <p:spPr>
          <a:xfrm>
            <a:off x="1117600" y="2677071"/>
            <a:ext cx="10255504" cy="26541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BFD3EA"/>
              </a:buClr>
              <a:buSzPts val="1400"/>
              <a:buFont typeface="IBM Plex Sans"/>
              <a:buNone/>
            </a:pPr>
            <a:r>
              <a:rPr b="0" i="0" lang="en-US" sz="1400" u="none" cap="none" strike="noStrike">
                <a:solidFill>
                  <a:srgbClr val="BFD3EA"/>
                </a:solidFill>
                <a:latin typeface="IBM Plex Sans"/>
                <a:ea typeface="IBM Plex Sans"/>
                <a:cs typeface="IBM Plex Sans"/>
                <a:sym typeface="IBM Plex Sans"/>
              </a:rPr>
              <a:t>D = la familia elegida · θ(x) = sus parámetros, distintos para cada x. Ej.: Normal → (μ, σ) · Poisson → λ</a:t>
            </a:r>
            <a:endParaRPr b="0" i="0" sz="1400" u="none" cap="none" strike="noStrike">
              <a:solidFill>
                <a:schemeClr val="dk1"/>
              </a:solidFill>
              <a:latin typeface="IBM Plex Sans"/>
              <a:ea typeface="IBM Plex Sans"/>
              <a:cs typeface="IBM Plex Sans"/>
              <a:sym typeface="IBM Plex Sans"/>
            </a:endParaRPr>
          </a:p>
        </p:txBody>
      </p:sp>
      <p:sp>
        <p:nvSpPr>
          <p:cNvPr id="58" name="Google Shape;58;p3"/>
          <p:cNvSpPr/>
          <p:nvPr/>
        </p:nvSpPr>
        <p:spPr>
          <a:xfrm>
            <a:off x="819150" y="3456831"/>
            <a:ext cx="3373934" cy="1566515"/>
          </a:xfrm>
          <a:prstGeom prst="roundRect">
            <a:avLst>
              <a:gd fmla="val 6080"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1054100" y="3691781"/>
            <a:ext cx="2991155"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400"/>
              <a:buFont typeface="IBM Plex Sans"/>
              <a:buNone/>
            </a:pPr>
            <a:r>
              <a:rPr b="1" i="0" lang="en-US" sz="1400" u="none" cap="none" strike="noStrike">
                <a:solidFill>
                  <a:srgbClr val="1B5FA8"/>
                </a:solidFill>
                <a:latin typeface="IBM Plex Sans"/>
                <a:ea typeface="IBM Plex Sans"/>
                <a:cs typeface="IBM Plex Sans"/>
                <a:sym typeface="IBM Plex Sans"/>
              </a:rPr>
              <a:t>1 · Antes de entrenar</a:t>
            </a:r>
            <a:endParaRPr b="0" i="0" sz="1400" u="none" cap="none" strike="noStrike">
              <a:solidFill>
                <a:schemeClr val="dk1"/>
              </a:solidFill>
              <a:latin typeface="IBM Plex Sans"/>
              <a:ea typeface="IBM Plex Sans"/>
              <a:cs typeface="IBM Plex Sans"/>
              <a:sym typeface="IBM Plex Sans"/>
            </a:endParaRPr>
          </a:p>
        </p:txBody>
      </p:sp>
      <p:sp>
        <p:nvSpPr>
          <p:cNvPr id="60" name="Google Shape;60;p3"/>
          <p:cNvSpPr/>
          <p:nvPr/>
        </p:nvSpPr>
        <p:spPr>
          <a:xfrm>
            <a:off x="1054100" y="4016871"/>
            <a:ext cx="2991155" cy="7969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500"/>
              <a:buFont typeface="IBM Plex Sans"/>
              <a:buNone/>
            </a:pPr>
            <a:r>
              <a:rPr b="0" i="0" lang="en-US" sz="1500" u="none" cap="none" strike="noStrike">
                <a:solidFill>
                  <a:srgbClr val="3B4A5E"/>
                </a:solidFill>
                <a:latin typeface="IBM Plex Sans"/>
                <a:ea typeface="IBM Plex Sans"/>
                <a:cs typeface="IBM Plex Sans"/>
                <a:sym typeface="IBM Plex Sans"/>
              </a:rPr>
              <a:t>Elegís la </a:t>
            </a:r>
            <a:r>
              <a:rPr lang="en-US" sz="1500">
                <a:solidFill>
                  <a:srgbClr val="3B4A5E"/>
                </a:solidFill>
                <a:latin typeface="IBM Plex Sans"/>
                <a:ea typeface="IBM Plex Sans"/>
                <a:cs typeface="IBM Plex Sans"/>
                <a:sym typeface="IBM Plex Sans"/>
              </a:rPr>
              <a:t>distribución</a:t>
            </a:r>
            <a:r>
              <a:rPr b="0" i="0" lang="en-US" sz="1500" u="none" cap="none" strike="noStrike">
                <a:solidFill>
                  <a:srgbClr val="3B4A5E"/>
                </a:solidFill>
                <a:latin typeface="IBM Plex Sans"/>
                <a:ea typeface="IBM Plex Sans"/>
                <a:cs typeface="IBM Plex Sans"/>
                <a:sym typeface="IBM Plex Sans"/>
              </a:rPr>
              <a:t>: Normal (la opción por defecto), LogNormal, Gamma, Poisson…</a:t>
            </a:r>
            <a:endParaRPr b="0" i="0" sz="1500" u="none" cap="none" strike="noStrike">
              <a:solidFill>
                <a:schemeClr val="dk1"/>
              </a:solidFill>
              <a:latin typeface="IBM Plex Sans"/>
              <a:ea typeface="IBM Plex Sans"/>
              <a:cs typeface="IBM Plex Sans"/>
              <a:sym typeface="IBM Plex Sans"/>
            </a:endParaRPr>
          </a:p>
        </p:txBody>
      </p:sp>
      <p:sp>
        <p:nvSpPr>
          <p:cNvPr id="61" name="Google Shape;61;p3"/>
          <p:cNvSpPr/>
          <p:nvPr/>
        </p:nvSpPr>
        <p:spPr>
          <a:xfrm>
            <a:off x="4408984" y="3456831"/>
            <a:ext cx="3373983" cy="1566515"/>
          </a:xfrm>
          <a:prstGeom prst="roundRect">
            <a:avLst>
              <a:gd fmla="val 6080"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4643934" y="3691781"/>
            <a:ext cx="2991206"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400"/>
              <a:buFont typeface="IBM Plex Sans"/>
              <a:buNone/>
            </a:pPr>
            <a:r>
              <a:rPr b="1" i="0" lang="en-US" sz="1400" u="none" cap="none" strike="noStrike">
                <a:solidFill>
                  <a:srgbClr val="1B5FA8"/>
                </a:solidFill>
                <a:latin typeface="IBM Plex Sans"/>
                <a:ea typeface="IBM Plex Sans"/>
                <a:cs typeface="IBM Plex Sans"/>
                <a:sym typeface="IBM Plex Sans"/>
              </a:rPr>
              <a:t>2 · Al entrenar</a:t>
            </a:r>
            <a:endParaRPr b="0" i="0" sz="1400" u="none" cap="none" strike="noStrike">
              <a:solidFill>
                <a:schemeClr val="dk1"/>
              </a:solidFill>
              <a:latin typeface="IBM Plex Sans"/>
              <a:ea typeface="IBM Plex Sans"/>
              <a:cs typeface="IBM Plex Sans"/>
              <a:sym typeface="IBM Plex Sans"/>
            </a:endParaRPr>
          </a:p>
        </p:txBody>
      </p:sp>
      <p:sp>
        <p:nvSpPr>
          <p:cNvPr id="63" name="Google Shape;63;p3"/>
          <p:cNvSpPr/>
          <p:nvPr/>
        </p:nvSpPr>
        <p:spPr>
          <a:xfrm>
            <a:off x="4643934" y="4016871"/>
            <a:ext cx="2991206" cy="7969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500"/>
              <a:buFont typeface="IBM Plex Sans"/>
              <a:buNone/>
            </a:pPr>
            <a:r>
              <a:rPr b="0" i="0" lang="en-US" sz="1500" u="none" cap="none" strike="noStrike">
                <a:solidFill>
                  <a:srgbClr val="3B4A5E"/>
                </a:solidFill>
                <a:latin typeface="IBM Plex Sans"/>
                <a:ea typeface="IBM Plex Sans"/>
                <a:cs typeface="IBM Plex Sans"/>
                <a:sym typeface="IBM Plex Sans"/>
              </a:rPr>
              <a:t>Aprende a predecir </a:t>
            </a:r>
            <a:r>
              <a:rPr b="1" i="0" lang="en-US" sz="1500" u="none" cap="none" strike="noStrike">
                <a:solidFill>
                  <a:srgbClr val="3B4A5E"/>
                </a:solidFill>
                <a:latin typeface="IBM Plex Sans"/>
                <a:ea typeface="IBM Plex Sans"/>
                <a:cs typeface="IBM Plex Sans"/>
                <a:sym typeface="IBM Plex Sans"/>
              </a:rPr>
              <a:t>todos</a:t>
            </a:r>
            <a:r>
              <a:rPr b="0" i="0" lang="en-US" sz="1500" u="none" cap="none" strike="noStrike">
                <a:solidFill>
                  <a:srgbClr val="3B4A5E"/>
                </a:solidFill>
                <a:latin typeface="IBM Plex Sans"/>
                <a:ea typeface="IBM Plex Sans"/>
                <a:cs typeface="IBM Plex Sans"/>
                <a:sym typeface="IBM Plex Sans"/>
              </a:rPr>
              <a:t> sus parámetros como funciones de x, no solo la media.</a:t>
            </a:r>
            <a:endParaRPr b="0" i="0" sz="1500" u="none" cap="none" strike="noStrike">
              <a:solidFill>
                <a:schemeClr val="dk1"/>
              </a:solidFill>
              <a:latin typeface="IBM Plex Sans"/>
              <a:ea typeface="IBM Plex Sans"/>
              <a:cs typeface="IBM Plex Sans"/>
              <a:sym typeface="IBM Plex Sans"/>
            </a:endParaRPr>
          </a:p>
        </p:txBody>
      </p:sp>
      <p:sp>
        <p:nvSpPr>
          <p:cNvPr id="64" name="Google Shape;64;p3"/>
          <p:cNvSpPr/>
          <p:nvPr/>
        </p:nvSpPr>
        <p:spPr>
          <a:xfrm>
            <a:off x="7998867" y="3456831"/>
            <a:ext cx="3373934" cy="1566515"/>
          </a:xfrm>
          <a:prstGeom prst="roundRect">
            <a:avLst>
              <a:gd fmla="val 6080"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8233817" y="3691781"/>
            <a:ext cx="2991155"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400"/>
              <a:buFont typeface="IBM Plex Sans"/>
              <a:buNone/>
            </a:pPr>
            <a:r>
              <a:rPr b="1" i="0" lang="en-US" sz="1400" u="none" cap="none" strike="noStrike">
                <a:solidFill>
                  <a:srgbClr val="1B5FA8"/>
                </a:solidFill>
                <a:latin typeface="IBM Plex Sans"/>
                <a:ea typeface="IBM Plex Sans"/>
                <a:cs typeface="IBM Plex Sans"/>
                <a:sym typeface="IBM Plex Sans"/>
              </a:rPr>
              <a:t>3 · Al predecir</a:t>
            </a:r>
            <a:endParaRPr b="0" i="0" sz="1400" u="none" cap="none" strike="noStrike">
              <a:solidFill>
                <a:schemeClr val="dk1"/>
              </a:solidFill>
              <a:latin typeface="IBM Plex Sans"/>
              <a:ea typeface="IBM Plex Sans"/>
              <a:cs typeface="IBM Plex Sans"/>
              <a:sym typeface="IBM Plex Sans"/>
            </a:endParaRPr>
          </a:p>
        </p:txBody>
      </p:sp>
      <p:sp>
        <p:nvSpPr>
          <p:cNvPr id="66" name="Google Shape;66;p3"/>
          <p:cNvSpPr/>
          <p:nvPr/>
        </p:nvSpPr>
        <p:spPr>
          <a:xfrm>
            <a:off x="8233817" y="4016871"/>
            <a:ext cx="2991155" cy="7969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500"/>
              <a:buFont typeface="IBM Plex Sans"/>
              <a:buNone/>
            </a:pPr>
            <a:r>
              <a:rPr b="0" i="0" lang="en-US" sz="1500" u="none" cap="none" strike="noStrike">
                <a:solidFill>
                  <a:srgbClr val="3B4A5E"/>
                </a:solidFill>
                <a:latin typeface="IBM Plex Sans"/>
                <a:ea typeface="IBM Plex Sans"/>
                <a:cs typeface="IBM Plex Sans"/>
                <a:sym typeface="IBM Plex Sans"/>
              </a:rPr>
              <a:t>Cada observación recibe </a:t>
            </a:r>
            <a:r>
              <a:rPr b="1" i="0" lang="en-US" sz="1500" u="none" cap="none" strike="noStrike">
                <a:solidFill>
                  <a:srgbClr val="3B4A5E"/>
                </a:solidFill>
                <a:latin typeface="IBM Plex Sans"/>
                <a:ea typeface="IBM Plex Sans"/>
                <a:cs typeface="IBM Plex Sans"/>
                <a:sym typeface="IBM Plex Sans"/>
              </a:rPr>
              <a:t>su propia</a:t>
            </a:r>
            <a:r>
              <a:rPr b="0" i="0" lang="en-US" sz="1500" u="none" cap="none" strike="noStrike">
                <a:solidFill>
                  <a:srgbClr val="3B4A5E"/>
                </a:solidFill>
                <a:latin typeface="IBM Plex Sans"/>
                <a:ea typeface="IBM Plex Sans"/>
                <a:cs typeface="IBM Plex Sans"/>
                <a:sym typeface="IBM Plex Sans"/>
              </a:rPr>
              <a:t> distribución: intervalos, probabilidades, cuantiles.</a:t>
            </a:r>
            <a:endParaRPr b="0" i="0" sz="1500" u="none" cap="none" strike="noStrike">
              <a:solidFill>
                <a:schemeClr val="dk1"/>
              </a:solidFill>
              <a:latin typeface="IBM Plex Sans"/>
              <a:ea typeface="IBM Plex Sans"/>
              <a:cs typeface="IBM Plex Sans"/>
              <a:sym typeface="IBM Plex Sans"/>
            </a:endParaRPr>
          </a:p>
        </p:txBody>
      </p:sp>
      <p:sp>
        <p:nvSpPr>
          <p:cNvPr id="67" name="Google Shape;67;p3"/>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A8F"/>
              </a:buClr>
              <a:buSzPts val="1200"/>
              <a:buFont typeface="IBM Plex Sans"/>
              <a:buNone/>
            </a:pPr>
            <a:r>
              <a:rPr b="0" i="0" lang="en-US" sz="1200" u="none" cap="none" strike="noStrike">
                <a:solidFill>
                  <a:srgbClr val="6B7A8F"/>
                </a:solidFill>
                <a:latin typeface="IBM Plex Sans"/>
                <a:ea typeface="IBM Plex Sans"/>
                <a:cs typeface="IBM Plex Sans"/>
                <a:sym typeface="IBM Plex Sans"/>
              </a:rPr>
              <a:t>NGBoost · Análisis Predictivo · 03</a:t>
            </a:r>
            <a:endParaRPr b="0" i="0" sz="1200" u="none" cap="none" strike="noStrike">
              <a:solidFill>
                <a:schemeClr val="dk1"/>
              </a:solidFill>
              <a:latin typeface="IBM Plex Sans"/>
              <a:ea typeface="IBM Plex Sans"/>
              <a:cs typeface="IBM Plex Sans"/>
              <a:sym typeface="IBM Plex Sans"/>
            </a:endParaRPr>
          </a:p>
        </p:txBody>
      </p:sp>
      <p:pic>
        <p:nvPicPr>
          <p:cNvPr id="68" name="Google Shape;68;p3"/>
          <p:cNvPicPr preferRelativeResize="0"/>
          <p:nvPr/>
        </p:nvPicPr>
        <p:blipFill>
          <a:blip r:embed="rId4">
            <a:alphaModFix/>
          </a:blip>
          <a:stretch>
            <a:fillRect/>
          </a:stretch>
        </p:blipFill>
        <p:spPr>
          <a:xfrm>
            <a:off x="884500" y="1072975"/>
            <a:ext cx="720300" cy="720300"/>
          </a:xfrm>
          <a:prstGeom prst="rect">
            <a:avLst/>
          </a:prstGeom>
          <a:noFill/>
          <a:ln>
            <a:noFill/>
          </a:ln>
        </p:spPr>
      </p:pic>
      <p:sp>
        <p:nvSpPr>
          <p:cNvPr id="69" name="Google Shape;69;p3"/>
          <p:cNvSpPr txBox="1"/>
          <p:nvPr>
            <p:ph type="title"/>
          </p:nvPr>
        </p:nvSpPr>
        <p:spPr>
          <a:xfrm>
            <a:off x="1691700" y="1186820"/>
            <a:ext cx="10883400" cy="492600"/>
          </a:xfrm>
          <a:prstGeom prst="rect">
            <a:avLst/>
          </a:prstGeom>
          <a:noFill/>
          <a:ln>
            <a:noFill/>
          </a:ln>
        </p:spPr>
        <p:txBody>
          <a:bodyPr anchorCtr="0" anchor="t" bIns="0" lIns="0" spcFirstLastPara="1" rIns="0" wrap="square" tIns="0">
            <a:normAutofit fontScale="90000"/>
          </a:bodyPr>
          <a:lstStyle/>
          <a:p>
            <a:pPr indent="0" lvl="0" marL="0" rtl="0" algn="l">
              <a:spcBef>
                <a:spcPts val="0"/>
              </a:spcBef>
              <a:spcAft>
                <a:spcPts val="0"/>
              </a:spcAft>
              <a:buClr>
                <a:schemeClr val="dk1"/>
              </a:buClr>
              <a:buSzPct val="100000"/>
              <a:buFont typeface="IBM Plex Sans"/>
              <a:buNone/>
            </a:pPr>
            <a:r>
              <a:rPr b="1" lang="en-US">
                <a:solidFill>
                  <a:schemeClr val="dk1"/>
                </a:solidFill>
              </a:rPr>
              <a:t>Qué predice NGBoost</a:t>
            </a:r>
            <a:endParaRPr>
              <a:solidFill>
                <a:schemeClr val="dk1"/>
              </a:solidFill>
            </a:endParaRPr>
          </a:p>
          <a:p>
            <a:pPr indent="0" lvl="0" marL="0" rtl="0" algn="l">
              <a:lnSpc>
                <a:spcPct val="115000"/>
              </a:lnSpc>
              <a:spcBef>
                <a:spcPts val="0"/>
              </a:spcBef>
              <a:spcAft>
                <a:spcPts val="0"/>
              </a:spcAft>
              <a:buClr>
                <a:srgbClr val="0B2545"/>
              </a:buClr>
              <a:buSzPct val="100000"/>
              <a:buFont typeface="IBM Plex Sans"/>
              <a:buNone/>
            </a:pPr>
            <a:r>
              <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4" name="Shape 74"/>
        <p:cNvGrpSpPr/>
        <p:nvPr/>
      </p:nvGrpSpPr>
      <p:grpSpPr>
        <a:xfrm>
          <a:off x="0" y="0"/>
          <a:ext cx="0" cy="0"/>
          <a:chOff x="0" y="0"/>
          <a:chExt cx="0" cy="0"/>
        </a:xfrm>
      </p:grpSpPr>
      <p:sp>
        <p:nvSpPr>
          <p:cNvPr id="75" name="Google Shape;75;p4"/>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200"/>
              <a:buFont typeface="IBM Plex Sans"/>
              <a:buNone/>
            </a:pPr>
            <a:r>
              <a:rPr b="1" i="0" lang="en-US" sz="1200" u="none" cap="none" strike="noStrike">
                <a:solidFill>
                  <a:srgbClr val="1B5FA8"/>
                </a:solidFill>
                <a:latin typeface="IBM Plex Sans"/>
                <a:ea typeface="IBM Plex Sans"/>
                <a:cs typeface="IBM Plex Sans"/>
                <a:sym typeface="IBM Plex Sans"/>
              </a:rPr>
              <a:t>CONTEXTO</a:t>
            </a:r>
            <a:endParaRPr b="0" i="0" sz="1200" u="none" cap="none" strike="noStrike">
              <a:solidFill>
                <a:schemeClr val="dk1"/>
              </a:solidFill>
              <a:latin typeface="IBM Plex Sans"/>
              <a:ea typeface="IBM Plex Sans"/>
              <a:cs typeface="IBM Plex Sans"/>
              <a:sym typeface="IBM Plex Sans"/>
            </a:endParaRPr>
          </a:p>
        </p:txBody>
      </p:sp>
      <p:graphicFrame>
        <p:nvGraphicFramePr>
          <p:cNvPr id="76" name="Google Shape;76;p4"/>
          <p:cNvGraphicFramePr/>
          <p:nvPr/>
        </p:nvGraphicFramePr>
        <p:xfrm>
          <a:off x="825500" y="1836341"/>
          <a:ext cx="3000000" cy="3000000"/>
        </p:xfrm>
        <a:graphic>
          <a:graphicData uri="http://schemas.openxmlformats.org/drawingml/2006/table">
            <a:tbl>
              <a:tblPr>
                <a:noFill/>
                <a:tableStyleId>{C403B2D7-0C71-4136-ACE7-F17EAFAD8684}</a:tableStyleId>
              </a:tblPr>
              <a:tblGrid>
                <a:gridCol w="2743950"/>
                <a:gridCol w="3915700"/>
                <a:gridCol w="3894050"/>
              </a:tblGrid>
              <a:tr h="359325">
                <a:tc>
                  <a:txBody>
                    <a:bodyPr/>
                    <a:lstStyle/>
                    <a:p>
                      <a:pPr indent="0" lvl="0" marL="0" marR="0" rtl="0" algn="l">
                        <a:lnSpc>
                          <a:spcPct val="140000"/>
                        </a:lnSpc>
                        <a:spcBef>
                          <a:spcPts val="0"/>
                        </a:spcBef>
                        <a:spcAft>
                          <a:spcPts val="0"/>
                        </a:spcAft>
                        <a:buClr>
                          <a:srgbClr val="F5F7FA"/>
                        </a:buClr>
                        <a:buSzPts val="1300"/>
                        <a:buFont typeface="IBM Plex Sans"/>
                        <a:buNone/>
                      </a:pPr>
                      <a:r>
                        <a:rPr b="1" lang="en-US" sz="1300" u="none" cap="none" strike="noStrike">
                          <a:solidFill>
                            <a:srgbClr val="F5F7FA"/>
                          </a:solidFill>
                          <a:latin typeface="IBM Plex Sans"/>
                          <a:ea typeface="IBM Plex Sans"/>
                          <a:cs typeface="IBM Plex Sans"/>
                          <a:sym typeface="IBM Plex Sans"/>
                        </a:rPr>
                        <a:t>Método</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5C7"/>
                      </a:solidFill>
                      <a:prstDash val="solid"/>
                      <a:round/>
                      <a:headEnd len="sm" w="sm" type="none"/>
                      <a:tailEnd len="sm" w="sm" type="none"/>
                    </a:lnL>
                    <a:lnR cap="flat" cmpd="sng" w="12700">
                      <a:solidFill>
                        <a:srgbClr val="0D213A"/>
                      </a:solidFill>
                      <a:prstDash val="solid"/>
                      <a:round/>
                      <a:headEnd len="sm" w="sm" type="none"/>
                      <a:tailEnd len="sm" w="sm" type="none"/>
                    </a:lnR>
                    <a:lnT cap="flat" cmpd="sng" w="12700">
                      <a:solidFill>
                        <a:srgbClr val="C4C5C7"/>
                      </a:solidFill>
                      <a:prstDash val="solid"/>
                      <a:round/>
                      <a:headEnd len="sm" w="sm" type="none"/>
                      <a:tailEnd len="sm" w="sm" type="none"/>
                    </a:lnT>
                    <a:lnB cap="flat" cmpd="sng" w="12700">
                      <a:solidFill>
                        <a:srgbClr val="0D213A"/>
                      </a:solidFill>
                      <a:prstDash val="solid"/>
                      <a:round/>
                      <a:headEnd len="sm" w="sm" type="none"/>
                      <a:tailEnd len="sm" w="sm" type="none"/>
                    </a:lnB>
                    <a:solidFill>
                      <a:srgbClr val="0B2545"/>
                    </a:solidFill>
                  </a:tcPr>
                </a:tc>
                <a:tc>
                  <a:txBody>
                    <a:bodyPr/>
                    <a:lstStyle/>
                    <a:p>
                      <a:pPr indent="0" lvl="0" marL="0" marR="0" rtl="0" algn="l">
                        <a:lnSpc>
                          <a:spcPct val="140000"/>
                        </a:lnSpc>
                        <a:spcBef>
                          <a:spcPts val="0"/>
                        </a:spcBef>
                        <a:spcAft>
                          <a:spcPts val="0"/>
                        </a:spcAft>
                        <a:buClr>
                          <a:srgbClr val="F5F7FA"/>
                        </a:buClr>
                        <a:buSzPts val="1300"/>
                        <a:buFont typeface="IBM Plex Sans"/>
                        <a:buNone/>
                      </a:pPr>
                      <a:r>
                        <a:rPr b="1" lang="en-US" sz="1300" u="none" cap="none" strike="noStrike">
                          <a:solidFill>
                            <a:srgbClr val="F5F7FA"/>
                          </a:solidFill>
                          <a:latin typeface="IBM Plex Sans"/>
                          <a:ea typeface="IBM Plex Sans"/>
                          <a:cs typeface="IBM Plex Sans"/>
                          <a:sym typeface="IBM Plex Sans"/>
                        </a:rPr>
                        <a:t>Cómo da la incertidumbre</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0D213A"/>
                      </a:solidFill>
                      <a:prstDash val="solid"/>
                      <a:round/>
                      <a:headEnd len="sm" w="sm" type="none"/>
                      <a:tailEnd len="sm" w="sm" type="none"/>
                    </a:lnL>
                    <a:lnR cap="flat" cmpd="sng" w="12700">
                      <a:solidFill>
                        <a:srgbClr val="0D213A"/>
                      </a:solidFill>
                      <a:prstDash val="solid"/>
                      <a:round/>
                      <a:headEnd len="sm" w="sm" type="none"/>
                      <a:tailEnd len="sm" w="sm" type="none"/>
                    </a:lnR>
                    <a:lnT cap="flat" cmpd="sng" w="12700">
                      <a:solidFill>
                        <a:srgbClr val="C4C5C7"/>
                      </a:solidFill>
                      <a:prstDash val="solid"/>
                      <a:round/>
                      <a:headEnd len="sm" w="sm" type="none"/>
                      <a:tailEnd len="sm" w="sm" type="none"/>
                    </a:lnT>
                    <a:lnB cap="flat" cmpd="sng" w="12700">
                      <a:solidFill>
                        <a:srgbClr val="0D213A"/>
                      </a:solidFill>
                      <a:prstDash val="solid"/>
                      <a:round/>
                      <a:headEnd len="sm" w="sm" type="none"/>
                      <a:tailEnd len="sm" w="sm" type="none"/>
                    </a:lnB>
                    <a:solidFill>
                      <a:srgbClr val="0B2545"/>
                    </a:solidFill>
                  </a:tcPr>
                </a:tc>
                <a:tc>
                  <a:txBody>
                    <a:bodyPr/>
                    <a:lstStyle/>
                    <a:p>
                      <a:pPr indent="0" lvl="0" marL="0" marR="0" rtl="0" algn="l">
                        <a:lnSpc>
                          <a:spcPct val="140000"/>
                        </a:lnSpc>
                        <a:spcBef>
                          <a:spcPts val="0"/>
                        </a:spcBef>
                        <a:spcAft>
                          <a:spcPts val="0"/>
                        </a:spcAft>
                        <a:buClr>
                          <a:srgbClr val="F5F7FA"/>
                        </a:buClr>
                        <a:buSzPts val="1300"/>
                        <a:buFont typeface="IBM Plex Sans"/>
                        <a:buNone/>
                      </a:pPr>
                      <a:r>
                        <a:rPr b="1" lang="en-US" sz="1300" u="none" cap="none" strike="noStrike">
                          <a:solidFill>
                            <a:srgbClr val="F5F7FA"/>
                          </a:solidFill>
                          <a:latin typeface="IBM Plex Sans"/>
                          <a:ea typeface="IBM Plex Sans"/>
                          <a:cs typeface="IBM Plex Sans"/>
                          <a:sym typeface="IBM Plex Sans"/>
                        </a:rPr>
                        <a:t>Limitación</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0D213A"/>
                      </a:solidFill>
                      <a:prstDash val="solid"/>
                      <a:round/>
                      <a:headEnd len="sm" w="sm" type="none"/>
                      <a:tailEnd len="sm" w="sm" type="none"/>
                    </a:lnL>
                    <a:lnR cap="flat" cmpd="sng" w="12700">
                      <a:solidFill>
                        <a:srgbClr val="0D213A"/>
                      </a:solidFill>
                      <a:prstDash val="solid"/>
                      <a:round/>
                      <a:headEnd len="sm" w="sm" type="none"/>
                      <a:tailEnd len="sm" w="sm" type="none"/>
                    </a:lnR>
                    <a:lnT cap="flat" cmpd="sng" w="12700">
                      <a:solidFill>
                        <a:srgbClr val="C4C5C7"/>
                      </a:solidFill>
                      <a:prstDash val="solid"/>
                      <a:round/>
                      <a:headEnd len="sm" w="sm" type="none"/>
                      <a:tailEnd len="sm" w="sm" type="none"/>
                    </a:lnT>
                    <a:lnB cap="flat" cmpd="sng" w="12700">
                      <a:solidFill>
                        <a:srgbClr val="0D213A"/>
                      </a:solidFill>
                      <a:prstDash val="solid"/>
                      <a:round/>
                      <a:headEnd len="sm" w="sm" type="none"/>
                      <a:tailEnd len="sm" w="sm" type="none"/>
                    </a:lnB>
                    <a:solidFill>
                      <a:srgbClr val="0B2545"/>
                    </a:solidFill>
                  </a:tcPr>
                </a:tc>
              </a:tr>
              <a:tr h="590450">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Regresión + σ constante</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5C7"/>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0D213A"/>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Desvío de los residuos, igual para todas las observaciones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0D213A"/>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Supone homocedasticidad, casi nunca se cumple</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0D213A"/>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9325">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GAMLSS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5C7"/>
                      </a:solidFill>
                      <a:prstDash val="solid"/>
                      <a:round/>
                      <a:headEnd len="sm" w="sm" type="none"/>
                      <a:tailEnd len="sm" w="sm" type="none"/>
                    </a:lnL>
                    <a:lnR cap="flat" cmpd="sng" w="12700">
                      <a:solidFill>
                        <a:srgbClr val="BEC2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C6"/>
                      </a:solidFill>
                      <a:prstDash val="solid"/>
                      <a:round/>
                      <a:headEnd len="sm" w="sm" type="none"/>
                      <a:tailEnd len="sm" w="sm" type="none"/>
                    </a:lnB>
                    <a:solidFill>
                      <a:srgbClr val="EEF3F9"/>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Modela μ y σ en función de x</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2C6"/>
                      </a:solidFill>
                      <a:prstDash val="solid"/>
                      <a:round/>
                      <a:headEnd len="sm" w="sm" type="none"/>
                      <a:tailEnd len="sm" w="sm" type="none"/>
                    </a:lnL>
                    <a:lnR cap="flat" cmpd="sng" w="12700">
                      <a:solidFill>
                        <a:srgbClr val="BEC2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C6"/>
                      </a:solidFill>
                      <a:prstDash val="solid"/>
                      <a:round/>
                      <a:headEnd len="sm" w="sm" type="none"/>
                      <a:tailEnd len="sm" w="sm" type="none"/>
                    </a:lnB>
                    <a:solidFill>
                      <a:srgbClr val="EEF3F9"/>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Hay que fijar la forma del modelo de antemano</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2C6"/>
                      </a:solidFill>
                      <a:prstDash val="solid"/>
                      <a:round/>
                      <a:headEnd len="sm" w="sm" type="none"/>
                      <a:tailEnd len="sm" w="sm" type="none"/>
                    </a:lnL>
                    <a:lnR cap="flat" cmpd="sng" w="12700">
                      <a:solidFill>
                        <a:srgbClr val="BEC2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C6"/>
                      </a:solidFill>
                      <a:prstDash val="solid"/>
                      <a:round/>
                      <a:headEnd len="sm" w="sm" type="none"/>
                      <a:tailEnd len="sm" w="sm" type="none"/>
                    </a:lnB>
                    <a:solidFill>
                      <a:srgbClr val="EEF3F9"/>
                    </a:solidFill>
                  </a:tcPr>
                </a:tc>
              </a:tr>
              <a:tr h="297925">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Bayesianos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5C7"/>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2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Distribución posterior de los parámetros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2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MCMC lento, escala mal, requiere expertise</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2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590450">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Deep learning probabilístico</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5C7"/>
                      </a:solidFill>
                      <a:prstDash val="solid"/>
                      <a:round/>
                      <a:headEnd len="sm" w="sm" type="none"/>
                      <a:tailEnd len="sm" w="sm" type="none"/>
                    </a:lnL>
                    <a:lnR cap="flat" cmpd="sng" w="12700">
                      <a:solidFill>
                        <a:srgbClr val="BEC2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C6"/>
                      </a:solidFill>
                      <a:prstDash val="solid"/>
                      <a:round/>
                      <a:headEnd len="sm" w="sm" type="none"/>
                      <a:tailEnd len="sm" w="sm" type="none"/>
                    </a:lnB>
                    <a:solidFill>
                      <a:srgbClr val="EEF3F9"/>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Dropout, ensembles de redes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2C6"/>
                      </a:solidFill>
                      <a:prstDash val="solid"/>
                      <a:round/>
                      <a:headEnd len="sm" w="sm" type="none"/>
                      <a:tailEnd len="sm" w="sm" type="none"/>
                    </a:lnL>
                    <a:lnR cap="flat" cmpd="sng" w="12700">
                      <a:solidFill>
                        <a:srgbClr val="BEC2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C6"/>
                      </a:solidFill>
                      <a:prstDash val="solid"/>
                      <a:round/>
                      <a:headEnd len="sm" w="sm" type="none"/>
                      <a:tailEnd len="sm" w="sm" type="none"/>
                    </a:lnB>
                    <a:solidFill>
                      <a:srgbClr val="EEF3F9"/>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En datos tabulares no supera a los clásicos; mucho tuning</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2C6"/>
                      </a:solidFill>
                      <a:prstDash val="solid"/>
                      <a:round/>
                      <a:headEnd len="sm" w="sm" type="none"/>
                      <a:tailEnd len="sm" w="sm" type="none"/>
                    </a:lnL>
                    <a:lnR cap="flat" cmpd="sng" w="12700">
                      <a:solidFill>
                        <a:srgbClr val="BEC2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C6"/>
                      </a:solidFill>
                      <a:prstDash val="solid"/>
                      <a:round/>
                      <a:headEnd len="sm" w="sm" type="none"/>
                      <a:tailEnd len="sm" w="sm" type="none"/>
                    </a:lnB>
                    <a:solidFill>
                      <a:srgbClr val="EEF3F9"/>
                    </a:solidFill>
                  </a:tcPr>
                </a:tc>
              </a:tr>
            </a:tbl>
          </a:graphicData>
        </a:graphic>
      </p:graphicFrame>
      <p:sp>
        <p:nvSpPr>
          <p:cNvPr id="77" name="Google Shape;77;p4"/>
          <p:cNvSpPr/>
          <p:nvPr/>
        </p:nvSpPr>
        <p:spPr>
          <a:xfrm>
            <a:off x="812800" y="4580334"/>
            <a:ext cx="10883392" cy="29969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B2545"/>
              </a:buClr>
              <a:buSzPts val="1600"/>
              <a:buFont typeface="IBM Plex Sans"/>
              <a:buNone/>
            </a:pPr>
            <a:r>
              <a:rPr b="1" i="0" lang="en-US" sz="1600" u="none" cap="none" strike="noStrike">
                <a:solidFill>
                  <a:srgbClr val="0B2545"/>
                </a:solidFill>
                <a:latin typeface="IBM Plex Sans"/>
                <a:ea typeface="IBM Plex Sans"/>
                <a:cs typeface="IBM Plex Sans"/>
                <a:sym typeface="IBM Plex Sans"/>
              </a:rPr>
              <a:t>La propuesta de NGBoost:</a:t>
            </a:r>
            <a:r>
              <a:rPr b="0" i="0" lang="en-US" sz="1600" u="none" cap="none" strike="noStrike">
                <a:solidFill>
                  <a:srgbClr val="0B2545"/>
                </a:solidFill>
                <a:latin typeface="IBM Plex Sans"/>
                <a:ea typeface="IBM Plex Sans"/>
                <a:cs typeface="IBM Plex Sans"/>
                <a:sym typeface="IBM Plex Sans"/>
              </a:rPr>
              <a:t> la flexibilidad y facilidad del boosting, pero con salida probabilística.</a:t>
            </a:r>
            <a:endParaRPr b="0" i="0" sz="1600" u="none" cap="none" strike="noStrike">
              <a:solidFill>
                <a:schemeClr val="dk1"/>
              </a:solidFill>
              <a:latin typeface="IBM Plex Sans"/>
              <a:ea typeface="IBM Plex Sans"/>
              <a:cs typeface="IBM Plex Sans"/>
              <a:sym typeface="IBM Plex Sans"/>
            </a:endParaRPr>
          </a:p>
        </p:txBody>
      </p:sp>
      <p:sp>
        <p:nvSpPr>
          <p:cNvPr id="78" name="Google Shape;78;p4"/>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A8F"/>
              </a:buClr>
              <a:buSzPts val="1200"/>
              <a:buFont typeface="IBM Plex Sans"/>
              <a:buNone/>
            </a:pPr>
            <a:r>
              <a:rPr b="0" i="0" lang="en-US" sz="1200" u="none" cap="none" strike="noStrike">
                <a:solidFill>
                  <a:srgbClr val="6B7A8F"/>
                </a:solidFill>
                <a:latin typeface="IBM Plex Sans"/>
                <a:ea typeface="IBM Plex Sans"/>
                <a:cs typeface="IBM Plex Sans"/>
                <a:sym typeface="IBM Plex Sans"/>
              </a:rPr>
              <a:t>NGBoost · Análisis Predictivo · 04</a:t>
            </a:r>
            <a:endParaRPr b="0" i="0" sz="1200" u="none" cap="none" strike="noStrike">
              <a:solidFill>
                <a:schemeClr val="dk1"/>
              </a:solidFill>
              <a:latin typeface="IBM Plex Sans"/>
              <a:ea typeface="IBM Plex Sans"/>
              <a:cs typeface="IBM Plex Sans"/>
              <a:sym typeface="IBM Plex Sans"/>
            </a:endParaRPr>
          </a:p>
        </p:txBody>
      </p:sp>
      <p:sp>
        <p:nvSpPr>
          <p:cNvPr id="79" name="Google Shape;79;p4"/>
          <p:cNvSpPr txBox="1"/>
          <p:nvPr>
            <p:ph type="title"/>
          </p:nvPr>
        </p:nvSpPr>
        <p:spPr>
          <a:xfrm>
            <a:off x="1691700" y="1186820"/>
            <a:ext cx="10883400" cy="492600"/>
          </a:xfrm>
          <a:prstGeom prst="rect">
            <a:avLst/>
          </a:prstGeom>
          <a:noFill/>
          <a:ln>
            <a:noFill/>
          </a:ln>
        </p:spPr>
        <p:txBody>
          <a:bodyPr anchorCtr="0" anchor="t" bIns="0" lIns="0" spcFirstLastPara="1" rIns="0" wrap="square" tIns="0">
            <a:normAutofit fontScale="90000"/>
          </a:bodyPr>
          <a:lstStyle/>
          <a:p>
            <a:pPr indent="0" lvl="0" marL="0" rtl="0" algn="l">
              <a:spcBef>
                <a:spcPts val="0"/>
              </a:spcBef>
              <a:spcAft>
                <a:spcPts val="0"/>
              </a:spcAft>
              <a:buClr>
                <a:schemeClr val="dk1"/>
              </a:buClr>
              <a:buSzPct val="100000"/>
              <a:buFont typeface="IBM Plex Sans"/>
              <a:buNone/>
            </a:pPr>
            <a:r>
              <a:rPr b="1" lang="en-US">
                <a:solidFill>
                  <a:schemeClr val="dk1"/>
                </a:solidFill>
              </a:rPr>
              <a:t>Las alternativas que ya existían</a:t>
            </a:r>
            <a:endParaRPr>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lnSpc>
                <a:spcPct val="115000"/>
              </a:lnSpc>
              <a:spcBef>
                <a:spcPts val="0"/>
              </a:spcBef>
              <a:spcAft>
                <a:spcPts val="0"/>
              </a:spcAft>
              <a:buClr>
                <a:srgbClr val="0B2545"/>
              </a:buClr>
              <a:buSzPct val="100000"/>
              <a:buFont typeface="IBM Plex Sans"/>
              <a:buNone/>
            </a:pPr>
            <a:r>
              <a:t/>
            </a:r>
            <a:endParaRPr b="1"/>
          </a:p>
        </p:txBody>
      </p:sp>
      <p:pic>
        <p:nvPicPr>
          <p:cNvPr id="80" name="Google Shape;80;p4"/>
          <p:cNvPicPr preferRelativeResize="0"/>
          <p:nvPr/>
        </p:nvPicPr>
        <p:blipFill>
          <a:blip r:embed="rId4">
            <a:alphaModFix/>
          </a:blip>
          <a:stretch>
            <a:fillRect/>
          </a:stretch>
        </p:blipFill>
        <p:spPr>
          <a:xfrm>
            <a:off x="825500" y="1051525"/>
            <a:ext cx="676225" cy="676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5" name="Shape 85"/>
        <p:cNvGrpSpPr/>
        <p:nvPr/>
      </p:nvGrpSpPr>
      <p:grpSpPr>
        <a:xfrm>
          <a:off x="0" y="0"/>
          <a:ext cx="0" cy="0"/>
          <a:chOff x="0" y="0"/>
          <a:chExt cx="0" cy="0"/>
        </a:xfrm>
      </p:grpSpPr>
      <p:sp>
        <p:nvSpPr>
          <p:cNvPr id="86" name="Google Shape;86;p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200"/>
              <a:buFont typeface="IBM Plex Sans"/>
              <a:buNone/>
            </a:pPr>
            <a:r>
              <a:rPr b="1" i="0" lang="en-US" sz="1200" u="none" cap="none" strike="noStrike">
                <a:solidFill>
                  <a:srgbClr val="1B5FA8"/>
                </a:solidFill>
                <a:latin typeface="IBM Plex Sans"/>
                <a:ea typeface="IBM Plex Sans"/>
                <a:cs typeface="IBM Plex Sans"/>
                <a:sym typeface="IBM Plex Sans"/>
              </a:rPr>
              <a:t>COMPARACIÓN</a:t>
            </a:r>
            <a:endParaRPr b="0" i="0" sz="1200" u="none" cap="none" strike="noStrike">
              <a:solidFill>
                <a:schemeClr val="dk1"/>
              </a:solidFill>
              <a:latin typeface="IBM Plex Sans"/>
              <a:ea typeface="IBM Plex Sans"/>
              <a:cs typeface="IBM Plex Sans"/>
              <a:sym typeface="IBM Plex Sans"/>
            </a:endParaRPr>
          </a:p>
        </p:txBody>
      </p:sp>
      <p:graphicFrame>
        <p:nvGraphicFramePr>
          <p:cNvPr id="87" name="Google Shape;87;p5"/>
          <p:cNvGraphicFramePr/>
          <p:nvPr/>
        </p:nvGraphicFramePr>
        <p:xfrm>
          <a:off x="825500" y="1810941"/>
          <a:ext cx="3000000" cy="3000000"/>
        </p:xfrm>
        <a:graphic>
          <a:graphicData uri="http://schemas.openxmlformats.org/drawingml/2006/table">
            <a:tbl>
              <a:tblPr>
                <a:noFill/>
                <a:tableStyleId>{C403B2D7-0C71-4136-ACE7-F17EAFAD8684}</a:tableStyleId>
              </a:tblPr>
              <a:tblGrid>
                <a:gridCol w="2955025"/>
                <a:gridCol w="3799325"/>
                <a:gridCol w="3799325"/>
              </a:tblGrid>
              <a:tr h="359325">
                <a:tc>
                  <a:txBody>
                    <a:bodyPr/>
                    <a:lstStyle/>
                    <a:p>
                      <a:pPr indent="0" lvl="0" marL="0" marR="0" rtl="0" algn="l">
                        <a:lnSpc>
                          <a:spcPct val="140000"/>
                        </a:lnSpc>
                        <a:spcBef>
                          <a:spcPts val="0"/>
                        </a:spcBef>
                        <a:spcAft>
                          <a:spcPts val="0"/>
                        </a:spcAft>
                        <a:buClr>
                          <a:schemeClr val="dk1"/>
                        </a:buClr>
                        <a:buSzPts val="1300"/>
                        <a:buFont typeface="IBM Plex Sans"/>
                        <a:buNone/>
                      </a:pPr>
                      <a:r>
                        <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5C7"/>
                      </a:solidFill>
                      <a:prstDash val="solid"/>
                      <a:round/>
                      <a:headEnd len="sm" w="sm" type="none"/>
                      <a:tailEnd len="sm" w="sm" type="none"/>
                    </a:lnL>
                    <a:lnR cap="flat" cmpd="sng" w="12700">
                      <a:solidFill>
                        <a:srgbClr val="0D213A"/>
                      </a:solidFill>
                      <a:prstDash val="solid"/>
                      <a:round/>
                      <a:headEnd len="sm" w="sm" type="none"/>
                      <a:tailEnd len="sm" w="sm" type="none"/>
                    </a:lnR>
                    <a:lnT cap="flat" cmpd="sng" w="12700">
                      <a:solidFill>
                        <a:srgbClr val="C4C5C7"/>
                      </a:solidFill>
                      <a:prstDash val="solid"/>
                      <a:round/>
                      <a:headEnd len="sm" w="sm" type="none"/>
                      <a:tailEnd len="sm" w="sm" type="none"/>
                    </a:lnT>
                    <a:lnB cap="flat" cmpd="sng" w="12700">
                      <a:solidFill>
                        <a:srgbClr val="0D213A"/>
                      </a:solidFill>
                      <a:prstDash val="solid"/>
                      <a:round/>
                      <a:headEnd len="sm" w="sm" type="none"/>
                      <a:tailEnd len="sm" w="sm" type="none"/>
                    </a:lnB>
                    <a:solidFill>
                      <a:srgbClr val="0B2545"/>
                    </a:solidFill>
                  </a:tcPr>
                </a:tc>
                <a:tc>
                  <a:txBody>
                    <a:bodyPr/>
                    <a:lstStyle/>
                    <a:p>
                      <a:pPr indent="0" lvl="0" marL="0" marR="0" rtl="0" algn="l">
                        <a:lnSpc>
                          <a:spcPct val="140000"/>
                        </a:lnSpc>
                        <a:spcBef>
                          <a:spcPts val="0"/>
                        </a:spcBef>
                        <a:spcAft>
                          <a:spcPts val="0"/>
                        </a:spcAft>
                        <a:buClr>
                          <a:srgbClr val="F5F7FA"/>
                        </a:buClr>
                        <a:buSzPts val="1300"/>
                        <a:buFont typeface="IBM Plex Sans"/>
                        <a:buNone/>
                      </a:pPr>
                      <a:r>
                        <a:rPr b="1" lang="en-US" sz="1300" u="none" cap="none" strike="noStrike">
                          <a:solidFill>
                            <a:srgbClr val="F5F7FA"/>
                          </a:solidFill>
                          <a:latin typeface="IBM Plex Sans"/>
                          <a:ea typeface="IBM Plex Sans"/>
                          <a:cs typeface="IBM Plex Sans"/>
                          <a:sym typeface="IBM Plex Sans"/>
                        </a:rPr>
                        <a:t>XGBoost (boosting clásico)</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0D213A"/>
                      </a:solidFill>
                      <a:prstDash val="solid"/>
                      <a:round/>
                      <a:headEnd len="sm" w="sm" type="none"/>
                      <a:tailEnd len="sm" w="sm" type="none"/>
                    </a:lnL>
                    <a:lnR cap="flat" cmpd="sng" w="12700">
                      <a:solidFill>
                        <a:srgbClr val="0D213A"/>
                      </a:solidFill>
                      <a:prstDash val="solid"/>
                      <a:round/>
                      <a:headEnd len="sm" w="sm" type="none"/>
                      <a:tailEnd len="sm" w="sm" type="none"/>
                    </a:lnR>
                    <a:lnT cap="flat" cmpd="sng" w="12700">
                      <a:solidFill>
                        <a:srgbClr val="C4C5C7"/>
                      </a:solidFill>
                      <a:prstDash val="solid"/>
                      <a:round/>
                      <a:headEnd len="sm" w="sm" type="none"/>
                      <a:tailEnd len="sm" w="sm" type="none"/>
                    </a:lnT>
                    <a:lnB cap="flat" cmpd="sng" w="12700">
                      <a:solidFill>
                        <a:srgbClr val="0D213A"/>
                      </a:solidFill>
                      <a:prstDash val="solid"/>
                      <a:round/>
                      <a:headEnd len="sm" w="sm" type="none"/>
                      <a:tailEnd len="sm" w="sm" type="none"/>
                    </a:lnB>
                    <a:solidFill>
                      <a:srgbClr val="0B2545"/>
                    </a:solidFill>
                  </a:tcPr>
                </a:tc>
                <a:tc>
                  <a:txBody>
                    <a:bodyPr/>
                    <a:lstStyle/>
                    <a:p>
                      <a:pPr indent="0" lvl="0" marL="0" marR="0" rtl="0" algn="l">
                        <a:lnSpc>
                          <a:spcPct val="140000"/>
                        </a:lnSpc>
                        <a:spcBef>
                          <a:spcPts val="0"/>
                        </a:spcBef>
                        <a:spcAft>
                          <a:spcPts val="0"/>
                        </a:spcAft>
                        <a:buClr>
                          <a:srgbClr val="F5F7FA"/>
                        </a:buClr>
                        <a:buSzPts val="1300"/>
                        <a:buFont typeface="IBM Plex Sans"/>
                        <a:buNone/>
                      </a:pPr>
                      <a:r>
                        <a:rPr b="1" lang="en-US" sz="1300" u="none" cap="none" strike="noStrike">
                          <a:solidFill>
                            <a:srgbClr val="F5F7FA"/>
                          </a:solidFill>
                          <a:latin typeface="IBM Plex Sans"/>
                          <a:ea typeface="IBM Plex Sans"/>
                          <a:cs typeface="IBM Plex Sans"/>
                          <a:sym typeface="IBM Plex Sans"/>
                        </a:rPr>
                        <a:t>NGBoost</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0D213A"/>
                      </a:solidFill>
                      <a:prstDash val="solid"/>
                      <a:round/>
                      <a:headEnd len="sm" w="sm" type="none"/>
                      <a:tailEnd len="sm" w="sm" type="none"/>
                    </a:lnL>
                    <a:lnR cap="flat" cmpd="sng" w="12700">
                      <a:solidFill>
                        <a:srgbClr val="0D213A"/>
                      </a:solidFill>
                      <a:prstDash val="solid"/>
                      <a:round/>
                      <a:headEnd len="sm" w="sm" type="none"/>
                      <a:tailEnd len="sm" w="sm" type="none"/>
                    </a:lnR>
                    <a:lnT cap="flat" cmpd="sng" w="12700">
                      <a:solidFill>
                        <a:srgbClr val="C4C5C7"/>
                      </a:solidFill>
                      <a:prstDash val="solid"/>
                      <a:round/>
                      <a:headEnd len="sm" w="sm" type="none"/>
                      <a:tailEnd len="sm" w="sm" type="none"/>
                    </a:lnT>
                    <a:lnB cap="flat" cmpd="sng" w="12700">
                      <a:solidFill>
                        <a:srgbClr val="0D213A"/>
                      </a:solidFill>
                      <a:prstDash val="solid"/>
                      <a:round/>
                      <a:headEnd len="sm" w="sm" type="none"/>
                      <a:tailEnd len="sm" w="sm" type="none"/>
                    </a:lnB>
                    <a:solidFill>
                      <a:srgbClr val="0B2545"/>
                    </a:solidFill>
                  </a:tcPr>
                </a:tc>
              </a:tr>
              <a:tr h="359325">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Salida en regresión</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5C7"/>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0D213A"/>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Un número: ŷ</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0D213A"/>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Una distribución: P(y | x)</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0D213A"/>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9325">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Árboles por etapa</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5C7"/>
                      </a:solidFill>
                      <a:prstDash val="solid"/>
                      <a:round/>
                      <a:headEnd len="sm" w="sm" type="none"/>
                      <a:tailEnd len="sm" w="sm" type="none"/>
                    </a:lnL>
                    <a:lnR cap="flat" cmpd="sng" w="12700">
                      <a:solidFill>
                        <a:srgbClr val="BEC2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C6"/>
                      </a:solidFill>
                      <a:prstDash val="solid"/>
                      <a:round/>
                      <a:headEnd len="sm" w="sm" type="none"/>
                      <a:tailEnd len="sm" w="sm" type="none"/>
                    </a:lnB>
                    <a:solidFill>
                      <a:srgbClr val="EEF3F9"/>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1</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2C6"/>
                      </a:solidFill>
                      <a:prstDash val="solid"/>
                      <a:round/>
                      <a:headEnd len="sm" w="sm" type="none"/>
                      <a:tailEnd len="sm" w="sm" type="none"/>
                    </a:lnL>
                    <a:lnR cap="flat" cmpd="sng" w="12700">
                      <a:solidFill>
                        <a:srgbClr val="BEC2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C6"/>
                      </a:solidFill>
                      <a:prstDash val="solid"/>
                      <a:round/>
                      <a:headEnd len="sm" w="sm" type="none"/>
                      <a:tailEnd len="sm" w="sm" type="none"/>
                    </a:lnB>
                    <a:solidFill>
                      <a:srgbClr val="EEF3F9"/>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1 por parámetro (2 en la Normal)</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2C6"/>
                      </a:solidFill>
                      <a:prstDash val="solid"/>
                      <a:round/>
                      <a:headEnd len="sm" w="sm" type="none"/>
                      <a:tailEnd len="sm" w="sm" type="none"/>
                    </a:lnL>
                    <a:lnR cap="flat" cmpd="sng" w="12700">
                      <a:solidFill>
                        <a:srgbClr val="BEC2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C6"/>
                      </a:solidFill>
                      <a:prstDash val="solid"/>
                      <a:round/>
                      <a:headEnd len="sm" w="sm" type="none"/>
                      <a:tailEnd len="sm" w="sm" type="none"/>
                    </a:lnB>
                    <a:solidFill>
                      <a:srgbClr val="EEF3F9"/>
                    </a:solidFill>
                  </a:tcPr>
                </a:tc>
              </a:tr>
              <a:tr h="359325">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Qué aprende cada árbol</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5C7"/>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2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Gradiente de la pérdida (+ Hessiano)</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2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Gradiente natural del scoring rule</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2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9325">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Objetivo</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5C7"/>
                      </a:solidFill>
                      <a:prstDash val="solid"/>
                      <a:round/>
                      <a:headEnd len="sm" w="sm" type="none"/>
                      <a:tailEnd len="sm" w="sm" type="none"/>
                    </a:lnL>
                    <a:lnR cap="flat" cmpd="sng" w="12700">
                      <a:solidFill>
                        <a:srgbClr val="BEC2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C6"/>
                      </a:solidFill>
                      <a:prstDash val="solid"/>
                      <a:round/>
                      <a:headEnd len="sm" w="sm" type="none"/>
                      <a:tailEnd len="sm" w="sm" type="none"/>
                    </a:lnB>
                    <a:solidFill>
                      <a:srgbClr val="EEF3F9"/>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MSE u otra pérdida puntual</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2C6"/>
                      </a:solidFill>
                      <a:prstDash val="solid"/>
                      <a:round/>
                      <a:headEnd len="sm" w="sm" type="none"/>
                      <a:tailEnd len="sm" w="sm" type="none"/>
                    </a:lnL>
                    <a:lnR cap="flat" cmpd="sng" w="12700">
                      <a:solidFill>
                        <a:srgbClr val="BEC2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C6"/>
                      </a:solidFill>
                      <a:prstDash val="solid"/>
                      <a:round/>
                      <a:headEnd len="sm" w="sm" type="none"/>
                      <a:tailEnd len="sm" w="sm" type="none"/>
                    </a:lnB>
                    <a:solidFill>
                      <a:srgbClr val="EEF3F9"/>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Log score (NLL) o CRPS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2C6"/>
                      </a:solidFill>
                      <a:prstDash val="solid"/>
                      <a:round/>
                      <a:headEnd len="sm" w="sm" type="none"/>
                      <a:tailEnd len="sm" w="sm" type="none"/>
                    </a:lnL>
                    <a:lnR cap="flat" cmpd="sng" w="12700">
                      <a:solidFill>
                        <a:srgbClr val="BEC2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C6"/>
                      </a:solidFill>
                      <a:prstDash val="solid"/>
                      <a:round/>
                      <a:headEnd len="sm" w="sm" type="none"/>
                      <a:tailEnd len="sm" w="sm" type="none"/>
                    </a:lnB>
                    <a:solidFill>
                      <a:srgbClr val="EEF3F9"/>
                    </a:solidFill>
                  </a:tcPr>
                </a:tc>
              </a:tr>
              <a:tr h="359325">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Tamaño del paso</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5C7"/>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2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Uno por hoja</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2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Un ρ común por etapa</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2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9325">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Velocidad</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5C7"/>
                      </a:solidFill>
                      <a:prstDash val="solid"/>
                      <a:round/>
                      <a:headEnd len="sm" w="sm" type="none"/>
                      <a:tailEnd len="sm" w="sm" type="none"/>
                    </a:lnL>
                    <a:lnR cap="flat" cmpd="sng" w="12700">
                      <a:solidFill>
                        <a:srgbClr val="BEC2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C6"/>
                      </a:solidFill>
                      <a:prstDash val="solid"/>
                      <a:round/>
                      <a:headEnd len="sm" w="sm" type="none"/>
                      <a:tailEnd len="sm" w="sm" type="none"/>
                    </a:lnB>
                    <a:solidFill>
                      <a:srgbClr val="EEF3F9"/>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Muy optimizado (C++)</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2C6"/>
                      </a:solidFill>
                      <a:prstDash val="solid"/>
                      <a:round/>
                      <a:headEnd len="sm" w="sm" type="none"/>
                      <a:tailEnd len="sm" w="sm" type="none"/>
                    </a:lnL>
                    <a:lnR cap="flat" cmpd="sng" w="12700">
                      <a:solidFill>
                        <a:srgbClr val="BEC2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C6"/>
                      </a:solidFill>
                      <a:prstDash val="solid"/>
                      <a:round/>
                      <a:headEnd len="sm" w="sm" type="none"/>
                      <a:tailEnd len="sm" w="sm" type="none"/>
                    </a:lnB>
                    <a:solidFill>
                      <a:srgbClr val="EEF3F9"/>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Más lento (Python sobre sklearn)</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EC2C6"/>
                      </a:solidFill>
                      <a:prstDash val="solid"/>
                      <a:round/>
                      <a:headEnd len="sm" w="sm" type="none"/>
                      <a:tailEnd len="sm" w="sm" type="none"/>
                    </a:lnL>
                    <a:lnR cap="flat" cmpd="sng" w="12700">
                      <a:solidFill>
                        <a:srgbClr val="BEC2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2C6"/>
                      </a:solidFill>
                      <a:prstDash val="solid"/>
                      <a:round/>
                      <a:headEnd len="sm" w="sm" type="none"/>
                      <a:tailEnd len="sm" w="sm" type="none"/>
                    </a:lnB>
                    <a:solidFill>
                      <a:srgbClr val="EEF3F9"/>
                    </a:solidFill>
                  </a:tcPr>
                </a:tc>
              </a:tr>
              <a:tr h="359325">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Pensado para</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5C7"/>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2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Máxima precisión puntual</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2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3B4A5E"/>
                        </a:buClr>
                        <a:buSzPts val="1300"/>
                        <a:buFont typeface="IBM Plex Sans"/>
                        <a:buNone/>
                      </a:pPr>
                      <a:r>
                        <a:rPr lang="en-US" sz="1300" u="none" cap="none" strike="noStrike">
                          <a:solidFill>
                            <a:srgbClr val="3B4A5E"/>
                          </a:solidFill>
                          <a:latin typeface="IBM Plex Sans"/>
                          <a:ea typeface="IBM Plex Sans"/>
                          <a:cs typeface="IBM Plex Sans"/>
                          <a:sym typeface="IBM Plex Sans"/>
                        </a:rPr>
                        <a:t>Decidir con incertidumbre</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2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bl>
          </a:graphicData>
        </a:graphic>
      </p:graphicFrame>
      <p:sp>
        <p:nvSpPr>
          <p:cNvPr id="88" name="Google Shape;88;p5"/>
          <p:cNvSpPr/>
          <p:nvPr/>
        </p:nvSpPr>
        <p:spPr>
          <a:xfrm>
            <a:off x="812800" y="4914106"/>
            <a:ext cx="10566400" cy="511175"/>
          </a:xfrm>
          <a:prstGeom prst="roundRect">
            <a:avLst>
              <a:gd fmla="val 14907" name="adj"/>
            </a:avLst>
          </a:prstGeom>
          <a:solidFill>
            <a:srgbClr val="E3ECF6"/>
          </a:solidFill>
          <a:ln>
            <a:noFill/>
          </a:ln>
        </p:spPr>
        <p:txBody>
          <a:bodyPr anchorCtr="0" anchor="t" bIns="79275" lIns="180875" spcFirstLastPara="1" rIns="0" wrap="square" tIns="104675">
            <a:normAutofit/>
          </a:bodyPr>
          <a:lstStyle/>
          <a:p>
            <a:pPr indent="0" lvl="0" marL="0" marR="0" rtl="0" algn="l">
              <a:lnSpc>
                <a:spcPct val="135000"/>
              </a:lnSpc>
              <a:spcBef>
                <a:spcPts val="0"/>
              </a:spcBef>
              <a:spcAft>
                <a:spcPts val="0"/>
              </a:spcAft>
              <a:buClr>
                <a:srgbClr val="0B2545"/>
              </a:buClr>
              <a:buSzPts val="1500"/>
              <a:buFont typeface="IBM Plex Sans"/>
              <a:buNone/>
            </a:pPr>
            <a:r>
              <a:rPr b="0" i="0" lang="en-US" sz="1500" u="none" cap="none" strike="noStrike">
                <a:solidFill>
                  <a:srgbClr val="0B2545"/>
                </a:solidFill>
                <a:latin typeface="IBM Plex Sans"/>
                <a:ea typeface="IBM Plex Sans"/>
                <a:cs typeface="IBM Plex Sans"/>
                <a:sym typeface="IBM Plex Sans"/>
              </a:rPr>
              <a:t>Con una Normal de σ fijo y log score, NGBoost </a:t>
            </a:r>
            <a:r>
              <a:rPr b="1" i="0" lang="en-US" sz="1500" u="none" cap="none" strike="noStrike">
                <a:solidFill>
                  <a:srgbClr val="0B2545"/>
                </a:solidFill>
                <a:latin typeface="IBM Plex Sans"/>
                <a:ea typeface="IBM Plex Sans"/>
                <a:cs typeface="IBM Plex Sans"/>
                <a:sym typeface="IBM Plex Sans"/>
              </a:rPr>
              <a:t>equivale</a:t>
            </a:r>
            <a:r>
              <a:rPr b="0" i="0" lang="en-US" sz="1500" u="none" cap="none" strike="noStrike">
                <a:solidFill>
                  <a:srgbClr val="0B2545"/>
                </a:solidFill>
                <a:latin typeface="IBM Plex Sans"/>
                <a:ea typeface="IBM Plex Sans"/>
                <a:cs typeface="IBM Plex Sans"/>
                <a:sym typeface="IBM Plex Sans"/>
              </a:rPr>
              <a:t> al boosting con MSE: no lo reemplaza, lo generaliza.</a:t>
            </a:r>
            <a:endParaRPr b="0" i="0" sz="1500" u="none" cap="none" strike="noStrike">
              <a:solidFill>
                <a:schemeClr val="dk1"/>
              </a:solidFill>
              <a:latin typeface="IBM Plex Sans"/>
              <a:ea typeface="IBM Plex Sans"/>
              <a:cs typeface="IBM Plex Sans"/>
              <a:sym typeface="IBM Plex Sans"/>
            </a:endParaRPr>
          </a:p>
        </p:txBody>
      </p:sp>
      <p:sp>
        <p:nvSpPr>
          <p:cNvPr id="89" name="Google Shape;89;p5"/>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A8F"/>
              </a:buClr>
              <a:buSzPts val="1200"/>
              <a:buFont typeface="IBM Plex Sans"/>
              <a:buNone/>
            </a:pPr>
            <a:r>
              <a:rPr b="0" i="0" lang="en-US" sz="1200" u="none" cap="none" strike="noStrike">
                <a:solidFill>
                  <a:srgbClr val="6B7A8F"/>
                </a:solidFill>
                <a:latin typeface="IBM Plex Sans"/>
                <a:ea typeface="IBM Plex Sans"/>
                <a:cs typeface="IBM Plex Sans"/>
                <a:sym typeface="IBM Plex Sans"/>
              </a:rPr>
              <a:t>NGBoost · Análisis Predictivo · 05</a:t>
            </a:r>
            <a:endParaRPr b="0" i="0" sz="1200" u="none" cap="none" strike="noStrike">
              <a:solidFill>
                <a:schemeClr val="dk1"/>
              </a:solidFill>
              <a:latin typeface="IBM Plex Sans"/>
              <a:ea typeface="IBM Plex Sans"/>
              <a:cs typeface="IBM Plex Sans"/>
              <a:sym typeface="IBM Plex Sans"/>
            </a:endParaRPr>
          </a:p>
        </p:txBody>
      </p:sp>
      <p:sp>
        <p:nvSpPr>
          <p:cNvPr id="90" name="Google Shape;90;p5"/>
          <p:cNvSpPr txBox="1"/>
          <p:nvPr>
            <p:ph type="title"/>
          </p:nvPr>
        </p:nvSpPr>
        <p:spPr>
          <a:xfrm>
            <a:off x="1691700" y="1186820"/>
            <a:ext cx="10883400" cy="492600"/>
          </a:xfrm>
          <a:prstGeom prst="rect">
            <a:avLst/>
          </a:prstGeom>
          <a:noFill/>
          <a:ln>
            <a:noFill/>
          </a:ln>
        </p:spPr>
        <p:txBody>
          <a:bodyPr anchorCtr="0" anchor="t" bIns="0" lIns="0" spcFirstLastPara="1" rIns="0" wrap="square" tIns="0">
            <a:normAutofit fontScale="90000"/>
          </a:bodyPr>
          <a:lstStyle/>
          <a:p>
            <a:pPr indent="0" lvl="0" marL="0" rtl="0" algn="l">
              <a:spcBef>
                <a:spcPts val="0"/>
              </a:spcBef>
              <a:spcAft>
                <a:spcPts val="0"/>
              </a:spcAft>
              <a:buClr>
                <a:schemeClr val="dk1"/>
              </a:buClr>
              <a:buSzPct val="100000"/>
              <a:buFont typeface="IBM Plex Sans"/>
              <a:buNone/>
            </a:pPr>
            <a:r>
              <a:rPr b="1" lang="en-US">
                <a:solidFill>
                  <a:schemeClr val="dk1"/>
                </a:solidFill>
              </a:rPr>
              <a:t>XGBoost vs. NGBoost</a:t>
            </a:r>
            <a:endParaRPr>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lnSpc>
                <a:spcPct val="115000"/>
              </a:lnSpc>
              <a:spcBef>
                <a:spcPts val="0"/>
              </a:spcBef>
              <a:spcAft>
                <a:spcPts val="0"/>
              </a:spcAft>
              <a:buClr>
                <a:srgbClr val="0B2545"/>
              </a:buClr>
              <a:buSzPct val="100000"/>
              <a:buFont typeface="IBM Plex Sans"/>
              <a:buNone/>
            </a:pPr>
            <a:r>
              <a:t/>
            </a:r>
            <a:endParaRPr b="1"/>
          </a:p>
        </p:txBody>
      </p:sp>
      <p:pic>
        <p:nvPicPr>
          <p:cNvPr id="91" name="Google Shape;91;p5"/>
          <p:cNvPicPr preferRelativeResize="0"/>
          <p:nvPr/>
        </p:nvPicPr>
        <p:blipFill>
          <a:blip r:embed="rId4">
            <a:alphaModFix/>
          </a:blip>
          <a:stretch>
            <a:fillRect/>
          </a:stretch>
        </p:blipFill>
        <p:spPr>
          <a:xfrm>
            <a:off x="825500" y="1051525"/>
            <a:ext cx="665950" cy="665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 name="Shape 96"/>
        <p:cNvGrpSpPr/>
        <p:nvPr/>
      </p:nvGrpSpPr>
      <p:grpSpPr>
        <a:xfrm>
          <a:off x="0" y="0"/>
          <a:ext cx="0" cy="0"/>
          <a:chOff x="0" y="0"/>
          <a:chExt cx="0" cy="0"/>
        </a:xfrm>
      </p:grpSpPr>
      <p:sp>
        <p:nvSpPr>
          <p:cNvPr id="97" name="Google Shape;97;p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200"/>
              <a:buFont typeface="IBM Plex Sans"/>
              <a:buNone/>
            </a:pPr>
            <a:r>
              <a:rPr b="1" i="0" lang="en-US" sz="1200" u="none" cap="none" strike="noStrike">
                <a:solidFill>
                  <a:srgbClr val="1B5FA8"/>
                </a:solidFill>
                <a:latin typeface="IBM Plex Sans"/>
                <a:ea typeface="IBM Plex Sans"/>
                <a:cs typeface="IBM Plex Sans"/>
                <a:sym typeface="IBM Plex Sans"/>
              </a:rPr>
              <a:t>CÓMO FUNCIONA</a:t>
            </a:r>
            <a:endParaRPr b="0" i="0" sz="1200" u="none" cap="none" strike="noStrike">
              <a:solidFill>
                <a:schemeClr val="dk1"/>
              </a:solidFill>
              <a:latin typeface="IBM Plex Sans"/>
              <a:ea typeface="IBM Plex Sans"/>
              <a:cs typeface="IBM Plex Sans"/>
              <a:sym typeface="IBM Plex Sans"/>
            </a:endParaRPr>
          </a:p>
        </p:txBody>
      </p:sp>
      <p:cxnSp>
        <p:nvCxnSpPr>
          <p:cNvPr id="98" name="Google Shape;98;p6"/>
          <p:cNvCxnSpPr/>
          <p:nvPr/>
        </p:nvCxnSpPr>
        <p:spPr>
          <a:xfrm>
            <a:off x="812800" y="4446191"/>
            <a:ext cx="3386634" cy="0"/>
          </a:xfrm>
          <a:prstGeom prst="straightConnector1">
            <a:avLst/>
          </a:prstGeom>
          <a:noFill/>
          <a:ln cap="flat" cmpd="sng" w="38100">
            <a:solidFill>
              <a:srgbClr val="1B5FA8"/>
            </a:solidFill>
            <a:prstDash val="solid"/>
            <a:round/>
            <a:headEnd len="sm" w="sm" type="none"/>
            <a:tailEnd len="sm" w="sm" type="none"/>
          </a:ln>
        </p:spPr>
      </p:cxnSp>
      <p:sp>
        <p:nvSpPr>
          <p:cNvPr id="99" name="Google Shape;99;p6"/>
          <p:cNvSpPr/>
          <p:nvPr/>
        </p:nvSpPr>
        <p:spPr>
          <a:xfrm>
            <a:off x="812800" y="4592241"/>
            <a:ext cx="3488233"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400"/>
              <a:buFont typeface="IBM Plex Sans"/>
              <a:buNone/>
            </a:pPr>
            <a:r>
              <a:rPr b="1" i="0" lang="en-US" sz="1400" u="none" cap="none" strike="noStrike">
                <a:solidFill>
                  <a:srgbClr val="0B2545"/>
                </a:solidFill>
                <a:latin typeface="IBM Plex Sans"/>
                <a:ea typeface="IBM Plex Sans"/>
                <a:cs typeface="IBM Plex Sans"/>
                <a:sym typeface="IBM Plex Sans"/>
              </a:rPr>
              <a:t>Base learner</a:t>
            </a:r>
            <a:endParaRPr b="0" i="0" sz="1400" u="none" cap="none" strike="noStrike">
              <a:solidFill>
                <a:schemeClr val="dk1"/>
              </a:solidFill>
              <a:latin typeface="IBM Plex Sans"/>
              <a:ea typeface="IBM Plex Sans"/>
              <a:cs typeface="IBM Plex Sans"/>
              <a:sym typeface="IBM Plex Sans"/>
            </a:endParaRPr>
          </a:p>
        </p:txBody>
      </p:sp>
      <p:sp>
        <p:nvSpPr>
          <p:cNvPr id="100" name="Google Shape;100;p6"/>
          <p:cNvSpPr/>
          <p:nvPr/>
        </p:nvSpPr>
        <p:spPr>
          <a:xfrm>
            <a:off x="812800" y="4891931"/>
            <a:ext cx="3488233" cy="26541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400"/>
              <a:buFont typeface="IBM Plex Sans"/>
              <a:buNone/>
            </a:pPr>
            <a:r>
              <a:rPr b="0" i="0" lang="en-US" sz="1400" u="none" cap="none" strike="noStrike">
                <a:solidFill>
                  <a:srgbClr val="3B4A5E"/>
                </a:solidFill>
                <a:latin typeface="IBM Plex Sans"/>
                <a:ea typeface="IBM Plex Sans"/>
                <a:cs typeface="IBM Plex Sans"/>
                <a:sym typeface="IBM Plex Sans"/>
              </a:rPr>
              <a:t>Árboles chicos (profundidad 3)</a:t>
            </a:r>
            <a:endParaRPr b="0" i="0" sz="1400" u="none" cap="none" strike="noStrike">
              <a:solidFill>
                <a:schemeClr val="dk1"/>
              </a:solidFill>
              <a:latin typeface="IBM Plex Sans"/>
              <a:ea typeface="IBM Plex Sans"/>
              <a:cs typeface="IBM Plex Sans"/>
              <a:sym typeface="IBM Plex Sans"/>
            </a:endParaRPr>
          </a:p>
        </p:txBody>
      </p:sp>
      <p:cxnSp>
        <p:nvCxnSpPr>
          <p:cNvPr id="101" name="Google Shape;101;p6"/>
          <p:cNvCxnSpPr/>
          <p:nvPr/>
        </p:nvCxnSpPr>
        <p:spPr>
          <a:xfrm>
            <a:off x="4402634" y="4446191"/>
            <a:ext cx="3386683" cy="0"/>
          </a:xfrm>
          <a:prstGeom prst="straightConnector1">
            <a:avLst/>
          </a:prstGeom>
          <a:noFill/>
          <a:ln cap="flat" cmpd="sng" w="38100">
            <a:solidFill>
              <a:srgbClr val="1B5FA8"/>
            </a:solidFill>
            <a:prstDash val="solid"/>
            <a:round/>
            <a:headEnd len="sm" w="sm" type="none"/>
            <a:tailEnd len="sm" w="sm" type="none"/>
          </a:ln>
        </p:spPr>
      </p:cxnSp>
      <p:sp>
        <p:nvSpPr>
          <p:cNvPr id="102" name="Google Shape;102;p6"/>
          <p:cNvSpPr/>
          <p:nvPr/>
        </p:nvSpPr>
        <p:spPr>
          <a:xfrm>
            <a:off x="4402634" y="4592241"/>
            <a:ext cx="3488284"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400"/>
              <a:buFont typeface="IBM Plex Sans"/>
              <a:buNone/>
            </a:pPr>
            <a:r>
              <a:rPr b="1" i="0" lang="en-US" sz="1400" u="none" cap="none" strike="noStrike">
                <a:solidFill>
                  <a:srgbClr val="0B2545"/>
                </a:solidFill>
                <a:latin typeface="IBM Plex Sans"/>
                <a:ea typeface="IBM Plex Sans"/>
                <a:cs typeface="IBM Plex Sans"/>
                <a:sym typeface="IBM Plex Sans"/>
              </a:rPr>
              <a:t>Distribución</a:t>
            </a:r>
            <a:endParaRPr b="0" i="0" sz="1400" u="none" cap="none" strike="noStrike">
              <a:solidFill>
                <a:schemeClr val="dk1"/>
              </a:solidFill>
              <a:latin typeface="IBM Plex Sans"/>
              <a:ea typeface="IBM Plex Sans"/>
              <a:cs typeface="IBM Plex Sans"/>
              <a:sym typeface="IBM Plex Sans"/>
            </a:endParaRPr>
          </a:p>
        </p:txBody>
      </p:sp>
      <p:sp>
        <p:nvSpPr>
          <p:cNvPr id="103" name="Google Shape;103;p6"/>
          <p:cNvSpPr/>
          <p:nvPr/>
        </p:nvSpPr>
        <p:spPr>
          <a:xfrm>
            <a:off x="4402634" y="4891931"/>
            <a:ext cx="3488284" cy="50542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400"/>
              <a:buFont typeface="IBM Plex Sans"/>
              <a:buNone/>
            </a:pPr>
            <a:r>
              <a:rPr b="0" i="0" lang="en-US" sz="1400" u="none" cap="none" strike="noStrike">
                <a:solidFill>
                  <a:srgbClr val="3B4A5E"/>
                </a:solidFill>
                <a:latin typeface="IBM Plex Sans"/>
                <a:ea typeface="IBM Plex Sans"/>
                <a:cs typeface="IBM Plex Sans"/>
                <a:sym typeface="IBM Plex Sans"/>
              </a:rPr>
              <a:t>Normal, LogNormal, Poisson, Exponencial…</a:t>
            </a:r>
            <a:endParaRPr b="0" i="0" sz="1400" u="none" cap="none" strike="noStrike">
              <a:solidFill>
                <a:schemeClr val="dk1"/>
              </a:solidFill>
              <a:latin typeface="IBM Plex Sans"/>
              <a:ea typeface="IBM Plex Sans"/>
              <a:cs typeface="IBM Plex Sans"/>
              <a:sym typeface="IBM Plex Sans"/>
            </a:endParaRPr>
          </a:p>
        </p:txBody>
      </p:sp>
      <p:cxnSp>
        <p:nvCxnSpPr>
          <p:cNvPr id="104" name="Google Shape;104;p6"/>
          <p:cNvCxnSpPr/>
          <p:nvPr/>
        </p:nvCxnSpPr>
        <p:spPr>
          <a:xfrm>
            <a:off x="7992517" y="4446191"/>
            <a:ext cx="3386634" cy="0"/>
          </a:xfrm>
          <a:prstGeom prst="straightConnector1">
            <a:avLst/>
          </a:prstGeom>
          <a:noFill/>
          <a:ln cap="flat" cmpd="sng" w="38100">
            <a:solidFill>
              <a:srgbClr val="1B5FA8"/>
            </a:solidFill>
            <a:prstDash val="solid"/>
            <a:round/>
            <a:headEnd len="sm" w="sm" type="none"/>
            <a:tailEnd len="sm" w="sm" type="none"/>
          </a:ln>
        </p:spPr>
      </p:cxnSp>
      <p:sp>
        <p:nvSpPr>
          <p:cNvPr id="105" name="Google Shape;105;p6"/>
          <p:cNvSpPr/>
          <p:nvPr/>
        </p:nvSpPr>
        <p:spPr>
          <a:xfrm>
            <a:off x="7992517" y="4592241"/>
            <a:ext cx="3488233"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400"/>
              <a:buFont typeface="IBM Plex Sans"/>
              <a:buNone/>
            </a:pPr>
            <a:r>
              <a:rPr b="1" i="0" lang="en-US" sz="1400" u="none" cap="none" strike="noStrike">
                <a:solidFill>
                  <a:srgbClr val="0B2545"/>
                </a:solidFill>
                <a:latin typeface="IBM Plex Sans"/>
                <a:ea typeface="IBM Plex Sans"/>
                <a:cs typeface="IBM Plex Sans"/>
                <a:sym typeface="IBM Plex Sans"/>
              </a:rPr>
              <a:t>Scoring rule</a:t>
            </a:r>
            <a:endParaRPr b="0" i="0" sz="1400" u="none" cap="none" strike="noStrike">
              <a:solidFill>
                <a:schemeClr val="dk1"/>
              </a:solidFill>
              <a:latin typeface="IBM Plex Sans"/>
              <a:ea typeface="IBM Plex Sans"/>
              <a:cs typeface="IBM Plex Sans"/>
              <a:sym typeface="IBM Plex Sans"/>
            </a:endParaRPr>
          </a:p>
        </p:txBody>
      </p:sp>
      <p:sp>
        <p:nvSpPr>
          <p:cNvPr id="106" name="Google Shape;106;p6"/>
          <p:cNvSpPr/>
          <p:nvPr/>
        </p:nvSpPr>
        <p:spPr>
          <a:xfrm>
            <a:off x="7992517" y="4891931"/>
            <a:ext cx="3488233" cy="26541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400"/>
              <a:buFont typeface="IBM Plex Sans"/>
              <a:buNone/>
            </a:pPr>
            <a:r>
              <a:rPr b="0" i="0" lang="en-US" sz="1400" u="none" cap="none" strike="noStrike">
                <a:solidFill>
                  <a:srgbClr val="3B4A5E"/>
                </a:solidFill>
                <a:latin typeface="IBM Plex Sans"/>
                <a:ea typeface="IBM Plex Sans"/>
                <a:cs typeface="IBM Plex Sans"/>
                <a:sym typeface="IBM Plex Sans"/>
              </a:rPr>
              <a:t>Log score (MLE) o CRPS</a:t>
            </a:r>
            <a:endParaRPr b="0" i="0" sz="1400" u="none" cap="none" strike="noStrike">
              <a:solidFill>
                <a:schemeClr val="dk1"/>
              </a:solidFill>
              <a:latin typeface="IBM Plex Sans"/>
              <a:ea typeface="IBM Plex Sans"/>
              <a:cs typeface="IBM Plex Sans"/>
              <a:sym typeface="IBM Plex Sans"/>
            </a:endParaRPr>
          </a:p>
        </p:txBody>
      </p:sp>
      <p:sp>
        <p:nvSpPr>
          <p:cNvPr id="107" name="Google Shape;107;p6"/>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A8F"/>
              </a:buClr>
              <a:buSzPts val="1200"/>
              <a:buFont typeface="IBM Plex Sans"/>
              <a:buNone/>
            </a:pPr>
            <a:r>
              <a:rPr b="0" i="0" lang="en-US" sz="1200" u="none" cap="none" strike="noStrike">
                <a:solidFill>
                  <a:srgbClr val="6B7A8F"/>
                </a:solidFill>
                <a:latin typeface="IBM Plex Sans"/>
                <a:ea typeface="IBM Plex Sans"/>
                <a:cs typeface="IBM Plex Sans"/>
                <a:sym typeface="IBM Plex Sans"/>
              </a:rPr>
              <a:t>NGBoost · Análisis Predictivo · 06 · basado en la Figura 2 del paper</a:t>
            </a:r>
            <a:endParaRPr b="0" i="0" sz="1200" u="none" cap="none" strike="noStrike">
              <a:solidFill>
                <a:schemeClr val="dk1"/>
              </a:solidFill>
              <a:latin typeface="IBM Plex Sans"/>
              <a:ea typeface="IBM Plex Sans"/>
              <a:cs typeface="IBM Plex Sans"/>
              <a:sym typeface="IBM Plex Sans"/>
            </a:endParaRPr>
          </a:p>
        </p:txBody>
      </p:sp>
      <p:pic>
        <p:nvPicPr>
          <p:cNvPr id="108" name="Google Shape;108;p6"/>
          <p:cNvPicPr preferRelativeResize="0"/>
          <p:nvPr/>
        </p:nvPicPr>
        <p:blipFill>
          <a:blip r:embed="rId4">
            <a:alphaModFix/>
          </a:blip>
          <a:stretch>
            <a:fillRect/>
          </a:stretch>
        </p:blipFill>
        <p:spPr>
          <a:xfrm>
            <a:off x="507638" y="1993988"/>
            <a:ext cx="11176675" cy="1655800"/>
          </a:xfrm>
          <a:prstGeom prst="rect">
            <a:avLst/>
          </a:prstGeom>
          <a:noFill/>
          <a:ln>
            <a:noFill/>
          </a:ln>
        </p:spPr>
      </p:pic>
      <p:sp>
        <p:nvSpPr>
          <p:cNvPr id="109" name="Google Shape;109;p6"/>
          <p:cNvSpPr txBox="1"/>
          <p:nvPr>
            <p:ph type="title"/>
          </p:nvPr>
        </p:nvSpPr>
        <p:spPr>
          <a:xfrm>
            <a:off x="1691700" y="1186820"/>
            <a:ext cx="10883400" cy="492600"/>
          </a:xfrm>
          <a:prstGeom prst="rect">
            <a:avLst/>
          </a:prstGeom>
          <a:noFill/>
          <a:ln>
            <a:noFill/>
          </a:ln>
        </p:spPr>
        <p:txBody>
          <a:bodyPr anchorCtr="0" anchor="t" bIns="0" lIns="0" spcFirstLastPara="1" rIns="0" wrap="square" tIns="0">
            <a:normAutofit fontScale="90000"/>
          </a:bodyPr>
          <a:lstStyle/>
          <a:p>
            <a:pPr indent="0" lvl="0" marL="0" rtl="0" algn="l">
              <a:spcBef>
                <a:spcPts val="0"/>
              </a:spcBef>
              <a:spcAft>
                <a:spcPts val="0"/>
              </a:spcAft>
              <a:buClr>
                <a:schemeClr val="dk1"/>
              </a:buClr>
              <a:buSzPct val="100000"/>
              <a:buFont typeface="IBM Plex Sans"/>
              <a:buNone/>
            </a:pPr>
            <a:r>
              <a:rPr b="1" lang="en-US">
                <a:solidFill>
                  <a:schemeClr val="dk1"/>
                </a:solidFill>
              </a:rPr>
              <a:t>Un método modular, en tres piezas</a:t>
            </a:r>
            <a:endParaRPr>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lnSpc>
                <a:spcPct val="115000"/>
              </a:lnSpc>
              <a:spcBef>
                <a:spcPts val="0"/>
              </a:spcBef>
              <a:spcAft>
                <a:spcPts val="0"/>
              </a:spcAft>
              <a:buClr>
                <a:srgbClr val="0B2545"/>
              </a:buClr>
              <a:buSzPct val="100000"/>
              <a:buFont typeface="IBM Plex Sans"/>
              <a:buNone/>
            </a:pPr>
            <a:r>
              <a:t/>
            </a:r>
            <a:endParaRPr b="1"/>
          </a:p>
        </p:txBody>
      </p:sp>
      <p:pic>
        <p:nvPicPr>
          <p:cNvPr id="110" name="Google Shape;110;p6"/>
          <p:cNvPicPr preferRelativeResize="0"/>
          <p:nvPr/>
        </p:nvPicPr>
        <p:blipFill>
          <a:blip r:embed="rId5">
            <a:alphaModFix/>
          </a:blip>
          <a:stretch>
            <a:fillRect/>
          </a:stretch>
        </p:blipFill>
        <p:spPr>
          <a:xfrm>
            <a:off x="812800" y="1121277"/>
            <a:ext cx="623700" cy="623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7"/>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200"/>
              <a:buFont typeface="IBM Plex Sans"/>
              <a:buNone/>
            </a:pPr>
            <a:r>
              <a:rPr b="1" i="0" lang="en-US" sz="1200" u="none" cap="none" strike="noStrike">
                <a:solidFill>
                  <a:srgbClr val="1B5FA8"/>
                </a:solidFill>
                <a:latin typeface="IBM Plex Sans"/>
                <a:ea typeface="IBM Plex Sans"/>
                <a:cs typeface="IBM Plex Sans"/>
                <a:sym typeface="IBM Plex Sans"/>
              </a:rPr>
              <a:t>CÓMO FUNCIONA</a:t>
            </a:r>
            <a:endParaRPr b="0" i="0" sz="1200" u="none" cap="none" strike="noStrike">
              <a:solidFill>
                <a:schemeClr val="dk1"/>
              </a:solidFill>
              <a:latin typeface="IBM Plex Sans"/>
              <a:ea typeface="IBM Plex Sans"/>
              <a:cs typeface="IBM Plex Sans"/>
              <a:sym typeface="IBM Plex Sans"/>
            </a:endParaRPr>
          </a:p>
        </p:txBody>
      </p:sp>
      <p:sp>
        <p:nvSpPr>
          <p:cNvPr id="117" name="Google Shape;117;p7"/>
          <p:cNvSpPr/>
          <p:nvPr/>
        </p:nvSpPr>
        <p:spPr>
          <a:xfrm>
            <a:off x="812800" y="1849041"/>
            <a:ext cx="10566400" cy="1117600"/>
          </a:xfrm>
          <a:prstGeom prst="roundRect">
            <a:avLst>
              <a:gd fmla="val 9091" name="adj"/>
            </a:avLst>
          </a:prstGeom>
          <a:solidFill>
            <a:srgbClr val="0B2545"/>
          </a:solidFill>
          <a:ln>
            <a:noFill/>
          </a:ln>
        </p:spPr>
        <p:txBody>
          <a:bodyPr anchorCtr="0" anchor="t" bIns="173425" lIns="275025" spcFirstLastPara="1" rIns="0" wrap="square" tIns="198825">
            <a:normAutofit/>
          </a:bodyPr>
          <a:lstStyle/>
          <a:p>
            <a:pPr indent="0" lvl="0" marL="0" marR="0" rtl="0" algn="l">
              <a:lnSpc>
                <a:spcPct val="130000"/>
              </a:lnSpc>
              <a:spcBef>
                <a:spcPts val="0"/>
              </a:spcBef>
              <a:spcAft>
                <a:spcPts val="0"/>
              </a:spcAft>
              <a:buClr>
                <a:srgbClr val="F5F7FA"/>
              </a:buClr>
              <a:buSzPts val="2000"/>
              <a:buFont typeface="IBM Plex Sans"/>
              <a:buNone/>
            </a:pPr>
            <a:r>
              <a:rPr b="1" i="0" lang="en-US" sz="2000" u="none" cap="none" strike="noStrike">
                <a:solidFill>
                  <a:srgbClr val="F5F7FA"/>
                </a:solidFill>
                <a:latin typeface="IBM Plex Sans"/>
                <a:ea typeface="IBM Plex Sans"/>
                <a:cs typeface="IBM Plex Sans"/>
                <a:sym typeface="IBM Plex Sans"/>
              </a:rPr>
              <a:t>La </a:t>
            </a:r>
            <a:r>
              <a:rPr b="1" i="0" lang="en-US" sz="2000" u="none" cap="none" strike="noStrike">
                <a:solidFill>
                  <a:srgbClr val="8FB8E6"/>
                </a:solidFill>
                <a:latin typeface="IBM Plex Sans"/>
                <a:ea typeface="IBM Plex Sans"/>
                <a:cs typeface="IBM Plex Sans"/>
                <a:sym typeface="IBM Plex Sans"/>
              </a:rPr>
              <a:t>scoring rule</a:t>
            </a:r>
            <a:r>
              <a:rPr b="1" i="0" lang="en-US" sz="2000" u="none" cap="none" strike="noStrike">
                <a:solidFill>
                  <a:srgbClr val="F5F7FA"/>
                </a:solidFill>
                <a:latin typeface="IBM Plex Sans"/>
                <a:ea typeface="IBM Plex Sans"/>
                <a:cs typeface="IBM Plex Sans"/>
                <a:sym typeface="IBM Plex Sans"/>
              </a:rPr>
              <a:t> mira el valor real y pregunta: ¿cuánta probabilidad le había dado el modelo a lo que pasó?</a:t>
            </a:r>
            <a:endParaRPr b="0" i="0" sz="2000" u="none" cap="none" strike="noStrike">
              <a:solidFill>
                <a:schemeClr val="dk1"/>
              </a:solidFill>
              <a:latin typeface="IBM Plex Sans"/>
              <a:ea typeface="IBM Plex Sans"/>
              <a:cs typeface="IBM Plex Sans"/>
              <a:sym typeface="IBM Plex Sans"/>
            </a:endParaRPr>
          </a:p>
        </p:txBody>
      </p:sp>
      <p:sp>
        <p:nvSpPr>
          <p:cNvPr id="118" name="Google Shape;118;p7"/>
          <p:cNvSpPr/>
          <p:nvPr/>
        </p:nvSpPr>
        <p:spPr>
          <a:xfrm>
            <a:off x="819150" y="3252391"/>
            <a:ext cx="3373934" cy="1544241"/>
          </a:xfrm>
          <a:prstGeom prst="roundRect">
            <a:avLst>
              <a:gd fmla="val 6168"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a:off x="1028700" y="3461941"/>
            <a:ext cx="3043479" cy="26923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B2545"/>
              </a:buClr>
              <a:buSzPts val="1600"/>
              <a:buFont typeface="IBM Plex Sans"/>
              <a:buNone/>
            </a:pPr>
            <a:r>
              <a:rPr b="1" i="0" lang="en-US" sz="1600" u="none" cap="none" strike="noStrike">
                <a:solidFill>
                  <a:srgbClr val="0B2545"/>
                </a:solidFill>
                <a:latin typeface="IBM Plex Sans"/>
                <a:ea typeface="IBM Plex Sans"/>
                <a:cs typeface="IBM Plex Sans"/>
                <a:sym typeface="IBM Plex Sans"/>
              </a:rPr>
              <a:t>Seguro y acertó</a:t>
            </a:r>
            <a:endParaRPr b="0" i="0" sz="1600" u="none" cap="none" strike="noStrike">
              <a:solidFill>
                <a:schemeClr val="dk1"/>
              </a:solidFill>
              <a:latin typeface="IBM Plex Sans"/>
              <a:ea typeface="IBM Plex Sans"/>
              <a:cs typeface="IBM Plex Sans"/>
              <a:sym typeface="IBM Plex Sans"/>
            </a:endParaRPr>
          </a:p>
        </p:txBody>
      </p:sp>
      <p:sp>
        <p:nvSpPr>
          <p:cNvPr id="120" name="Google Shape;120;p7"/>
          <p:cNvSpPr/>
          <p:nvPr/>
        </p:nvSpPr>
        <p:spPr>
          <a:xfrm>
            <a:off x="1028700" y="3781971"/>
            <a:ext cx="3043479" cy="50542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400"/>
              <a:buFont typeface="IBM Plex Sans"/>
              <a:buNone/>
            </a:pPr>
            <a:r>
              <a:rPr b="0" i="0" lang="en-US" sz="1400" u="none" cap="none" strike="noStrike">
                <a:solidFill>
                  <a:srgbClr val="3B4A5E"/>
                </a:solidFill>
                <a:latin typeface="IBM Plex Sans"/>
                <a:ea typeface="IBM Plex Sans"/>
                <a:cs typeface="IBM Plex Sans"/>
                <a:sym typeface="IBM Plex Sans"/>
              </a:rPr>
              <a:t>Distribución angosta y el valor real cae en el centro.</a:t>
            </a:r>
            <a:endParaRPr b="0" i="0" sz="1400" u="none" cap="none" strike="noStrike">
              <a:solidFill>
                <a:schemeClr val="dk1"/>
              </a:solidFill>
              <a:latin typeface="IBM Plex Sans"/>
              <a:ea typeface="IBM Plex Sans"/>
              <a:cs typeface="IBM Plex Sans"/>
              <a:sym typeface="IBM Plex Sans"/>
            </a:endParaRPr>
          </a:p>
        </p:txBody>
      </p:sp>
      <p:sp>
        <p:nvSpPr>
          <p:cNvPr id="121" name="Google Shape;121;p7"/>
          <p:cNvSpPr/>
          <p:nvPr/>
        </p:nvSpPr>
        <p:spPr>
          <a:xfrm>
            <a:off x="1028700" y="4338191"/>
            <a:ext cx="3043479"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400"/>
              <a:buFont typeface="IBM Plex Sans"/>
              <a:buNone/>
            </a:pPr>
            <a:r>
              <a:rPr b="1" i="0" lang="en-US" sz="1400" u="none" cap="none" strike="noStrike">
                <a:solidFill>
                  <a:srgbClr val="1B5FA8"/>
                </a:solidFill>
                <a:latin typeface="IBM Plex Sans"/>
                <a:ea typeface="IBM Plex Sans"/>
                <a:cs typeface="IBM Plex Sans"/>
                <a:sym typeface="IBM Plex Sans"/>
              </a:rPr>
              <a:t>Mejor puntaje</a:t>
            </a:r>
            <a:endParaRPr b="0" i="0" sz="1400" u="none" cap="none" strike="noStrike">
              <a:solidFill>
                <a:schemeClr val="dk1"/>
              </a:solidFill>
              <a:latin typeface="IBM Plex Sans"/>
              <a:ea typeface="IBM Plex Sans"/>
              <a:cs typeface="IBM Plex Sans"/>
              <a:sym typeface="IBM Plex Sans"/>
            </a:endParaRPr>
          </a:p>
        </p:txBody>
      </p:sp>
      <p:sp>
        <p:nvSpPr>
          <p:cNvPr id="122" name="Google Shape;122;p7"/>
          <p:cNvSpPr/>
          <p:nvPr/>
        </p:nvSpPr>
        <p:spPr>
          <a:xfrm>
            <a:off x="4408984" y="3252391"/>
            <a:ext cx="3373983" cy="1544241"/>
          </a:xfrm>
          <a:prstGeom prst="roundRect">
            <a:avLst>
              <a:gd fmla="val 6168"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
          <p:cNvSpPr/>
          <p:nvPr/>
        </p:nvSpPr>
        <p:spPr>
          <a:xfrm>
            <a:off x="4618534" y="3461941"/>
            <a:ext cx="3043530" cy="26923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B2545"/>
              </a:buClr>
              <a:buSzPts val="1600"/>
              <a:buFont typeface="IBM Plex Sans"/>
              <a:buNone/>
            </a:pPr>
            <a:r>
              <a:rPr b="1" i="0" lang="en-US" sz="1600" u="none" cap="none" strike="noStrike">
                <a:solidFill>
                  <a:srgbClr val="0B2545"/>
                </a:solidFill>
                <a:latin typeface="IBM Plex Sans"/>
                <a:ea typeface="IBM Plex Sans"/>
                <a:cs typeface="IBM Plex Sans"/>
                <a:sym typeface="IBM Plex Sans"/>
              </a:rPr>
              <a:t>Seguro y erró</a:t>
            </a:r>
            <a:endParaRPr b="0" i="0" sz="1600" u="none" cap="none" strike="noStrike">
              <a:solidFill>
                <a:schemeClr val="dk1"/>
              </a:solidFill>
              <a:latin typeface="IBM Plex Sans"/>
              <a:ea typeface="IBM Plex Sans"/>
              <a:cs typeface="IBM Plex Sans"/>
              <a:sym typeface="IBM Plex Sans"/>
            </a:endParaRPr>
          </a:p>
        </p:txBody>
      </p:sp>
      <p:sp>
        <p:nvSpPr>
          <p:cNvPr id="124" name="Google Shape;124;p7"/>
          <p:cNvSpPr/>
          <p:nvPr/>
        </p:nvSpPr>
        <p:spPr>
          <a:xfrm>
            <a:off x="4618534" y="3781971"/>
            <a:ext cx="3043530" cy="50542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400"/>
              <a:buFont typeface="IBM Plex Sans"/>
              <a:buNone/>
            </a:pPr>
            <a:r>
              <a:rPr b="0" i="0" lang="en-US" sz="1400" u="none" cap="none" strike="noStrike">
                <a:solidFill>
                  <a:srgbClr val="3B4A5E"/>
                </a:solidFill>
                <a:latin typeface="IBM Plex Sans"/>
                <a:ea typeface="IBM Plex Sans"/>
                <a:cs typeface="IBM Plex Sans"/>
                <a:sym typeface="IBM Plex Sans"/>
              </a:rPr>
              <a:t>Distribución angosta y el valor real cae lejos.</a:t>
            </a:r>
            <a:endParaRPr b="0" i="0" sz="1400" u="none" cap="none" strike="noStrike">
              <a:solidFill>
                <a:schemeClr val="dk1"/>
              </a:solidFill>
              <a:latin typeface="IBM Plex Sans"/>
              <a:ea typeface="IBM Plex Sans"/>
              <a:cs typeface="IBM Plex Sans"/>
              <a:sym typeface="IBM Plex Sans"/>
            </a:endParaRPr>
          </a:p>
        </p:txBody>
      </p:sp>
      <p:sp>
        <p:nvSpPr>
          <p:cNvPr id="125" name="Google Shape;125;p7"/>
          <p:cNvSpPr/>
          <p:nvPr/>
        </p:nvSpPr>
        <p:spPr>
          <a:xfrm>
            <a:off x="4618534" y="4338191"/>
            <a:ext cx="3043530"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560F"/>
              </a:buClr>
              <a:buSzPts val="1400"/>
              <a:buFont typeface="IBM Plex Sans"/>
              <a:buNone/>
            </a:pPr>
            <a:r>
              <a:rPr b="1" i="0" lang="en-US" sz="1400" u="none" cap="none" strike="noStrike">
                <a:solidFill>
                  <a:srgbClr val="C2560F"/>
                </a:solidFill>
                <a:latin typeface="IBM Plex Sans"/>
                <a:ea typeface="IBM Plex Sans"/>
                <a:cs typeface="IBM Plex Sans"/>
                <a:sym typeface="IBM Plex Sans"/>
              </a:rPr>
              <a:t>Castigo fuerte</a:t>
            </a:r>
            <a:endParaRPr b="0" i="0" sz="1400" u="none" cap="none" strike="noStrike">
              <a:solidFill>
                <a:schemeClr val="dk1"/>
              </a:solidFill>
              <a:latin typeface="IBM Plex Sans"/>
              <a:ea typeface="IBM Plex Sans"/>
              <a:cs typeface="IBM Plex Sans"/>
              <a:sym typeface="IBM Plex Sans"/>
            </a:endParaRPr>
          </a:p>
        </p:txBody>
      </p:sp>
      <p:sp>
        <p:nvSpPr>
          <p:cNvPr id="126" name="Google Shape;126;p7"/>
          <p:cNvSpPr/>
          <p:nvPr/>
        </p:nvSpPr>
        <p:spPr>
          <a:xfrm>
            <a:off x="7998867" y="3252391"/>
            <a:ext cx="3373934" cy="1544241"/>
          </a:xfrm>
          <a:prstGeom prst="roundRect">
            <a:avLst>
              <a:gd fmla="val 6168"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8208417" y="3461941"/>
            <a:ext cx="3043479" cy="26923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B2545"/>
              </a:buClr>
              <a:buSzPts val="1600"/>
              <a:buFont typeface="IBM Plex Sans"/>
              <a:buNone/>
            </a:pPr>
            <a:r>
              <a:rPr b="1" i="0" lang="en-US" sz="1600" u="none" cap="none" strike="noStrike">
                <a:solidFill>
                  <a:srgbClr val="0B2545"/>
                </a:solidFill>
                <a:latin typeface="IBM Plex Sans"/>
                <a:ea typeface="IBM Plex Sans"/>
                <a:cs typeface="IBM Plex Sans"/>
                <a:sym typeface="IBM Plex Sans"/>
              </a:rPr>
              <a:t>Vago “por las dudas”</a:t>
            </a:r>
            <a:endParaRPr b="0" i="0" sz="1600" u="none" cap="none" strike="noStrike">
              <a:solidFill>
                <a:schemeClr val="dk1"/>
              </a:solidFill>
              <a:latin typeface="IBM Plex Sans"/>
              <a:ea typeface="IBM Plex Sans"/>
              <a:cs typeface="IBM Plex Sans"/>
              <a:sym typeface="IBM Plex Sans"/>
            </a:endParaRPr>
          </a:p>
        </p:txBody>
      </p:sp>
      <p:sp>
        <p:nvSpPr>
          <p:cNvPr id="128" name="Google Shape;128;p7"/>
          <p:cNvSpPr/>
          <p:nvPr/>
        </p:nvSpPr>
        <p:spPr>
          <a:xfrm>
            <a:off x="8208417" y="3781971"/>
            <a:ext cx="3043479" cy="50542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400"/>
              <a:buFont typeface="IBM Plex Sans"/>
              <a:buNone/>
            </a:pPr>
            <a:r>
              <a:rPr b="0" i="0" lang="en-US" sz="1400" u="none" cap="none" strike="noStrike">
                <a:solidFill>
                  <a:srgbClr val="3B4A5E"/>
                </a:solidFill>
                <a:latin typeface="IBM Plex Sans"/>
                <a:ea typeface="IBM Plex Sans"/>
                <a:cs typeface="IBM Plex Sans"/>
                <a:sym typeface="IBM Plex Sans"/>
              </a:rPr>
              <a:t>Distribución muy ancha: nunca falla, pero no informa.</a:t>
            </a:r>
            <a:endParaRPr b="0" i="0" sz="1400" u="none" cap="none" strike="noStrike">
              <a:solidFill>
                <a:schemeClr val="dk1"/>
              </a:solidFill>
              <a:latin typeface="IBM Plex Sans"/>
              <a:ea typeface="IBM Plex Sans"/>
              <a:cs typeface="IBM Plex Sans"/>
              <a:sym typeface="IBM Plex Sans"/>
            </a:endParaRPr>
          </a:p>
        </p:txBody>
      </p:sp>
      <p:sp>
        <p:nvSpPr>
          <p:cNvPr id="129" name="Google Shape;129;p7"/>
          <p:cNvSpPr/>
          <p:nvPr/>
        </p:nvSpPr>
        <p:spPr>
          <a:xfrm>
            <a:off x="8208417" y="4338191"/>
            <a:ext cx="3043479"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A8F"/>
              </a:buClr>
              <a:buSzPts val="1400"/>
              <a:buFont typeface="IBM Plex Sans"/>
              <a:buNone/>
            </a:pPr>
            <a:r>
              <a:rPr b="1" i="0" lang="en-US" sz="1400" u="none" cap="none" strike="noStrike">
                <a:solidFill>
                  <a:srgbClr val="6B7A8F"/>
                </a:solidFill>
                <a:latin typeface="IBM Plex Sans"/>
                <a:ea typeface="IBM Plex Sans"/>
                <a:cs typeface="IBM Plex Sans"/>
                <a:sym typeface="IBM Plex Sans"/>
              </a:rPr>
              <a:t>También se castiga</a:t>
            </a:r>
            <a:endParaRPr b="0" i="0" sz="1400" u="none" cap="none" strike="noStrike">
              <a:solidFill>
                <a:schemeClr val="dk1"/>
              </a:solidFill>
              <a:latin typeface="IBM Plex Sans"/>
              <a:ea typeface="IBM Plex Sans"/>
              <a:cs typeface="IBM Plex Sans"/>
              <a:sym typeface="IBM Plex Sans"/>
            </a:endParaRPr>
          </a:p>
        </p:txBody>
      </p:sp>
      <p:sp>
        <p:nvSpPr>
          <p:cNvPr id="130" name="Google Shape;130;p7"/>
          <p:cNvSpPr/>
          <p:nvPr/>
        </p:nvSpPr>
        <p:spPr>
          <a:xfrm>
            <a:off x="812800" y="5082381"/>
            <a:ext cx="10883392" cy="2825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B2545"/>
              </a:buClr>
              <a:buSzPts val="1500"/>
              <a:buFont typeface="IBM Plex Sans"/>
              <a:buNone/>
            </a:pPr>
            <a:r>
              <a:rPr b="0" i="0" lang="en-US" sz="1500" u="none" cap="none" strike="noStrike">
                <a:solidFill>
                  <a:srgbClr val="0B2545"/>
                </a:solidFill>
                <a:latin typeface="IBM Plex Sans"/>
                <a:ea typeface="IBM Plex Sans"/>
                <a:cs typeface="IBM Plex Sans"/>
                <a:sym typeface="IBM Plex Sans"/>
              </a:rPr>
              <a:t>Es la </a:t>
            </a:r>
            <a:r>
              <a:rPr b="1" i="0" lang="en-US" sz="1500" u="none" cap="none" strike="noStrike">
                <a:solidFill>
                  <a:srgbClr val="0B2545"/>
                </a:solidFill>
                <a:latin typeface="IBM Plex Sans"/>
                <a:ea typeface="IBM Plex Sans"/>
                <a:cs typeface="IBM Plex Sans"/>
                <a:sym typeface="IBM Plex Sans"/>
              </a:rPr>
              <a:t>función de pérdida</a:t>
            </a:r>
            <a:r>
              <a:rPr b="0" i="0" lang="en-US" sz="1500" u="none" cap="none" strike="noStrike">
                <a:solidFill>
                  <a:srgbClr val="0B2545"/>
                </a:solidFill>
                <a:latin typeface="IBM Plex Sans"/>
                <a:ea typeface="IBM Plex Sans"/>
                <a:cs typeface="IBM Plex Sans"/>
                <a:sym typeface="IBM Plex Sans"/>
              </a:rPr>
              <a:t> de NGBoost: lo obliga a ser ni sobreconfiado ni vago. Las más usadas: </a:t>
            </a:r>
            <a:r>
              <a:rPr b="1" i="0" lang="en-US" sz="1500" u="none" cap="none" strike="noStrike">
                <a:solidFill>
                  <a:srgbClr val="0B2545"/>
                </a:solidFill>
                <a:latin typeface="IBM Plex Sans"/>
                <a:ea typeface="IBM Plex Sans"/>
                <a:cs typeface="IBM Plex Sans"/>
                <a:sym typeface="IBM Plex Sans"/>
              </a:rPr>
              <a:t>log score</a:t>
            </a:r>
            <a:r>
              <a:rPr b="0" i="0" lang="en-US" sz="1500" u="none" cap="none" strike="noStrike">
                <a:solidFill>
                  <a:srgbClr val="0B2545"/>
                </a:solidFill>
                <a:latin typeface="IBM Plex Sans"/>
                <a:ea typeface="IBM Plex Sans"/>
                <a:cs typeface="IBM Plex Sans"/>
                <a:sym typeface="IBM Plex Sans"/>
              </a:rPr>
              <a:t> y </a:t>
            </a:r>
            <a:r>
              <a:rPr b="1" i="0" lang="en-US" sz="1500" u="none" cap="none" strike="noStrike">
                <a:solidFill>
                  <a:srgbClr val="0B2545"/>
                </a:solidFill>
                <a:latin typeface="IBM Plex Sans"/>
                <a:ea typeface="IBM Plex Sans"/>
                <a:cs typeface="IBM Plex Sans"/>
                <a:sym typeface="IBM Plex Sans"/>
              </a:rPr>
              <a:t>CRPS</a:t>
            </a:r>
            <a:r>
              <a:rPr b="0" i="0" lang="en-US" sz="1500" u="none" cap="none" strike="noStrike">
                <a:solidFill>
                  <a:srgbClr val="0B2545"/>
                </a:solidFill>
                <a:latin typeface="IBM Plex Sans"/>
                <a:ea typeface="IBM Plex Sans"/>
                <a:cs typeface="IBM Plex Sans"/>
                <a:sym typeface="IBM Plex Sans"/>
              </a:rPr>
              <a:t>.</a:t>
            </a:r>
            <a:endParaRPr b="0" i="0" sz="1500" u="none" cap="none" strike="noStrike">
              <a:solidFill>
                <a:schemeClr val="dk1"/>
              </a:solidFill>
              <a:latin typeface="IBM Plex Sans"/>
              <a:ea typeface="IBM Plex Sans"/>
              <a:cs typeface="IBM Plex Sans"/>
              <a:sym typeface="IBM Plex Sans"/>
            </a:endParaRPr>
          </a:p>
        </p:txBody>
      </p:sp>
      <p:sp>
        <p:nvSpPr>
          <p:cNvPr id="131" name="Google Shape;131;p7"/>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A8F"/>
              </a:buClr>
              <a:buSzPts val="1200"/>
              <a:buFont typeface="IBM Plex Sans"/>
              <a:buNone/>
            </a:pPr>
            <a:r>
              <a:rPr b="0" i="0" lang="en-US" sz="1200" u="none" cap="none" strike="noStrike">
                <a:solidFill>
                  <a:srgbClr val="6B7A8F"/>
                </a:solidFill>
                <a:latin typeface="IBM Plex Sans"/>
                <a:ea typeface="IBM Plex Sans"/>
                <a:cs typeface="IBM Plex Sans"/>
                <a:sym typeface="IBM Plex Sans"/>
              </a:rPr>
              <a:t>NGBoost · Análisis Predictivo · 07</a:t>
            </a:r>
            <a:endParaRPr b="0" i="0" sz="1200" u="none" cap="none" strike="noStrike">
              <a:solidFill>
                <a:schemeClr val="dk1"/>
              </a:solidFill>
              <a:latin typeface="IBM Plex Sans"/>
              <a:ea typeface="IBM Plex Sans"/>
              <a:cs typeface="IBM Plex Sans"/>
              <a:sym typeface="IBM Plex Sans"/>
            </a:endParaRPr>
          </a:p>
        </p:txBody>
      </p:sp>
      <p:sp>
        <p:nvSpPr>
          <p:cNvPr id="132" name="Google Shape;132;p7"/>
          <p:cNvSpPr txBox="1"/>
          <p:nvPr>
            <p:ph type="title"/>
          </p:nvPr>
        </p:nvSpPr>
        <p:spPr>
          <a:xfrm>
            <a:off x="1691700" y="1186820"/>
            <a:ext cx="10883400" cy="492600"/>
          </a:xfrm>
          <a:prstGeom prst="rect">
            <a:avLst/>
          </a:prstGeom>
          <a:noFill/>
          <a:ln>
            <a:noFill/>
          </a:ln>
        </p:spPr>
        <p:txBody>
          <a:bodyPr anchorCtr="0" anchor="t" bIns="0" lIns="0" spcFirstLastPara="1" rIns="0" wrap="square" tIns="0">
            <a:normAutofit fontScale="90000"/>
          </a:bodyPr>
          <a:lstStyle/>
          <a:p>
            <a:pPr indent="0" lvl="0" marL="0" rtl="0" algn="l">
              <a:spcBef>
                <a:spcPts val="0"/>
              </a:spcBef>
              <a:spcAft>
                <a:spcPts val="0"/>
              </a:spcAft>
              <a:buClr>
                <a:schemeClr val="dk1"/>
              </a:buClr>
              <a:buSzPct val="100000"/>
              <a:buFont typeface="IBM Plex Sans"/>
              <a:buNone/>
            </a:pPr>
            <a:r>
              <a:rPr b="1" lang="en-US">
                <a:solidFill>
                  <a:schemeClr val="dk1"/>
                </a:solidFill>
              </a:rPr>
              <a:t>Cómo se califica una distribución</a:t>
            </a:r>
            <a:endParaRPr>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lnSpc>
                <a:spcPct val="115000"/>
              </a:lnSpc>
              <a:spcBef>
                <a:spcPts val="0"/>
              </a:spcBef>
              <a:spcAft>
                <a:spcPts val="0"/>
              </a:spcAft>
              <a:buClr>
                <a:srgbClr val="0B2545"/>
              </a:buClr>
              <a:buSzPct val="100000"/>
              <a:buFont typeface="IBM Plex Sans"/>
              <a:buNone/>
            </a:pPr>
            <a:r>
              <a:t/>
            </a:r>
            <a:endParaRPr b="1"/>
          </a:p>
        </p:txBody>
      </p:sp>
      <p:pic>
        <p:nvPicPr>
          <p:cNvPr id="133" name="Google Shape;133;p7"/>
          <p:cNvPicPr preferRelativeResize="0"/>
          <p:nvPr/>
        </p:nvPicPr>
        <p:blipFill>
          <a:blip r:embed="rId4">
            <a:alphaModFix/>
          </a:blip>
          <a:stretch>
            <a:fillRect/>
          </a:stretch>
        </p:blipFill>
        <p:spPr>
          <a:xfrm>
            <a:off x="920550" y="1148862"/>
            <a:ext cx="568525" cy="568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8" name="Shape 138"/>
        <p:cNvGrpSpPr/>
        <p:nvPr/>
      </p:nvGrpSpPr>
      <p:grpSpPr>
        <a:xfrm>
          <a:off x="0" y="0"/>
          <a:ext cx="0" cy="0"/>
          <a:chOff x="0" y="0"/>
          <a:chExt cx="0" cy="0"/>
        </a:xfrm>
      </p:grpSpPr>
      <p:sp>
        <p:nvSpPr>
          <p:cNvPr id="139" name="Google Shape;139;p8"/>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200"/>
              <a:buFont typeface="IBM Plex Sans"/>
              <a:buNone/>
            </a:pPr>
            <a:r>
              <a:rPr b="1" i="0" lang="en-US" sz="1200" u="none" cap="none" strike="noStrike">
                <a:solidFill>
                  <a:srgbClr val="1B5FA8"/>
                </a:solidFill>
                <a:latin typeface="IBM Plex Sans"/>
                <a:ea typeface="IBM Plex Sans"/>
                <a:cs typeface="IBM Plex Sans"/>
                <a:sym typeface="IBM Plex Sans"/>
              </a:rPr>
              <a:t>LA “N” DE NGBOOST</a:t>
            </a:r>
            <a:endParaRPr b="0" i="0" sz="1200" u="none" cap="none" strike="noStrike">
              <a:solidFill>
                <a:schemeClr val="dk1"/>
              </a:solidFill>
              <a:latin typeface="IBM Plex Sans"/>
              <a:ea typeface="IBM Plex Sans"/>
              <a:cs typeface="IBM Plex Sans"/>
              <a:sym typeface="IBM Plex Sans"/>
            </a:endParaRPr>
          </a:p>
        </p:txBody>
      </p:sp>
      <p:sp>
        <p:nvSpPr>
          <p:cNvPr id="140" name="Google Shape;140;p8"/>
          <p:cNvSpPr/>
          <p:nvPr/>
        </p:nvSpPr>
        <p:spPr>
          <a:xfrm>
            <a:off x="819150" y="1829991"/>
            <a:ext cx="5118100" cy="2951460"/>
          </a:xfrm>
          <a:prstGeom prst="roundRect">
            <a:avLst>
              <a:gd fmla="val 3227"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2172275" y="2039541"/>
            <a:ext cx="2411849" cy="30986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B2545"/>
              </a:buClr>
              <a:buSzPts val="1600"/>
              <a:buFont typeface="IBM Plex Sans"/>
              <a:buNone/>
            </a:pPr>
            <a:r>
              <a:rPr b="1" i="0" lang="en-US" sz="1600" u="none" cap="none" strike="noStrike">
                <a:solidFill>
                  <a:srgbClr val="0B2545"/>
                </a:solidFill>
                <a:latin typeface="IBM Plex Sans"/>
                <a:ea typeface="IBM Plex Sans"/>
                <a:cs typeface="IBM Plex Sans"/>
                <a:sym typeface="IBM Plex Sans"/>
              </a:rPr>
              <a:t>σ chico: mover μ en 1</a:t>
            </a:r>
            <a:endParaRPr b="0" i="0" sz="1600" u="none" cap="none" strike="noStrike">
              <a:solidFill>
                <a:schemeClr val="dk1"/>
              </a:solidFill>
              <a:latin typeface="IBM Plex Sans"/>
              <a:ea typeface="IBM Plex Sans"/>
              <a:cs typeface="IBM Plex Sans"/>
              <a:sym typeface="IBM Plex Sans"/>
            </a:endParaRPr>
          </a:p>
        </p:txBody>
      </p:sp>
      <p:pic>
        <p:nvPicPr>
          <p:cNvPr descr="Normal angosta antes y después de mover la media en 1: las curvas casi no se superponen" id="142" name="Google Shape;142;p8"/>
          <p:cNvPicPr preferRelativeResize="0"/>
          <p:nvPr/>
        </p:nvPicPr>
        <p:blipFill rotWithShape="1">
          <a:blip r:embed="rId4">
            <a:alphaModFix/>
          </a:blip>
          <a:srcRect b="0" l="0" r="0" t="0"/>
          <a:stretch/>
        </p:blipFill>
        <p:spPr>
          <a:xfrm>
            <a:off x="1346200" y="2425601"/>
            <a:ext cx="4064000" cy="1778000"/>
          </a:xfrm>
          <a:prstGeom prst="rect">
            <a:avLst/>
          </a:prstGeom>
          <a:noFill/>
          <a:ln>
            <a:noFill/>
          </a:ln>
        </p:spPr>
      </p:pic>
      <p:sp>
        <p:nvSpPr>
          <p:cNvPr id="143" name="Google Shape;143;p8"/>
          <p:cNvSpPr/>
          <p:nvPr/>
        </p:nvSpPr>
        <p:spPr>
          <a:xfrm>
            <a:off x="1605538" y="4305201"/>
            <a:ext cx="3545324" cy="29210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C2560F"/>
              </a:buClr>
              <a:buSzPts val="1500"/>
              <a:buFont typeface="IBM Plex Sans"/>
              <a:buNone/>
            </a:pPr>
            <a:r>
              <a:rPr b="1" i="0" lang="en-US" sz="1500" u="none" cap="none" strike="noStrike">
                <a:solidFill>
                  <a:srgbClr val="C2560F"/>
                </a:solidFill>
                <a:latin typeface="IBM Plex Sans"/>
                <a:ea typeface="IBM Plex Sans"/>
                <a:cs typeface="IBM Plex Sans"/>
                <a:sym typeface="IBM Plex Sans"/>
              </a:rPr>
              <a:t>Cambio enorme: otra distribución</a:t>
            </a:r>
            <a:endParaRPr b="0" i="0" sz="1500" u="none" cap="none" strike="noStrike">
              <a:solidFill>
                <a:schemeClr val="dk1"/>
              </a:solidFill>
              <a:latin typeface="IBM Plex Sans"/>
              <a:ea typeface="IBM Plex Sans"/>
              <a:cs typeface="IBM Plex Sans"/>
              <a:sym typeface="IBM Plex Sans"/>
            </a:endParaRPr>
          </a:p>
        </p:txBody>
      </p:sp>
      <p:sp>
        <p:nvSpPr>
          <p:cNvPr id="144" name="Google Shape;144;p8"/>
          <p:cNvSpPr/>
          <p:nvPr/>
        </p:nvSpPr>
        <p:spPr>
          <a:xfrm>
            <a:off x="6254750" y="1829991"/>
            <a:ext cx="5118100" cy="2951460"/>
          </a:xfrm>
          <a:prstGeom prst="roundRect">
            <a:avLst>
              <a:gd fmla="val 3227"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7510071" y="2039541"/>
            <a:ext cx="2607409" cy="30986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B2545"/>
              </a:buClr>
              <a:buSzPts val="1600"/>
              <a:buFont typeface="IBM Plex Sans"/>
              <a:buNone/>
            </a:pPr>
            <a:r>
              <a:rPr b="1" i="0" lang="en-US" sz="1600" u="none" cap="none" strike="noStrike">
                <a:solidFill>
                  <a:srgbClr val="0B2545"/>
                </a:solidFill>
                <a:latin typeface="IBM Plex Sans"/>
                <a:ea typeface="IBM Plex Sans"/>
                <a:cs typeface="IBM Plex Sans"/>
                <a:sym typeface="IBM Plex Sans"/>
              </a:rPr>
              <a:t>σ grande: mover μ en 1</a:t>
            </a:r>
            <a:endParaRPr b="0" i="0" sz="1600" u="none" cap="none" strike="noStrike">
              <a:solidFill>
                <a:schemeClr val="dk1"/>
              </a:solidFill>
              <a:latin typeface="IBM Plex Sans"/>
              <a:ea typeface="IBM Plex Sans"/>
              <a:cs typeface="IBM Plex Sans"/>
              <a:sym typeface="IBM Plex Sans"/>
            </a:endParaRPr>
          </a:p>
        </p:txBody>
      </p:sp>
      <p:pic>
        <p:nvPicPr>
          <p:cNvPr descr="Normal ancha antes y después de mover la media en 1: las curvas son casi iguales" id="146" name="Google Shape;146;p8"/>
          <p:cNvPicPr preferRelativeResize="0"/>
          <p:nvPr/>
        </p:nvPicPr>
        <p:blipFill rotWithShape="1">
          <a:blip r:embed="rId5">
            <a:alphaModFix/>
          </a:blip>
          <a:srcRect b="0" l="0" r="0" t="0"/>
          <a:stretch/>
        </p:blipFill>
        <p:spPr>
          <a:xfrm>
            <a:off x="6781800" y="2425601"/>
            <a:ext cx="4064000" cy="1778000"/>
          </a:xfrm>
          <a:prstGeom prst="rect">
            <a:avLst/>
          </a:prstGeom>
          <a:noFill/>
          <a:ln>
            <a:noFill/>
          </a:ln>
        </p:spPr>
      </p:pic>
      <p:sp>
        <p:nvSpPr>
          <p:cNvPr id="147" name="Google Shape;147;p8"/>
          <p:cNvSpPr/>
          <p:nvPr/>
        </p:nvSpPr>
        <p:spPr>
          <a:xfrm>
            <a:off x="7205206" y="4305201"/>
            <a:ext cx="3217188" cy="29210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1B5FA8"/>
              </a:buClr>
              <a:buSzPts val="1500"/>
              <a:buFont typeface="IBM Plex Sans"/>
              <a:buNone/>
            </a:pPr>
            <a:r>
              <a:rPr b="1" i="0" lang="en-US" sz="1500" u="none" cap="none" strike="noStrike">
                <a:solidFill>
                  <a:srgbClr val="1B5FA8"/>
                </a:solidFill>
                <a:latin typeface="IBM Plex Sans"/>
                <a:ea typeface="IBM Plex Sans"/>
                <a:cs typeface="IBM Plex Sans"/>
                <a:sym typeface="IBM Plex Sans"/>
              </a:rPr>
              <a:t>Cambio mínimo: casi la misma</a:t>
            </a:r>
            <a:endParaRPr b="0" i="0" sz="1500" u="none" cap="none" strike="noStrike">
              <a:solidFill>
                <a:schemeClr val="dk1"/>
              </a:solidFill>
              <a:latin typeface="IBM Plex Sans"/>
              <a:ea typeface="IBM Plex Sans"/>
              <a:cs typeface="IBM Plex Sans"/>
              <a:sym typeface="IBM Plex Sans"/>
            </a:endParaRPr>
          </a:p>
        </p:txBody>
      </p:sp>
      <p:sp>
        <p:nvSpPr>
          <p:cNvPr id="148" name="Google Shape;148;p8"/>
          <p:cNvSpPr/>
          <p:nvPr/>
        </p:nvSpPr>
        <p:spPr>
          <a:xfrm>
            <a:off x="812800" y="5041801"/>
            <a:ext cx="10883392" cy="5397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B2545"/>
              </a:buClr>
              <a:buSzPts val="1500"/>
              <a:buFont typeface="IBM Plex Sans"/>
              <a:buNone/>
            </a:pPr>
            <a:r>
              <a:rPr b="0" i="0" lang="en-US" sz="1500" u="none" cap="none" strike="noStrike">
                <a:solidFill>
                  <a:srgbClr val="0B2545"/>
                </a:solidFill>
                <a:latin typeface="IBM Plex Sans"/>
                <a:ea typeface="IBM Plex Sans"/>
                <a:cs typeface="IBM Plex Sans"/>
                <a:sym typeface="IBM Plex Sans"/>
              </a:rPr>
              <a:t>Para el gradiente común los dos pasos “miden” lo mismo. Mide en </a:t>
            </a:r>
            <a:r>
              <a:rPr b="1" i="0" lang="en-US" sz="1500" u="none" cap="none" strike="noStrike">
                <a:solidFill>
                  <a:srgbClr val="0B2545"/>
                </a:solidFill>
                <a:latin typeface="IBM Plex Sans"/>
                <a:ea typeface="IBM Plex Sans"/>
                <a:cs typeface="IBM Plex Sans"/>
                <a:sym typeface="IBM Plex Sans"/>
              </a:rPr>
              <a:t>parámetros</a:t>
            </a:r>
            <a:r>
              <a:rPr b="0" i="0" lang="en-US" sz="1500" u="none" cap="none" strike="noStrike">
                <a:solidFill>
                  <a:srgbClr val="0B2545"/>
                </a:solidFill>
                <a:latin typeface="IBM Plex Sans"/>
                <a:ea typeface="IBM Plex Sans"/>
                <a:cs typeface="IBM Plex Sans"/>
                <a:sym typeface="IBM Plex Sans"/>
              </a:rPr>
              <a:t>, no en </a:t>
            </a:r>
            <a:r>
              <a:rPr b="1" i="0" lang="en-US" sz="1500" u="none" cap="none" strike="noStrike">
                <a:solidFill>
                  <a:srgbClr val="0B2545"/>
                </a:solidFill>
                <a:latin typeface="IBM Plex Sans"/>
                <a:ea typeface="IBM Plex Sans"/>
                <a:cs typeface="IBM Plex Sans"/>
                <a:sym typeface="IBM Plex Sans"/>
              </a:rPr>
              <a:t>distribuciones</a:t>
            </a:r>
            <a:r>
              <a:rPr b="0" i="0" lang="en-US" sz="1500" u="none" cap="none" strike="noStrike">
                <a:solidFill>
                  <a:srgbClr val="0B2545"/>
                </a:solidFill>
                <a:latin typeface="IBM Plex Sans"/>
                <a:ea typeface="IBM Plex Sans"/>
                <a:cs typeface="IBM Plex Sans"/>
                <a:sym typeface="IBM Plex Sans"/>
              </a:rPr>
              <a:t>, y su camino cambia según escribas σ, σ² o log σ.</a:t>
            </a:r>
            <a:endParaRPr b="0" i="0" sz="1500" u="none" cap="none" strike="noStrike">
              <a:solidFill>
                <a:schemeClr val="dk1"/>
              </a:solidFill>
              <a:latin typeface="IBM Plex Sans"/>
              <a:ea typeface="IBM Plex Sans"/>
              <a:cs typeface="IBM Plex Sans"/>
              <a:sym typeface="IBM Plex Sans"/>
            </a:endParaRPr>
          </a:p>
        </p:txBody>
      </p:sp>
      <p:sp>
        <p:nvSpPr>
          <p:cNvPr id="149" name="Google Shape;149;p8"/>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A8F"/>
              </a:buClr>
              <a:buSzPts val="1200"/>
              <a:buFont typeface="IBM Plex Sans"/>
              <a:buNone/>
            </a:pPr>
            <a:r>
              <a:rPr b="0" i="0" lang="en-US" sz="1200" u="none" cap="none" strike="noStrike">
                <a:solidFill>
                  <a:srgbClr val="6B7A8F"/>
                </a:solidFill>
                <a:latin typeface="IBM Plex Sans"/>
                <a:ea typeface="IBM Plex Sans"/>
                <a:cs typeface="IBM Plex Sans"/>
                <a:sym typeface="IBM Plex Sans"/>
              </a:rPr>
              <a:t>NGBoost · Análisis Predictivo · 08 · línea llena: antes · línea punteada: después</a:t>
            </a:r>
            <a:endParaRPr b="0" i="0" sz="1200" u="none" cap="none" strike="noStrike">
              <a:solidFill>
                <a:schemeClr val="dk1"/>
              </a:solidFill>
              <a:latin typeface="IBM Plex Sans"/>
              <a:ea typeface="IBM Plex Sans"/>
              <a:cs typeface="IBM Plex Sans"/>
              <a:sym typeface="IBM Plex Sans"/>
            </a:endParaRPr>
          </a:p>
        </p:txBody>
      </p:sp>
      <p:sp>
        <p:nvSpPr>
          <p:cNvPr id="150" name="Google Shape;150;p8"/>
          <p:cNvSpPr txBox="1"/>
          <p:nvPr>
            <p:ph type="title"/>
          </p:nvPr>
        </p:nvSpPr>
        <p:spPr>
          <a:xfrm>
            <a:off x="1691700" y="1186820"/>
            <a:ext cx="10883400" cy="492600"/>
          </a:xfrm>
          <a:prstGeom prst="rect">
            <a:avLst/>
          </a:prstGeom>
          <a:noFill/>
          <a:ln>
            <a:noFill/>
          </a:ln>
        </p:spPr>
        <p:txBody>
          <a:bodyPr anchorCtr="0" anchor="t" bIns="0" lIns="0" spcFirstLastPara="1" rIns="0" wrap="square" tIns="0">
            <a:normAutofit fontScale="90000"/>
          </a:bodyPr>
          <a:lstStyle/>
          <a:p>
            <a:pPr indent="0" lvl="0" marL="0" rtl="0" algn="l">
              <a:spcBef>
                <a:spcPts val="0"/>
              </a:spcBef>
              <a:spcAft>
                <a:spcPts val="0"/>
              </a:spcAft>
              <a:buClr>
                <a:schemeClr val="dk1"/>
              </a:buClr>
              <a:buSzPct val="100000"/>
              <a:buFont typeface="IBM Plex Sans"/>
              <a:buNone/>
            </a:pPr>
            <a:r>
              <a:rPr b="1" lang="en-US">
                <a:solidFill>
                  <a:schemeClr val="dk1"/>
                </a:solidFill>
              </a:rPr>
              <a:t>El problema del gradiente común</a:t>
            </a:r>
            <a:endParaRPr>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lnSpc>
                <a:spcPct val="115000"/>
              </a:lnSpc>
              <a:spcBef>
                <a:spcPts val="0"/>
              </a:spcBef>
              <a:spcAft>
                <a:spcPts val="0"/>
              </a:spcAft>
              <a:buClr>
                <a:srgbClr val="0B2545"/>
              </a:buClr>
              <a:buSzPct val="100000"/>
              <a:buFont typeface="IBM Plex Sans"/>
              <a:buNone/>
            </a:pPr>
            <a:r>
              <a:t/>
            </a:r>
            <a:endParaRPr b="1"/>
          </a:p>
        </p:txBody>
      </p:sp>
      <p:pic>
        <p:nvPicPr>
          <p:cNvPr id="151" name="Google Shape;151;p8"/>
          <p:cNvPicPr preferRelativeResize="0"/>
          <p:nvPr/>
        </p:nvPicPr>
        <p:blipFill>
          <a:blip r:embed="rId6">
            <a:alphaModFix/>
          </a:blip>
          <a:stretch>
            <a:fillRect/>
          </a:stretch>
        </p:blipFill>
        <p:spPr>
          <a:xfrm>
            <a:off x="865813" y="1051513"/>
            <a:ext cx="690313" cy="69031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6" name="Shape 156"/>
        <p:cNvGrpSpPr/>
        <p:nvPr/>
      </p:nvGrpSpPr>
      <p:grpSpPr>
        <a:xfrm>
          <a:off x="0" y="0"/>
          <a:ext cx="0" cy="0"/>
          <a:chOff x="0" y="0"/>
          <a:chExt cx="0" cy="0"/>
        </a:xfrm>
      </p:grpSpPr>
      <p:sp>
        <p:nvSpPr>
          <p:cNvPr id="157" name="Google Shape;157;p9"/>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200"/>
              <a:buFont typeface="IBM Plex Sans"/>
              <a:buNone/>
            </a:pPr>
            <a:r>
              <a:rPr b="1" i="0" lang="en-US" sz="1200" u="none" cap="none" strike="noStrike">
                <a:solidFill>
                  <a:srgbClr val="1B5FA8"/>
                </a:solidFill>
                <a:latin typeface="IBM Plex Sans"/>
                <a:ea typeface="IBM Plex Sans"/>
                <a:cs typeface="IBM Plex Sans"/>
                <a:sym typeface="IBM Plex Sans"/>
              </a:rPr>
              <a:t>LA “N” DE NGBOOST</a:t>
            </a:r>
            <a:endParaRPr b="0" i="0" sz="1200" u="none" cap="none" strike="noStrike">
              <a:solidFill>
                <a:schemeClr val="dk1"/>
              </a:solidFill>
              <a:latin typeface="IBM Plex Sans"/>
              <a:ea typeface="IBM Plex Sans"/>
              <a:cs typeface="IBM Plex Sans"/>
              <a:sym typeface="IBM Plex Sans"/>
            </a:endParaRPr>
          </a:p>
        </p:txBody>
      </p:sp>
      <p:sp>
        <p:nvSpPr>
          <p:cNvPr id="158" name="Google Shape;158;p9"/>
          <p:cNvSpPr/>
          <p:nvPr/>
        </p:nvSpPr>
        <p:spPr>
          <a:xfrm>
            <a:off x="812800" y="1823641"/>
            <a:ext cx="10566300" cy="954900"/>
          </a:xfrm>
          <a:prstGeom prst="roundRect">
            <a:avLst>
              <a:gd fmla="val 10638" name="adj"/>
            </a:avLst>
          </a:prstGeom>
          <a:solidFill>
            <a:srgbClr val="0B2545"/>
          </a:solidFill>
          <a:ln>
            <a:noFill/>
          </a:ln>
        </p:spPr>
        <p:txBody>
          <a:bodyPr anchorCtr="0" anchor="t" bIns="173425" lIns="275025" spcFirstLastPara="1" rIns="0" wrap="square" tIns="198825">
            <a:normAutofit/>
          </a:bodyPr>
          <a:lstStyle/>
          <a:p>
            <a:pPr indent="0" lvl="0" marL="0" marR="0" rtl="0" algn="l">
              <a:lnSpc>
                <a:spcPct val="140000"/>
              </a:lnSpc>
              <a:spcBef>
                <a:spcPts val="0"/>
              </a:spcBef>
              <a:spcAft>
                <a:spcPts val="0"/>
              </a:spcAft>
              <a:buClr>
                <a:srgbClr val="F5F7FA"/>
              </a:buClr>
              <a:buSzPts val="2800"/>
              <a:buFont typeface="JetBrains Mono"/>
              <a:buNone/>
            </a:pPr>
            <a:r>
              <a:rPr b="1" i="0" lang="en-US" sz="2800" u="none" cap="none" strike="noStrike">
                <a:solidFill>
                  <a:srgbClr val="F5F7FA"/>
                </a:solidFill>
                <a:latin typeface="JetBrains Mono"/>
                <a:ea typeface="JetBrains Mono"/>
                <a:cs typeface="JetBrains Mono"/>
                <a:sym typeface="JetBrains Mono"/>
              </a:rPr>
              <a:t>∇</a:t>
            </a:r>
            <a:r>
              <a:rPr b="1" i="0" lang="en-US" sz="2800" u="none" cap="none" strike="noStrike">
                <a:solidFill>
                  <a:srgbClr val="F5F7FA"/>
                </a:solidFill>
                <a:latin typeface="JetBrains Mono"/>
                <a:ea typeface="JetBrains Mono"/>
                <a:cs typeface="JetBrains Mono"/>
                <a:sym typeface="JetBrains Mono"/>
              </a:rPr>
              <a:t>̃</a:t>
            </a:r>
            <a:r>
              <a:rPr b="1" i="0" lang="en-US" sz="2800" u="none" cap="none" strike="noStrike">
                <a:solidFill>
                  <a:srgbClr val="F5F7FA"/>
                </a:solidFill>
                <a:latin typeface="JetBrains Mono"/>
                <a:ea typeface="JetBrains Mono"/>
                <a:cs typeface="JetBrains Mono"/>
                <a:sym typeface="JetBrains Mono"/>
              </a:rPr>
              <a:t>S = I(θ)⁻¹ · ∇S</a:t>
            </a:r>
            <a:endParaRPr b="0" i="0" sz="2800" u="none" cap="none" strike="noStrike">
              <a:solidFill>
                <a:schemeClr val="dk1"/>
              </a:solidFill>
              <a:latin typeface="IBM Plex Sans"/>
              <a:ea typeface="IBM Plex Sans"/>
              <a:cs typeface="IBM Plex Sans"/>
              <a:sym typeface="IBM Plex Sans"/>
            </a:endParaRPr>
          </a:p>
        </p:txBody>
      </p:sp>
      <p:sp>
        <p:nvSpPr>
          <p:cNvPr id="159" name="Google Shape;159;p9"/>
          <p:cNvSpPr/>
          <p:nvPr/>
        </p:nvSpPr>
        <p:spPr>
          <a:xfrm>
            <a:off x="819150" y="3039021"/>
            <a:ext cx="3373934" cy="1464221"/>
          </a:xfrm>
          <a:prstGeom prst="roundRect">
            <a:avLst>
              <a:gd fmla="val 6505"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p:nvPr/>
        </p:nvSpPr>
        <p:spPr>
          <a:xfrm>
            <a:off x="1028700" y="3248571"/>
            <a:ext cx="3043479"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400"/>
              <a:buFont typeface="IBM Plex Sans"/>
              <a:buNone/>
            </a:pPr>
            <a:r>
              <a:rPr b="1" i="0" lang="en-US" sz="1400" u="none" cap="none" strike="noStrike">
                <a:solidFill>
                  <a:srgbClr val="1B5FA8"/>
                </a:solidFill>
                <a:latin typeface="IBM Plex Sans"/>
                <a:ea typeface="IBM Plex Sans"/>
                <a:cs typeface="IBM Plex Sans"/>
                <a:sym typeface="IBM Plex Sans"/>
              </a:rPr>
              <a:t>Qué es I(θ)</a:t>
            </a:r>
            <a:endParaRPr b="0" i="0" sz="1400" u="none" cap="none" strike="noStrike">
              <a:solidFill>
                <a:schemeClr val="dk1"/>
              </a:solidFill>
              <a:latin typeface="IBM Plex Sans"/>
              <a:ea typeface="IBM Plex Sans"/>
              <a:cs typeface="IBM Plex Sans"/>
              <a:sym typeface="IBM Plex Sans"/>
            </a:endParaRPr>
          </a:p>
        </p:txBody>
      </p:sp>
      <p:sp>
        <p:nvSpPr>
          <p:cNvPr id="161" name="Google Shape;161;p9"/>
          <p:cNvSpPr/>
          <p:nvPr/>
        </p:nvSpPr>
        <p:spPr>
          <a:xfrm>
            <a:off x="1028700" y="3573661"/>
            <a:ext cx="3043479" cy="74543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400"/>
              <a:buFont typeface="IBM Plex Sans"/>
              <a:buNone/>
            </a:pPr>
            <a:r>
              <a:rPr b="0" i="0" lang="en-US" sz="1400" u="none" cap="none" strike="noStrike">
                <a:solidFill>
                  <a:srgbClr val="3B4A5E"/>
                </a:solidFill>
                <a:latin typeface="IBM Plex Sans"/>
                <a:ea typeface="IBM Plex Sans"/>
                <a:cs typeface="IBM Plex Sans"/>
                <a:sym typeface="IBM Plex Sans"/>
              </a:rPr>
              <a:t>Mide cuán sensible es la distribución a cada parámetro. Con log score es la </a:t>
            </a:r>
            <a:r>
              <a:rPr b="1" i="0" lang="en-US" sz="1400" u="none" cap="none" strike="noStrike">
                <a:solidFill>
                  <a:srgbClr val="3B4A5E"/>
                </a:solidFill>
                <a:latin typeface="IBM Plex Sans"/>
                <a:ea typeface="IBM Plex Sans"/>
                <a:cs typeface="IBM Plex Sans"/>
                <a:sym typeface="IBM Plex Sans"/>
              </a:rPr>
              <a:t>información de Fisher</a:t>
            </a:r>
            <a:r>
              <a:rPr b="0" i="0" lang="en-US" sz="1400" u="none" cap="none" strike="noStrike">
                <a:solidFill>
                  <a:srgbClr val="3B4A5E"/>
                </a:solidFill>
                <a:latin typeface="IBM Plex Sans"/>
                <a:ea typeface="IBM Plex Sans"/>
                <a:cs typeface="IBM Plex Sans"/>
                <a:sym typeface="IBM Plex Sans"/>
              </a:rPr>
              <a:t>.</a:t>
            </a:r>
            <a:endParaRPr b="0" i="0" sz="1400" u="none" cap="none" strike="noStrike">
              <a:solidFill>
                <a:schemeClr val="dk1"/>
              </a:solidFill>
              <a:latin typeface="IBM Plex Sans"/>
              <a:ea typeface="IBM Plex Sans"/>
              <a:cs typeface="IBM Plex Sans"/>
              <a:sym typeface="IBM Plex Sans"/>
            </a:endParaRPr>
          </a:p>
        </p:txBody>
      </p:sp>
      <p:sp>
        <p:nvSpPr>
          <p:cNvPr id="162" name="Google Shape;162;p9"/>
          <p:cNvSpPr/>
          <p:nvPr/>
        </p:nvSpPr>
        <p:spPr>
          <a:xfrm>
            <a:off x="4408984" y="3039021"/>
            <a:ext cx="3373983" cy="1464221"/>
          </a:xfrm>
          <a:prstGeom prst="roundRect">
            <a:avLst>
              <a:gd fmla="val 6505"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4618534" y="3248571"/>
            <a:ext cx="3043530"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400"/>
              <a:buFont typeface="IBM Plex Sans"/>
              <a:buNone/>
            </a:pPr>
            <a:r>
              <a:rPr b="1" i="0" lang="en-US" sz="1400" u="none" cap="none" strike="noStrike">
                <a:solidFill>
                  <a:srgbClr val="1B5FA8"/>
                </a:solidFill>
                <a:latin typeface="IBM Plex Sans"/>
                <a:ea typeface="IBM Plex Sans"/>
                <a:cs typeface="IBM Plex Sans"/>
                <a:sym typeface="IBM Plex Sans"/>
              </a:rPr>
              <a:t>Qué hace</a:t>
            </a:r>
            <a:endParaRPr b="0" i="0" sz="1400" u="none" cap="none" strike="noStrike">
              <a:solidFill>
                <a:schemeClr val="dk1"/>
              </a:solidFill>
              <a:latin typeface="IBM Plex Sans"/>
              <a:ea typeface="IBM Plex Sans"/>
              <a:cs typeface="IBM Plex Sans"/>
              <a:sym typeface="IBM Plex Sans"/>
            </a:endParaRPr>
          </a:p>
        </p:txBody>
      </p:sp>
      <p:sp>
        <p:nvSpPr>
          <p:cNvPr id="164" name="Google Shape;164;p9"/>
          <p:cNvSpPr/>
          <p:nvPr/>
        </p:nvSpPr>
        <p:spPr>
          <a:xfrm>
            <a:off x="4618534" y="3573661"/>
            <a:ext cx="3043530" cy="50542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400"/>
              <a:buFont typeface="IBM Plex Sans"/>
              <a:buNone/>
            </a:pPr>
            <a:r>
              <a:rPr b="0" i="0" lang="en-US" sz="1400" u="none" cap="none" strike="noStrike">
                <a:solidFill>
                  <a:srgbClr val="3B4A5E"/>
                </a:solidFill>
                <a:latin typeface="IBM Plex Sans"/>
                <a:ea typeface="IBM Plex Sans"/>
                <a:cs typeface="IBM Plex Sans"/>
                <a:sym typeface="IBM Plex Sans"/>
              </a:rPr>
              <a:t>Parámetro sensible → </a:t>
            </a:r>
            <a:r>
              <a:rPr b="1" i="0" lang="en-US" sz="1400" u="none" cap="none" strike="noStrike">
                <a:solidFill>
                  <a:srgbClr val="3B4A5E"/>
                </a:solidFill>
                <a:latin typeface="IBM Plex Sans"/>
                <a:ea typeface="IBM Plex Sans"/>
                <a:cs typeface="IBM Plex Sans"/>
                <a:sym typeface="IBM Plex Sans"/>
              </a:rPr>
              <a:t>achica</a:t>
            </a:r>
            <a:r>
              <a:rPr b="0" i="0" lang="en-US" sz="1400" u="none" cap="none" strike="noStrike">
                <a:solidFill>
                  <a:srgbClr val="3B4A5E"/>
                </a:solidFill>
                <a:latin typeface="IBM Plex Sans"/>
                <a:ea typeface="IBM Plex Sans"/>
                <a:cs typeface="IBM Plex Sans"/>
                <a:sym typeface="IBM Plex Sans"/>
              </a:rPr>
              <a:t> el paso. Poco sensible → lo </a:t>
            </a:r>
            <a:r>
              <a:rPr b="1" i="0" lang="en-US" sz="1400" u="none" cap="none" strike="noStrike">
                <a:solidFill>
                  <a:srgbClr val="3B4A5E"/>
                </a:solidFill>
                <a:latin typeface="IBM Plex Sans"/>
                <a:ea typeface="IBM Plex Sans"/>
                <a:cs typeface="IBM Plex Sans"/>
                <a:sym typeface="IBM Plex Sans"/>
              </a:rPr>
              <a:t>agranda</a:t>
            </a:r>
            <a:r>
              <a:rPr b="0" i="0" lang="en-US" sz="1400" u="none" cap="none" strike="noStrike">
                <a:solidFill>
                  <a:srgbClr val="3B4A5E"/>
                </a:solidFill>
                <a:latin typeface="IBM Plex Sans"/>
                <a:ea typeface="IBM Plex Sans"/>
                <a:cs typeface="IBM Plex Sans"/>
                <a:sym typeface="IBM Plex Sans"/>
              </a:rPr>
              <a:t>.</a:t>
            </a:r>
            <a:endParaRPr b="0" i="0" sz="1400" u="none" cap="none" strike="noStrike">
              <a:solidFill>
                <a:schemeClr val="dk1"/>
              </a:solidFill>
              <a:latin typeface="IBM Plex Sans"/>
              <a:ea typeface="IBM Plex Sans"/>
              <a:cs typeface="IBM Plex Sans"/>
              <a:sym typeface="IBM Plex Sans"/>
            </a:endParaRPr>
          </a:p>
        </p:txBody>
      </p:sp>
      <p:sp>
        <p:nvSpPr>
          <p:cNvPr id="165" name="Google Shape;165;p9"/>
          <p:cNvSpPr/>
          <p:nvPr/>
        </p:nvSpPr>
        <p:spPr>
          <a:xfrm>
            <a:off x="7998867" y="3039021"/>
            <a:ext cx="3373934" cy="1464221"/>
          </a:xfrm>
          <a:prstGeom prst="roundRect">
            <a:avLst>
              <a:gd fmla="val 6505"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8208417" y="3248571"/>
            <a:ext cx="3043479"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400"/>
              <a:buFont typeface="IBM Plex Sans"/>
              <a:buNone/>
            </a:pPr>
            <a:r>
              <a:rPr b="1" i="0" lang="en-US" sz="1400" u="none" cap="none" strike="noStrike">
                <a:solidFill>
                  <a:srgbClr val="1B5FA8"/>
                </a:solidFill>
                <a:latin typeface="IBM Plex Sans"/>
                <a:ea typeface="IBM Plex Sans"/>
                <a:cs typeface="IBM Plex Sans"/>
                <a:sym typeface="IBM Plex Sans"/>
              </a:rPr>
              <a:t>Resultado</a:t>
            </a:r>
            <a:endParaRPr b="0" i="0" sz="1400" u="none" cap="none" strike="noStrike">
              <a:solidFill>
                <a:schemeClr val="dk1"/>
              </a:solidFill>
              <a:latin typeface="IBM Plex Sans"/>
              <a:ea typeface="IBM Plex Sans"/>
              <a:cs typeface="IBM Plex Sans"/>
              <a:sym typeface="IBM Plex Sans"/>
            </a:endParaRPr>
          </a:p>
        </p:txBody>
      </p:sp>
      <p:sp>
        <p:nvSpPr>
          <p:cNvPr id="167" name="Google Shape;167;p9"/>
          <p:cNvSpPr/>
          <p:nvPr/>
        </p:nvSpPr>
        <p:spPr>
          <a:xfrm>
            <a:off x="8208417" y="3573661"/>
            <a:ext cx="3043479" cy="74543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400"/>
              <a:buFont typeface="IBM Plex Sans"/>
              <a:buNone/>
            </a:pPr>
            <a:r>
              <a:rPr b="0" i="0" lang="en-US" sz="1400" u="none" cap="none" strike="noStrike">
                <a:solidFill>
                  <a:srgbClr val="3B4A5E"/>
                </a:solidFill>
                <a:latin typeface="IBM Plex Sans"/>
                <a:ea typeface="IBM Plex Sans"/>
                <a:cs typeface="IBM Plex Sans"/>
                <a:sym typeface="IBM Plex Sans"/>
              </a:rPr>
              <a:t>Pasos medidos entre distribuciones, </a:t>
            </a:r>
            <a:r>
              <a:rPr b="1" i="0" lang="en-US" sz="1400" u="none" cap="none" strike="noStrike">
                <a:solidFill>
                  <a:srgbClr val="3B4A5E"/>
                </a:solidFill>
                <a:latin typeface="IBM Plex Sans"/>
                <a:ea typeface="IBM Plex Sans"/>
                <a:cs typeface="IBM Plex Sans"/>
                <a:sym typeface="IBM Plex Sans"/>
              </a:rPr>
              <a:t>invariantes</a:t>
            </a:r>
            <a:r>
              <a:rPr b="0" i="0" lang="en-US" sz="1400" u="none" cap="none" strike="noStrike">
                <a:solidFill>
                  <a:srgbClr val="3B4A5E"/>
                </a:solidFill>
                <a:latin typeface="IBM Plex Sans"/>
                <a:ea typeface="IBM Plex Sans"/>
                <a:cs typeface="IBM Plex Sans"/>
                <a:sym typeface="IBM Plex Sans"/>
              </a:rPr>
              <a:t> a la parametrización y balanceados.</a:t>
            </a:r>
            <a:endParaRPr b="0" i="0" sz="1400" u="none" cap="none" strike="noStrike">
              <a:solidFill>
                <a:schemeClr val="dk1"/>
              </a:solidFill>
              <a:latin typeface="IBM Plex Sans"/>
              <a:ea typeface="IBM Plex Sans"/>
              <a:cs typeface="IBM Plex Sans"/>
              <a:sym typeface="IBM Plex Sans"/>
            </a:endParaRPr>
          </a:p>
        </p:txBody>
      </p:sp>
      <p:sp>
        <p:nvSpPr>
          <p:cNvPr id="168" name="Google Shape;168;p9"/>
          <p:cNvSpPr/>
          <p:nvPr/>
        </p:nvSpPr>
        <p:spPr>
          <a:xfrm>
            <a:off x="812800" y="4763591"/>
            <a:ext cx="10883400" cy="539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B2545"/>
              </a:buClr>
              <a:buSzPts val="1500"/>
              <a:buFont typeface="IBM Plex Sans"/>
              <a:buNone/>
            </a:pPr>
            <a:r>
              <a:rPr b="1" i="0" lang="en-US" sz="1500" u="none" cap="none" strike="noStrike">
                <a:solidFill>
                  <a:srgbClr val="0B2545"/>
                </a:solidFill>
                <a:latin typeface="IBM Plex Sans"/>
                <a:ea typeface="IBM Plex Sans"/>
                <a:cs typeface="IBM Plex Sans"/>
                <a:sym typeface="IBM Plex Sans"/>
              </a:rPr>
              <a:t>¿Y Newton, como XGBoost?</a:t>
            </a:r>
            <a:r>
              <a:rPr b="0" i="0" lang="en-US" sz="1500" u="none" cap="none" strike="noStrike">
                <a:solidFill>
                  <a:srgbClr val="0B2545"/>
                </a:solidFill>
                <a:latin typeface="IBM Plex Sans"/>
                <a:ea typeface="IBM Plex Sans"/>
                <a:cs typeface="IBM Plex Sans"/>
                <a:sym typeface="IBM Plex Sans"/>
              </a:rPr>
              <a:t> Usa la curvatura en parámetros: con (μ, log σ) el problema no es convexo y el entrenamiento se rompe.</a:t>
            </a:r>
            <a:endParaRPr b="0" i="0" sz="1500" u="none" cap="none" strike="noStrike">
              <a:solidFill>
                <a:schemeClr val="dk1"/>
              </a:solidFill>
              <a:latin typeface="IBM Plex Sans"/>
              <a:ea typeface="IBM Plex Sans"/>
              <a:cs typeface="IBM Plex Sans"/>
              <a:sym typeface="IBM Plex Sans"/>
            </a:endParaRPr>
          </a:p>
        </p:txBody>
      </p:sp>
      <p:sp>
        <p:nvSpPr>
          <p:cNvPr id="169" name="Google Shape;169;p9"/>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A8F"/>
              </a:buClr>
              <a:buSzPts val="1200"/>
              <a:buFont typeface="IBM Plex Sans"/>
              <a:buNone/>
            </a:pPr>
            <a:r>
              <a:rPr b="0" i="0" lang="en-US" sz="1200" u="none" cap="none" strike="noStrike">
                <a:solidFill>
                  <a:srgbClr val="6B7A8F"/>
                </a:solidFill>
                <a:latin typeface="IBM Plex Sans"/>
                <a:ea typeface="IBM Plex Sans"/>
                <a:cs typeface="IBM Plex Sans"/>
                <a:sym typeface="IBM Plex Sans"/>
              </a:rPr>
              <a:t>NGBoost · Análisis Predictivo · 09</a:t>
            </a:r>
            <a:endParaRPr b="0" i="0" sz="1200" u="none" cap="none" strike="noStrike">
              <a:solidFill>
                <a:schemeClr val="dk1"/>
              </a:solidFill>
              <a:latin typeface="IBM Plex Sans"/>
              <a:ea typeface="IBM Plex Sans"/>
              <a:cs typeface="IBM Plex Sans"/>
              <a:sym typeface="IBM Plex Sans"/>
            </a:endParaRPr>
          </a:p>
        </p:txBody>
      </p:sp>
      <p:sp>
        <p:nvSpPr>
          <p:cNvPr id="170" name="Google Shape;170;p9"/>
          <p:cNvSpPr txBox="1"/>
          <p:nvPr>
            <p:ph type="title"/>
          </p:nvPr>
        </p:nvSpPr>
        <p:spPr>
          <a:xfrm>
            <a:off x="1691700" y="1186825"/>
            <a:ext cx="10883400" cy="492600"/>
          </a:xfrm>
          <a:prstGeom prst="rect">
            <a:avLst/>
          </a:prstGeom>
          <a:noFill/>
          <a:ln>
            <a:noFill/>
          </a:ln>
        </p:spPr>
        <p:txBody>
          <a:bodyPr anchorCtr="0" anchor="t" bIns="0" lIns="0" spcFirstLastPara="1" rIns="0" wrap="square" tIns="0">
            <a:normAutofit fontScale="90000"/>
          </a:bodyPr>
          <a:lstStyle/>
          <a:p>
            <a:pPr indent="0" lvl="0" marL="0" rtl="0" algn="l">
              <a:spcBef>
                <a:spcPts val="0"/>
              </a:spcBef>
              <a:spcAft>
                <a:spcPts val="0"/>
              </a:spcAft>
              <a:buClr>
                <a:schemeClr val="dk1"/>
              </a:buClr>
              <a:buSzPct val="100000"/>
              <a:buFont typeface="IBM Plex Sans"/>
              <a:buNone/>
            </a:pPr>
            <a:r>
              <a:rPr b="1" lang="en-US">
                <a:solidFill>
                  <a:schemeClr val="dk1"/>
                </a:solidFill>
              </a:rPr>
              <a:t>La solución: el gradiente natural</a:t>
            </a:r>
            <a:endParaRPr>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lnSpc>
                <a:spcPct val="115000"/>
              </a:lnSpc>
              <a:spcBef>
                <a:spcPts val="0"/>
              </a:spcBef>
              <a:spcAft>
                <a:spcPts val="0"/>
              </a:spcAft>
              <a:buClr>
                <a:srgbClr val="0B2545"/>
              </a:buClr>
              <a:buSzPct val="100000"/>
              <a:buFont typeface="IBM Plex Sans"/>
              <a:buNone/>
            </a:pPr>
            <a:r>
              <a:t/>
            </a:r>
            <a:endParaRPr b="1"/>
          </a:p>
        </p:txBody>
      </p:sp>
      <p:pic>
        <p:nvPicPr>
          <p:cNvPr id="171" name="Google Shape;171;p9"/>
          <p:cNvPicPr preferRelativeResize="0"/>
          <p:nvPr/>
        </p:nvPicPr>
        <p:blipFill>
          <a:blip r:embed="rId4">
            <a:alphaModFix/>
          </a:blip>
          <a:stretch>
            <a:fillRect/>
          </a:stretch>
        </p:blipFill>
        <p:spPr>
          <a:xfrm>
            <a:off x="819150" y="1051525"/>
            <a:ext cx="669450" cy="669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6" name="Shape 176"/>
        <p:cNvGrpSpPr/>
        <p:nvPr/>
      </p:nvGrpSpPr>
      <p:grpSpPr>
        <a:xfrm>
          <a:off x="0" y="0"/>
          <a:ext cx="0" cy="0"/>
          <a:chOff x="0" y="0"/>
          <a:chExt cx="0" cy="0"/>
        </a:xfrm>
      </p:grpSpPr>
      <p:sp>
        <p:nvSpPr>
          <p:cNvPr id="177" name="Google Shape;177;p10"/>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200"/>
              <a:buFont typeface="IBM Plex Sans"/>
              <a:buNone/>
            </a:pPr>
            <a:r>
              <a:rPr b="1" i="0" lang="en-US" sz="1200" u="none" cap="none" strike="noStrike">
                <a:solidFill>
                  <a:srgbClr val="1B5FA8"/>
                </a:solidFill>
                <a:latin typeface="IBM Plex Sans"/>
                <a:ea typeface="IBM Plex Sans"/>
                <a:cs typeface="IBM Plex Sans"/>
                <a:sym typeface="IBM Plex Sans"/>
              </a:rPr>
              <a:t>CÓMO FUNCIONA</a:t>
            </a:r>
            <a:endParaRPr b="0" i="0" sz="1200" u="none" cap="none" strike="noStrike">
              <a:solidFill>
                <a:schemeClr val="dk1"/>
              </a:solidFill>
              <a:latin typeface="IBM Plex Sans"/>
              <a:ea typeface="IBM Plex Sans"/>
              <a:cs typeface="IBM Plex Sans"/>
              <a:sym typeface="IBM Plex Sans"/>
            </a:endParaRPr>
          </a:p>
        </p:txBody>
      </p:sp>
      <p:sp>
        <p:nvSpPr>
          <p:cNvPr id="178" name="Google Shape;178;p10"/>
          <p:cNvSpPr/>
          <p:nvPr/>
        </p:nvSpPr>
        <p:spPr>
          <a:xfrm>
            <a:off x="819150" y="1829991"/>
            <a:ext cx="1978620" cy="1803846"/>
          </a:xfrm>
          <a:prstGeom prst="roundRect">
            <a:avLst>
              <a:gd fmla="val 5280"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0"/>
          <p:cNvSpPr/>
          <p:nvPr/>
        </p:nvSpPr>
        <p:spPr>
          <a:xfrm>
            <a:off x="1003300" y="2014141"/>
            <a:ext cx="1661120" cy="416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2200"/>
              <a:buFont typeface="IBM Plex Sans"/>
              <a:buNone/>
            </a:pPr>
            <a:r>
              <a:rPr b="1" i="0" lang="en-US" sz="2200" u="none" cap="none" strike="noStrike">
                <a:solidFill>
                  <a:srgbClr val="1B5FA8"/>
                </a:solidFill>
                <a:latin typeface="IBM Plex Sans"/>
                <a:ea typeface="IBM Plex Sans"/>
                <a:cs typeface="IBM Plex Sans"/>
                <a:sym typeface="IBM Plex Sans"/>
              </a:rPr>
              <a:t>0</a:t>
            </a:r>
            <a:endParaRPr b="0" i="0" sz="2200" u="none" cap="none" strike="noStrike">
              <a:solidFill>
                <a:schemeClr val="dk1"/>
              </a:solidFill>
              <a:latin typeface="IBM Plex Sans"/>
              <a:ea typeface="IBM Plex Sans"/>
              <a:cs typeface="IBM Plex Sans"/>
              <a:sym typeface="IBM Plex Sans"/>
            </a:endParaRPr>
          </a:p>
        </p:txBody>
      </p:sp>
      <p:sp>
        <p:nvSpPr>
          <p:cNvPr id="180" name="Google Shape;180;p10"/>
          <p:cNvSpPr/>
          <p:nvPr/>
        </p:nvSpPr>
        <p:spPr>
          <a:xfrm>
            <a:off x="1003300" y="2468761"/>
            <a:ext cx="1661120"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400"/>
              <a:buFont typeface="IBM Plex Sans"/>
              <a:buNone/>
            </a:pPr>
            <a:r>
              <a:rPr b="1" i="0" lang="en-US" sz="1400" u="none" cap="none" strike="noStrike">
                <a:solidFill>
                  <a:srgbClr val="0B2545"/>
                </a:solidFill>
                <a:latin typeface="IBM Plex Sans"/>
                <a:ea typeface="IBM Plex Sans"/>
                <a:cs typeface="IBM Plex Sans"/>
                <a:sym typeface="IBM Plex Sans"/>
              </a:rPr>
              <a:t>Inicializar</a:t>
            </a:r>
            <a:endParaRPr b="0" i="0" sz="1400" u="none" cap="none" strike="noStrike">
              <a:solidFill>
                <a:schemeClr val="dk1"/>
              </a:solidFill>
              <a:latin typeface="IBM Plex Sans"/>
              <a:ea typeface="IBM Plex Sans"/>
              <a:cs typeface="IBM Plex Sans"/>
              <a:sym typeface="IBM Plex Sans"/>
            </a:endParaRPr>
          </a:p>
        </p:txBody>
      </p:sp>
      <p:sp>
        <p:nvSpPr>
          <p:cNvPr id="181" name="Google Shape;181;p10"/>
          <p:cNvSpPr/>
          <p:nvPr/>
        </p:nvSpPr>
        <p:spPr>
          <a:xfrm>
            <a:off x="1003300" y="2781151"/>
            <a:ext cx="1661120" cy="693936"/>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300"/>
              <a:buFont typeface="IBM Plex Sans"/>
              <a:buNone/>
            </a:pPr>
            <a:r>
              <a:rPr b="0" i="0" lang="en-US" sz="1300" u="none" cap="none" strike="noStrike">
                <a:solidFill>
                  <a:srgbClr val="3B4A5E"/>
                </a:solidFill>
                <a:latin typeface="IBM Plex Sans"/>
                <a:ea typeface="IBM Plex Sans"/>
                <a:cs typeface="IBM Plex Sans"/>
                <a:sym typeface="IBM Plex Sans"/>
              </a:rPr>
              <a:t>Una sola distribución para todos los y, sin mirar x</a:t>
            </a:r>
            <a:endParaRPr b="0" i="0" sz="1300" u="none" cap="none" strike="noStrike">
              <a:solidFill>
                <a:schemeClr val="dk1"/>
              </a:solidFill>
              <a:latin typeface="IBM Plex Sans"/>
              <a:ea typeface="IBM Plex Sans"/>
              <a:cs typeface="IBM Plex Sans"/>
              <a:sym typeface="IBM Plex Sans"/>
            </a:endParaRPr>
          </a:p>
        </p:txBody>
      </p:sp>
      <p:sp>
        <p:nvSpPr>
          <p:cNvPr id="182" name="Google Shape;182;p10"/>
          <p:cNvSpPr/>
          <p:nvPr/>
        </p:nvSpPr>
        <p:spPr>
          <a:xfrm>
            <a:off x="2962870" y="1829991"/>
            <a:ext cx="1978670" cy="1803846"/>
          </a:xfrm>
          <a:prstGeom prst="roundRect">
            <a:avLst>
              <a:gd fmla="val 5280"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
          <p:cNvSpPr/>
          <p:nvPr/>
        </p:nvSpPr>
        <p:spPr>
          <a:xfrm>
            <a:off x="3147020" y="2014141"/>
            <a:ext cx="1661170" cy="416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2200"/>
              <a:buFont typeface="IBM Plex Sans"/>
              <a:buNone/>
            </a:pPr>
            <a:r>
              <a:rPr b="1" i="0" lang="en-US" sz="2200" u="none" cap="none" strike="noStrike">
                <a:solidFill>
                  <a:srgbClr val="1B5FA8"/>
                </a:solidFill>
                <a:latin typeface="IBM Plex Sans"/>
                <a:ea typeface="IBM Plex Sans"/>
                <a:cs typeface="IBM Plex Sans"/>
                <a:sym typeface="IBM Plex Sans"/>
              </a:rPr>
              <a:t>1</a:t>
            </a:r>
            <a:endParaRPr b="0" i="0" sz="2200" u="none" cap="none" strike="noStrike">
              <a:solidFill>
                <a:schemeClr val="dk1"/>
              </a:solidFill>
              <a:latin typeface="IBM Plex Sans"/>
              <a:ea typeface="IBM Plex Sans"/>
              <a:cs typeface="IBM Plex Sans"/>
              <a:sym typeface="IBM Plex Sans"/>
            </a:endParaRPr>
          </a:p>
        </p:txBody>
      </p:sp>
      <p:sp>
        <p:nvSpPr>
          <p:cNvPr id="184" name="Google Shape;184;p10"/>
          <p:cNvSpPr/>
          <p:nvPr/>
        </p:nvSpPr>
        <p:spPr>
          <a:xfrm>
            <a:off x="3147020" y="2468761"/>
            <a:ext cx="1661170"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400"/>
              <a:buFont typeface="IBM Plex Sans"/>
              <a:buNone/>
            </a:pPr>
            <a:r>
              <a:rPr b="1" i="0" lang="en-US" sz="1400" u="none" cap="none" strike="noStrike">
                <a:solidFill>
                  <a:srgbClr val="0B2545"/>
                </a:solidFill>
                <a:latin typeface="IBM Plex Sans"/>
                <a:ea typeface="IBM Plex Sans"/>
                <a:cs typeface="IBM Plex Sans"/>
                <a:sym typeface="IBM Plex Sans"/>
              </a:rPr>
              <a:t>Gradientes</a:t>
            </a:r>
            <a:endParaRPr b="0" i="0" sz="1400" u="none" cap="none" strike="noStrike">
              <a:solidFill>
                <a:schemeClr val="dk1"/>
              </a:solidFill>
              <a:latin typeface="IBM Plex Sans"/>
              <a:ea typeface="IBM Plex Sans"/>
              <a:cs typeface="IBM Plex Sans"/>
              <a:sym typeface="IBM Plex Sans"/>
            </a:endParaRPr>
          </a:p>
        </p:txBody>
      </p:sp>
      <p:sp>
        <p:nvSpPr>
          <p:cNvPr id="185" name="Google Shape;185;p10"/>
          <p:cNvSpPr/>
          <p:nvPr/>
        </p:nvSpPr>
        <p:spPr>
          <a:xfrm>
            <a:off x="3147020" y="2781151"/>
            <a:ext cx="166117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300"/>
              <a:buFont typeface="IBM Plex Sans"/>
              <a:buNone/>
            </a:pPr>
            <a:r>
              <a:rPr b="0" i="0" lang="en-US" sz="1300" u="none" cap="none" strike="noStrike">
                <a:solidFill>
                  <a:srgbClr val="3B4A5E"/>
                </a:solidFill>
                <a:latin typeface="IBM Plex Sans"/>
                <a:ea typeface="IBM Plex Sans"/>
                <a:cs typeface="IBM Plex Sans"/>
                <a:sym typeface="IBM Plex Sans"/>
              </a:rPr>
              <a:t>Gradiente natural de cada observación</a:t>
            </a:r>
            <a:endParaRPr b="0" i="0" sz="1300" u="none" cap="none" strike="noStrike">
              <a:solidFill>
                <a:schemeClr val="dk1"/>
              </a:solidFill>
              <a:latin typeface="IBM Plex Sans"/>
              <a:ea typeface="IBM Plex Sans"/>
              <a:cs typeface="IBM Plex Sans"/>
              <a:sym typeface="IBM Plex Sans"/>
            </a:endParaRPr>
          </a:p>
        </p:txBody>
      </p:sp>
      <p:sp>
        <p:nvSpPr>
          <p:cNvPr id="186" name="Google Shape;186;p10"/>
          <p:cNvSpPr/>
          <p:nvPr/>
        </p:nvSpPr>
        <p:spPr>
          <a:xfrm>
            <a:off x="5106640" y="1829991"/>
            <a:ext cx="1978670" cy="1803846"/>
          </a:xfrm>
          <a:prstGeom prst="roundRect">
            <a:avLst>
              <a:gd fmla="val 5280"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0"/>
          <p:cNvSpPr/>
          <p:nvPr/>
        </p:nvSpPr>
        <p:spPr>
          <a:xfrm>
            <a:off x="5290790" y="2014141"/>
            <a:ext cx="1661170" cy="416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2200"/>
              <a:buFont typeface="IBM Plex Sans"/>
              <a:buNone/>
            </a:pPr>
            <a:r>
              <a:rPr b="1" i="0" lang="en-US" sz="2200" u="none" cap="none" strike="noStrike">
                <a:solidFill>
                  <a:srgbClr val="1B5FA8"/>
                </a:solidFill>
                <a:latin typeface="IBM Plex Sans"/>
                <a:ea typeface="IBM Plex Sans"/>
                <a:cs typeface="IBM Plex Sans"/>
                <a:sym typeface="IBM Plex Sans"/>
              </a:rPr>
              <a:t>2</a:t>
            </a:r>
            <a:endParaRPr b="0" i="0" sz="2200" u="none" cap="none" strike="noStrike">
              <a:solidFill>
                <a:schemeClr val="dk1"/>
              </a:solidFill>
              <a:latin typeface="IBM Plex Sans"/>
              <a:ea typeface="IBM Plex Sans"/>
              <a:cs typeface="IBM Plex Sans"/>
              <a:sym typeface="IBM Plex Sans"/>
            </a:endParaRPr>
          </a:p>
        </p:txBody>
      </p:sp>
      <p:sp>
        <p:nvSpPr>
          <p:cNvPr id="188" name="Google Shape;188;p10"/>
          <p:cNvSpPr/>
          <p:nvPr/>
        </p:nvSpPr>
        <p:spPr>
          <a:xfrm>
            <a:off x="5290790" y="2468761"/>
            <a:ext cx="1661170"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400"/>
              <a:buFont typeface="IBM Plex Sans"/>
              <a:buNone/>
            </a:pPr>
            <a:r>
              <a:rPr b="1" i="0" lang="en-US" sz="1400" u="none" cap="none" strike="noStrike">
                <a:solidFill>
                  <a:srgbClr val="0B2545"/>
                </a:solidFill>
                <a:latin typeface="IBM Plex Sans"/>
                <a:ea typeface="IBM Plex Sans"/>
                <a:cs typeface="IBM Plex Sans"/>
                <a:sym typeface="IBM Plex Sans"/>
              </a:rPr>
              <a:t>Árboles</a:t>
            </a:r>
            <a:endParaRPr b="0" i="0" sz="1400" u="none" cap="none" strike="noStrike">
              <a:solidFill>
                <a:schemeClr val="dk1"/>
              </a:solidFill>
              <a:latin typeface="IBM Plex Sans"/>
              <a:ea typeface="IBM Plex Sans"/>
              <a:cs typeface="IBM Plex Sans"/>
              <a:sym typeface="IBM Plex Sans"/>
            </a:endParaRPr>
          </a:p>
        </p:txBody>
      </p:sp>
      <p:sp>
        <p:nvSpPr>
          <p:cNvPr id="189" name="Google Shape;189;p10"/>
          <p:cNvSpPr/>
          <p:nvPr/>
        </p:nvSpPr>
        <p:spPr>
          <a:xfrm>
            <a:off x="5290790" y="2781151"/>
            <a:ext cx="1661170" cy="693936"/>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300"/>
              <a:buFont typeface="IBM Plex Sans"/>
              <a:buNone/>
            </a:pPr>
            <a:r>
              <a:rPr b="0" i="0" lang="en-US" sz="1300" u="none" cap="none" strike="noStrike">
                <a:solidFill>
                  <a:srgbClr val="3B4A5E"/>
                </a:solidFill>
                <a:latin typeface="IBM Plex Sans"/>
                <a:ea typeface="IBM Plex Sans"/>
                <a:cs typeface="IBM Plex Sans"/>
                <a:sym typeface="IBM Plex Sans"/>
              </a:rPr>
              <a:t>Uno por parámetro aprende a predecir esos gradientes</a:t>
            </a:r>
            <a:endParaRPr b="0" i="0" sz="1300" u="none" cap="none" strike="noStrike">
              <a:solidFill>
                <a:schemeClr val="dk1"/>
              </a:solidFill>
              <a:latin typeface="IBM Plex Sans"/>
              <a:ea typeface="IBM Plex Sans"/>
              <a:cs typeface="IBM Plex Sans"/>
              <a:sym typeface="IBM Plex Sans"/>
            </a:endParaRPr>
          </a:p>
        </p:txBody>
      </p:sp>
      <p:sp>
        <p:nvSpPr>
          <p:cNvPr id="190" name="Google Shape;190;p10"/>
          <p:cNvSpPr/>
          <p:nvPr/>
        </p:nvSpPr>
        <p:spPr>
          <a:xfrm>
            <a:off x="7250410" y="1829991"/>
            <a:ext cx="1978670" cy="1803846"/>
          </a:xfrm>
          <a:prstGeom prst="roundRect">
            <a:avLst>
              <a:gd fmla="val 5280"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0"/>
          <p:cNvSpPr/>
          <p:nvPr/>
        </p:nvSpPr>
        <p:spPr>
          <a:xfrm>
            <a:off x="7434560" y="2014141"/>
            <a:ext cx="1661170" cy="416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2200"/>
              <a:buFont typeface="IBM Plex Sans"/>
              <a:buNone/>
            </a:pPr>
            <a:r>
              <a:rPr b="1" i="0" lang="en-US" sz="2200" u="none" cap="none" strike="noStrike">
                <a:solidFill>
                  <a:srgbClr val="1B5FA8"/>
                </a:solidFill>
                <a:latin typeface="IBM Plex Sans"/>
                <a:ea typeface="IBM Plex Sans"/>
                <a:cs typeface="IBM Plex Sans"/>
                <a:sym typeface="IBM Plex Sans"/>
              </a:rPr>
              <a:t>3</a:t>
            </a:r>
            <a:endParaRPr b="0" i="0" sz="2200" u="none" cap="none" strike="noStrike">
              <a:solidFill>
                <a:schemeClr val="dk1"/>
              </a:solidFill>
              <a:latin typeface="IBM Plex Sans"/>
              <a:ea typeface="IBM Plex Sans"/>
              <a:cs typeface="IBM Plex Sans"/>
              <a:sym typeface="IBM Plex Sans"/>
            </a:endParaRPr>
          </a:p>
        </p:txBody>
      </p:sp>
      <p:sp>
        <p:nvSpPr>
          <p:cNvPr id="192" name="Google Shape;192;p10"/>
          <p:cNvSpPr/>
          <p:nvPr/>
        </p:nvSpPr>
        <p:spPr>
          <a:xfrm>
            <a:off x="7434560" y="2468761"/>
            <a:ext cx="1661170"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400"/>
              <a:buFont typeface="IBM Plex Sans"/>
              <a:buNone/>
            </a:pPr>
            <a:r>
              <a:rPr b="1" i="0" lang="en-US" sz="1400" u="none" cap="none" strike="noStrike">
                <a:solidFill>
                  <a:srgbClr val="0B2545"/>
                </a:solidFill>
                <a:latin typeface="IBM Plex Sans"/>
                <a:ea typeface="IBM Plex Sans"/>
                <a:cs typeface="IBM Plex Sans"/>
                <a:sym typeface="IBM Plex Sans"/>
              </a:rPr>
              <a:t>Paso ρ</a:t>
            </a:r>
            <a:endParaRPr b="0" i="0" sz="1400" u="none" cap="none" strike="noStrike">
              <a:solidFill>
                <a:schemeClr val="dk1"/>
              </a:solidFill>
              <a:latin typeface="IBM Plex Sans"/>
              <a:ea typeface="IBM Plex Sans"/>
              <a:cs typeface="IBM Plex Sans"/>
              <a:sym typeface="IBM Plex Sans"/>
            </a:endParaRPr>
          </a:p>
        </p:txBody>
      </p:sp>
      <p:sp>
        <p:nvSpPr>
          <p:cNvPr id="193" name="Google Shape;193;p10"/>
          <p:cNvSpPr/>
          <p:nvPr/>
        </p:nvSpPr>
        <p:spPr>
          <a:xfrm>
            <a:off x="7434560" y="2781151"/>
            <a:ext cx="1661170" cy="693936"/>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300"/>
              <a:buFont typeface="IBM Plex Sans"/>
              <a:buNone/>
            </a:pPr>
            <a:r>
              <a:rPr b="0" i="0" lang="en-US" sz="1300" u="none" cap="none" strike="noStrike">
                <a:solidFill>
                  <a:srgbClr val="3B4A5E"/>
                </a:solidFill>
                <a:latin typeface="IBM Plex Sans"/>
                <a:ea typeface="IBM Plex Sans"/>
                <a:cs typeface="IBM Plex Sans"/>
                <a:sym typeface="IBM Plex Sans"/>
              </a:rPr>
              <a:t>Arranca en 1 y se divide por 2 hasta mejorar el score</a:t>
            </a:r>
            <a:endParaRPr b="0" i="0" sz="1300" u="none" cap="none" strike="noStrike">
              <a:solidFill>
                <a:schemeClr val="dk1"/>
              </a:solidFill>
              <a:latin typeface="IBM Plex Sans"/>
              <a:ea typeface="IBM Plex Sans"/>
              <a:cs typeface="IBM Plex Sans"/>
              <a:sym typeface="IBM Plex Sans"/>
            </a:endParaRPr>
          </a:p>
        </p:txBody>
      </p:sp>
      <p:sp>
        <p:nvSpPr>
          <p:cNvPr id="194" name="Google Shape;194;p10"/>
          <p:cNvSpPr/>
          <p:nvPr/>
        </p:nvSpPr>
        <p:spPr>
          <a:xfrm>
            <a:off x="9394180" y="1829991"/>
            <a:ext cx="1978670" cy="1803846"/>
          </a:xfrm>
          <a:prstGeom prst="roundRect">
            <a:avLst>
              <a:gd fmla="val 5280"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0"/>
          <p:cNvSpPr/>
          <p:nvPr/>
        </p:nvSpPr>
        <p:spPr>
          <a:xfrm>
            <a:off x="9578330" y="2014141"/>
            <a:ext cx="1661170" cy="416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2200"/>
              <a:buFont typeface="IBM Plex Sans"/>
              <a:buNone/>
            </a:pPr>
            <a:r>
              <a:rPr b="1" i="0" lang="en-US" sz="2200" u="none" cap="none" strike="noStrike">
                <a:solidFill>
                  <a:srgbClr val="1B5FA8"/>
                </a:solidFill>
                <a:latin typeface="IBM Plex Sans"/>
                <a:ea typeface="IBM Plex Sans"/>
                <a:cs typeface="IBM Plex Sans"/>
                <a:sym typeface="IBM Plex Sans"/>
              </a:rPr>
              <a:t>4</a:t>
            </a:r>
            <a:endParaRPr b="0" i="0" sz="2200" u="none" cap="none" strike="noStrike">
              <a:solidFill>
                <a:schemeClr val="dk1"/>
              </a:solidFill>
              <a:latin typeface="IBM Plex Sans"/>
              <a:ea typeface="IBM Plex Sans"/>
              <a:cs typeface="IBM Plex Sans"/>
              <a:sym typeface="IBM Plex Sans"/>
            </a:endParaRPr>
          </a:p>
        </p:txBody>
      </p:sp>
      <p:sp>
        <p:nvSpPr>
          <p:cNvPr id="196" name="Google Shape;196;p10"/>
          <p:cNvSpPr/>
          <p:nvPr/>
        </p:nvSpPr>
        <p:spPr>
          <a:xfrm>
            <a:off x="9578330" y="2468761"/>
            <a:ext cx="1661170"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400"/>
              <a:buFont typeface="IBM Plex Sans"/>
              <a:buNone/>
            </a:pPr>
            <a:r>
              <a:rPr b="1" i="0" lang="en-US" sz="1400" u="none" cap="none" strike="noStrike">
                <a:solidFill>
                  <a:srgbClr val="0B2545"/>
                </a:solidFill>
                <a:latin typeface="IBM Plex Sans"/>
                <a:ea typeface="IBM Plex Sans"/>
                <a:cs typeface="IBM Plex Sans"/>
                <a:sym typeface="IBM Plex Sans"/>
              </a:rPr>
              <a:t>Actualizar</a:t>
            </a:r>
            <a:endParaRPr b="0" i="0" sz="1400" u="none" cap="none" strike="noStrike">
              <a:solidFill>
                <a:schemeClr val="dk1"/>
              </a:solidFill>
              <a:latin typeface="IBM Plex Sans"/>
              <a:ea typeface="IBM Plex Sans"/>
              <a:cs typeface="IBM Plex Sans"/>
              <a:sym typeface="IBM Plex Sans"/>
            </a:endParaRPr>
          </a:p>
        </p:txBody>
      </p:sp>
      <p:sp>
        <p:nvSpPr>
          <p:cNvPr id="197" name="Google Shape;197;p10"/>
          <p:cNvSpPr/>
          <p:nvPr/>
        </p:nvSpPr>
        <p:spPr>
          <a:xfrm>
            <a:off x="9578330" y="2781151"/>
            <a:ext cx="1661170" cy="47109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300"/>
              <a:buFont typeface="IBM Plex Sans"/>
              <a:buNone/>
            </a:pPr>
            <a:r>
              <a:rPr b="0" i="0" lang="en-US" sz="1300" u="none" cap="none" strike="noStrike">
                <a:solidFill>
                  <a:srgbClr val="3B4A5E"/>
                </a:solidFill>
                <a:latin typeface="IBM Plex Sans"/>
                <a:ea typeface="IBM Plex Sans"/>
                <a:cs typeface="IBM Plex Sans"/>
                <a:sym typeface="IBM Plex Sans"/>
              </a:rPr>
              <a:t>θ se mueve η·ρ; se repite M veces</a:t>
            </a:r>
            <a:endParaRPr b="0" i="0" sz="1300" u="none" cap="none" strike="noStrike">
              <a:solidFill>
                <a:schemeClr val="dk1"/>
              </a:solidFill>
              <a:latin typeface="IBM Plex Sans"/>
              <a:ea typeface="IBM Plex Sans"/>
              <a:cs typeface="IBM Plex Sans"/>
              <a:sym typeface="IBM Plex Sans"/>
            </a:endParaRPr>
          </a:p>
        </p:txBody>
      </p:sp>
      <p:sp>
        <p:nvSpPr>
          <p:cNvPr id="198" name="Google Shape;198;p10"/>
          <p:cNvSpPr/>
          <p:nvPr/>
        </p:nvSpPr>
        <p:spPr>
          <a:xfrm>
            <a:off x="812800" y="3894187"/>
            <a:ext cx="10883392" cy="25653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A8F"/>
              </a:buClr>
              <a:buSzPts val="1300"/>
              <a:buFont typeface="IBM Plex Sans"/>
              <a:buNone/>
            </a:pPr>
            <a:r>
              <a:rPr b="1" i="0" lang="en-US" sz="1300" u="none" cap="none" strike="noStrike">
                <a:solidFill>
                  <a:srgbClr val="6B7A8F"/>
                </a:solidFill>
                <a:latin typeface="IBM Plex Sans"/>
                <a:ea typeface="IBM Plex Sans"/>
                <a:cs typeface="IBM Plex Sans"/>
                <a:sym typeface="IBM Plex Sans"/>
              </a:rPr>
              <a:t>Al predecir, los parámetros de cada observación son:</a:t>
            </a:r>
            <a:endParaRPr b="0" i="0" sz="1300" u="none" cap="none" strike="noStrike">
              <a:solidFill>
                <a:schemeClr val="dk1"/>
              </a:solidFill>
              <a:latin typeface="IBM Plex Sans"/>
              <a:ea typeface="IBM Plex Sans"/>
              <a:cs typeface="IBM Plex Sans"/>
              <a:sym typeface="IBM Plex Sans"/>
            </a:endParaRPr>
          </a:p>
        </p:txBody>
      </p:sp>
      <p:sp>
        <p:nvSpPr>
          <p:cNvPr id="199" name="Google Shape;199;p10"/>
          <p:cNvSpPr/>
          <p:nvPr/>
        </p:nvSpPr>
        <p:spPr>
          <a:xfrm>
            <a:off x="812800" y="5301838"/>
            <a:ext cx="10883400" cy="2655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B2545"/>
              </a:buClr>
              <a:buSzPts val="1400"/>
              <a:buFont typeface="IBM Plex Sans"/>
              <a:buNone/>
            </a:pPr>
            <a:r>
              <a:rPr b="0" i="0" lang="en-US" sz="1400" u="none" cap="none" strike="noStrike">
                <a:solidFill>
                  <a:srgbClr val="0B2545"/>
                </a:solidFill>
                <a:latin typeface="IBM Plex Sans"/>
                <a:ea typeface="IBM Plex Sans"/>
                <a:cs typeface="IBM Plex Sans"/>
                <a:sym typeface="IBM Plex Sans"/>
              </a:rPr>
              <a:t>Un solo ρ por etapa alcanza porque el gradiente natural ya viene </a:t>
            </a:r>
            <a:r>
              <a:rPr b="1" i="0" lang="en-US" sz="1400" u="none" cap="none" strike="noStrike">
                <a:solidFill>
                  <a:srgbClr val="0B2545"/>
                </a:solidFill>
                <a:latin typeface="IBM Plex Sans"/>
                <a:ea typeface="IBM Plex Sans"/>
                <a:cs typeface="IBM Plex Sans"/>
                <a:sym typeface="IBM Plex Sans"/>
              </a:rPr>
              <a:t>balanceado</a:t>
            </a:r>
            <a:r>
              <a:rPr b="0" i="0" lang="en-US" sz="1400" u="none" cap="none" strike="noStrike">
                <a:solidFill>
                  <a:srgbClr val="0B2545"/>
                </a:solidFill>
                <a:latin typeface="IBM Plex Sans"/>
                <a:ea typeface="IBM Plex Sans"/>
                <a:cs typeface="IBM Plex Sans"/>
                <a:sym typeface="IBM Plex Sans"/>
              </a:rPr>
              <a:t> entre parámetros.</a:t>
            </a:r>
            <a:endParaRPr b="0" i="0" sz="1400" u="none" cap="none" strike="noStrike">
              <a:solidFill>
                <a:schemeClr val="dk1"/>
              </a:solidFill>
              <a:latin typeface="IBM Plex Sans"/>
              <a:ea typeface="IBM Plex Sans"/>
              <a:cs typeface="IBM Plex Sans"/>
              <a:sym typeface="IBM Plex Sans"/>
            </a:endParaRPr>
          </a:p>
        </p:txBody>
      </p:sp>
      <p:sp>
        <p:nvSpPr>
          <p:cNvPr id="200" name="Google Shape;200;p10"/>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A8F"/>
              </a:buClr>
              <a:buSzPts val="1200"/>
              <a:buFont typeface="IBM Plex Sans"/>
              <a:buNone/>
            </a:pPr>
            <a:r>
              <a:rPr b="0" i="0" lang="en-US" sz="1200" u="none" cap="none" strike="noStrike">
                <a:solidFill>
                  <a:srgbClr val="6B7A8F"/>
                </a:solidFill>
                <a:latin typeface="IBM Plex Sans"/>
                <a:ea typeface="IBM Plex Sans"/>
                <a:cs typeface="IBM Plex Sans"/>
                <a:sym typeface="IBM Plex Sans"/>
              </a:rPr>
              <a:t>NGBoost · Análisis Predictivo · 10 · Algoritmo 1 del paper</a:t>
            </a:r>
            <a:endParaRPr b="0" i="0" sz="1200" u="none" cap="none" strike="noStrike">
              <a:solidFill>
                <a:schemeClr val="dk1"/>
              </a:solidFill>
              <a:latin typeface="IBM Plex Sans"/>
              <a:ea typeface="IBM Plex Sans"/>
              <a:cs typeface="IBM Plex Sans"/>
              <a:sym typeface="IBM Plex Sans"/>
            </a:endParaRPr>
          </a:p>
        </p:txBody>
      </p:sp>
      <p:pic>
        <p:nvPicPr>
          <p:cNvPr id="201" name="Google Shape;201;p10"/>
          <p:cNvPicPr preferRelativeResize="0"/>
          <p:nvPr/>
        </p:nvPicPr>
        <p:blipFill>
          <a:blip r:embed="rId4">
            <a:alphaModFix/>
          </a:blip>
          <a:stretch>
            <a:fillRect/>
          </a:stretch>
        </p:blipFill>
        <p:spPr>
          <a:xfrm>
            <a:off x="881775" y="4233525"/>
            <a:ext cx="3384225" cy="885925"/>
          </a:xfrm>
          <a:prstGeom prst="rect">
            <a:avLst/>
          </a:prstGeom>
          <a:solidFill>
            <a:srgbClr val="0B2545"/>
          </a:solidFill>
          <a:ln>
            <a:noFill/>
          </a:ln>
        </p:spPr>
      </p:pic>
      <p:sp>
        <p:nvSpPr>
          <p:cNvPr id="202" name="Google Shape;202;p10"/>
          <p:cNvSpPr txBox="1"/>
          <p:nvPr>
            <p:ph type="title"/>
          </p:nvPr>
        </p:nvSpPr>
        <p:spPr>
          <a:xfrm>
            <a:off x="1691700" y="1186825"/>
            <a:ext cx="10883400" cy="492600"/>
          </a:xfrm>
          <a:prstGeom prst="rect">
            <a:avLst/>
          </a:prstGeom>
          <a:noFill/>
          <a:ln>
            <a:noFill/>
          </a:ln>
        </p:spPr>
        <p:txBody>
          <a:bodyPr anchorCtr="0" anchor="t" bIns="0" lIns="0" spcFirstLastPara="1" rIns="0" wrap="square" tIns="0">
            <a:normAutofit fontScale="90000"/>
          </a:bodyPr>
          <a:lstStyle/>
          <a:p>
            <a:pPr indent="0" lvl="0" marL="0" rtl="0" algn="l">
              <a:spcBef>
                <a:spcPts val="0"/>
              </a:spcBef>
              <a:spcAft>
                <a:spcPts val="0"/>
              </a:spcAft>
              <a:buClr>
                <a:schemeClr val="dk1"/>
              </a:buClr>
              <a:buSzPct val="100000"/>
              <a:buFont typeface="IBM Plex Sans"/>
              <a:buNone/>
            </a:pPr>
            <a:r>
              <a:rPr b="1" lang="en-US">
                <a:solidFill>
                  <a:schemeClr val="dk1"/>
                </a:solidFill>
              </a:rPr>
              <a:t>El algoritmo, paso a paso</a:t>
            </a:r>
            <a:endParaRPr>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lnSpc>
                <a:spcPct val="115000"/>
              </a:lnSpc>
              <a:spcBef>
                <a:spcPts val="0"/>
              </a:spcBef>
              <a:spcAft>
                <a:spcPts val="0"/>
              </a:spcAft>
              <a:buClr>
                <a:srgbClr val="0B2545"/>
              </a:buClr>
              <a:buSzPct val="100000"/>
              <a:buFont typeface="IBM Plex Sans"/>
              <a:buNone/>
            </a:pPr>
            <a:r>
              <a:t/>
            </a:r>
            <a:endParaRPr b="1"/>
          </a:p>
        </p:txBody>
      </p:sp>
      <p:pic>
        <p:nvPicPr>
          <p:cNvPr id="203" name="Google Shape;203;p10"/>
          <p:cNvPicPr preferRelativeResize="0"/>
          <p:nvPr/>
        </p:nvPicPr>
        <p:blipFill>
          <a:blip r:embed="rId5">
            <a:alphaModFix/>
          </a:blip>
          <a:stretch>
            <a:fillRect/>
          </a:stretch>
        </p:blipFill>
        <p:spPr>
          <a:xfrm>
            <a:off x="881775" y="1032350"/>
            <a:ext cx="631300" cy="631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8" name="Shape 208"/>
        <p:cNvGrpSpPr/>
        <p:nvPr/>
      </p:nvGrpSpPr>
      <p:grpSpPr>
        <a:xfrm>
          <a:off x="0" y="0"/>
          <a:ext cx="0" cy="0"/>
          <a:chOff x="0" y="0"/>
          <a:chExt cx="0" cy="0"/>
        </a:xfrm>
      </p:grpSpPr>
      <p:sp>
        <p:nvSpPr>
          <p:cNvPr id="209" name="Google Shape;209;h1a4c769d1022f2f8_2_0"/>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5FA8"/>
              </a:buClr>
              <a:buSzPts val="1200"/>
              <a:buFont typeface="IBM Plex Sans"/>
              <a:buNone/>
            </a:pPr>
            <a:r>
              <a:rPr b="1" lang="en-US" sz="1200">
                <a:solidFill>
                  <a:srgbClr val="1B5FA8"/>
                </a:solidFill>
                <a:latin typeface="IBM Plex Sans"/>
                <a:ea typeface="IBM Plex Sans"/>
                <a:cs typeface="IBM Plex Sans"/>
                <a:sym typeface="IBM Plex Sans"/>
              </a:rPr>
              <a:t>EJEMPLOS CON SIMULACIONES</a:t>
            </a:r>
            <a:endParaRPr b="0" i="0" sz="1200" u="none" cap="none" strike="noStrike">
              <a:solidFill>
                <a:schemeClr val="dk1"/>
              </a:solidFill>
              <a:latin typeface="IBM Plex Sans"/>
              <a:ea typeface="IBM Plex Sans"/>
              <a:cs typeface="IBM Plex Sans"/>
              <a:sym typeface="IBM Plex Sans"/>
            </a:endParaRPr>
          </a:p>
        </p:txBody>
      </p:sp>
      <p:sp>
        <p:nvSpPr>
          <p:cNvPr id="210" name="Google Shape;210;h1a4c769d1022f2f8_2_0"/>
          <p:cNvSpPr/>
          <p:nvPr/>
        </p:nvSpPr>
        <p:spPr>
          <a:xfrm>
            <a:off x="819150" y="1829991"/>
            <a:ext cx="5118000" cy="2951400"/>
          </a:xfrm>
          <a:prstGeom prst="roundRect">
            <a:avLst>
              <a:gd fmla="val 3227"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1" name="Google Shape;211;h1a4c769d1022f2f8_2_0"/>
          <p:cNvPicPr preferRelativeResize="0"/>
          <p:nvPr/>
        </p:nvPicPr>
        <p:blipFill rotWithShape="1">
          <a:blip r:embed="rId4">
            <a:alphaModFix/>
          </a:blip>
          <a:srcRect b="0" l="0" r="0" t="0"/>
          <a:stretch/>
        </p:blipFill>
        <p:spPr>
          <a:xfrm>
            <a:off x="1519422" y="1883973"/>
            <a:ext cx="3717455" cy="2810750"/>
          </a:xfrm>
          <a:prstGeom prst="rect">
            <a:avLst/>
          </a:prstGeom>
          <a:noFill/>
          <a:ln>
            <a:noFill/>
          </a:ln>
        </p:spPr>
      </p:pic>
      <p:sp>
        <p:nvSpPr>
          <p:cNvPr id="212" name="Google Shape;212;h1a4c769d1022f2f8_2_0"/>
          <p:cNvSpPr/>
          <p:nvPr/>
        </p:nvSpPr>
        <p:spPr>
          <a:xfrm>
            <a:off x="1287150" y="4910575"/>
            <a:ext cx="4182000" cy="3099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B2545"/>
              </a:buClr>
              <a:buSzPts val="1600"/>
              <a:buFont typeface="IBM Plex Sans"/>
              <a:buNone/>
            </a:pPr>
            <a:r>
              <a:rPr b="1" lang="en-US" sz="1600">
                <a:solidFill>
                  <a:srgbClr val="0B2545"/>
                </a:solidFill>
                <a:latin typeface="IBM Plex Sans"/>
                <a:ea typeface="IBM Plex Sans"/>
                <a:cs typeface="IBM Plex Sans"/>
                <a:sym typeface="IBM Plex Sans"/>
              </a:rPr>
              <a:t>Demo 1: Distribución aprendida</a:t>
            </a:r>
            <a:endParaRPr b="0" i="0" sz="1600" u="none" cap="none" strike="noStrike">
              <a:solidFill>
                <a:schemeClr val="dk1"/>
              </a:solidFill>
              <a:latin typeface="IBM Plex Sans"/>
              <a:ea typeface="IBM Plex Sans"/>
              <a:cs typeface="IBM Plex Sans"/>
              <a:sym typeface="IBM Plex Sans"/>
            </a:endParaRPr>
          </a:p>
        </p:txBody>
      </p:sp>
      <p:sp>
        <p:nvSpPr>
          <p:cNvPr id="213" name="Google Shape;213;h1a4c769d1022f2f8_2_0"/>
          <p:cNvSpPr/>
          <p:nvPr/>
        </p:nvSpPr>
        <p:spPr>
          <a:xfrm>
            <a:off x="6254750" y="1829991"/>
            <a:ext cx="5118000" cy="2951400"/>
          </a:xfrm>
          <a:prstGeom prst="roundRect">
            <a:avLst>
              <a:gd fmla="val 3227"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4" name="Google Shape;214;h1a4c769d1022f2f8_2_0"/>
          <p:cNvPicPr preferRelativeResize="0"/>
          <p:nvPr/>
        </p:nvPicPr>
        <p:blipFill rotWithShape="1">
          <a:blip r:embed="rId5">
            <a:alphaModFix/>
          </a:blip>
          <a:srcRect b="0" l="0" r="0" t="0"/>
          <a:stretch/>
        </p:blipFill>
        <p:spPr>
          <a:xfrm>
            <a:off x="7102588" y="1916479"/>
            <a:ext cx="3422325" cy="2810751"/>
          </a:xfrm>
          <a:prstGeom prst="rect">
            <a:avLst/>
          </a:prstGeom>
          <a:noFill/>
          <a:ln>
            <a:noFill/>
          </a:ln>
        </p:spPr>
      </p:pic>
      <p:sp>
        <p:nvSpPr>
          <p:cNvPr id="215" name="Google Shape;215;h1a4c769d1022f2f8_2_0"/>
          <p:cNvSpPr/>
          <p:nvPr/>
        </p:nvSpPr>
        <p:spPr>
          <a:xfrm>
            <a:off x="7510071" y="4910583"/>
            <a:ext cx="2607300" cy="3099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B2545"/>
              </a:buClr>
              <a:buSzPts val="1600"/>
              <a:buFont typeface="IBM Plex Sans"/>
              <a:buNone/>
            </a:pPr>
            <a:r>
              <a:rPr b="1" lang="en-US" sz="1600">
                <a:solidFill>
                  <a:srgbClr val="0B2545"/>
                </a:solidFill>
                <a:latin typeface="IBM Plex Sans"/>
                <a:ea typeface="IBM Plex Sans"/>
                <a:cs typeface="IBM Plex Sans"/>
                <a:sym typeface="IBM Plex Sans"/>
              </a:rPr>
              <a:t>Demo 2: California Housing</a:t>
            </a:r>
            <a:endParaRPr b="0" i="0" sz="1600" u="none" cap="none" strike="noStrike">
              <a:solidFill>
                <a:schemeClr val="dk1"/>
              </a:solidFill>
              <a:latin typeface="IBM Plex Sans"/>
              <a:ea typeface="IBM Plex Sans"/>
              <a:cs typeface="IBM Plex Sans"/>
              <a:sym typeface="IBM Plex Sans"/>
            </a:endParaRPr>
          </a:p>
        </p:txBody>
      </p:sp>
      <p:sp>
        <p:nvSpPr>
          <p:cNvPr id="216" name="Google Shape;216;h1a4c769d1022f2f8_2_0"/>
          <p:cNvSpPr/>
          <p:nvPr/>
        </p:nvSpPr>
        <p:spPr>
          <a:xfrm>
            <a:off x="812800" y="623828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A8F"/>
              </a:buClr>
              <a:buSzPts val="1200"/>
              <a:buFont typeface="IBM Plex Sans"/>
              <a:buNone/>
            </a:pPr>
            <a:r>
              <a:rPr b="0" i="0" lang="en-US" sz="1200" u="none" cap="none" strike="noStrike">
                <a:solidFill>
                  <a:srgbClr val="6B7A8F"/>
                </a:solidFill>
                <a:latin typeface="IBM Plex Sans"/>
                <a:ea typeface="IBM Plex Sans"/>
                <a:cs typeface="IBM Plex Sans"/>
                <a:sym typeface="IBM Plex Sans"/>
              </a:rPr>
              <a:t>NGBoost · Análisis Predictivo · 11</a:t>
            </a:r>
            <a:endParaRPr b="0" i="0" sz="1200" u="none" cap="none" strike="noStrike">
              <a:solidFill>
                <a:schemeClr val="dk1"/>
              </a:solidFill>
              <a:latin typeface="IBM Plex Sans"/>
              <a:ea typeface="IBM Plex Sans"/>
              <a:cs typeface="IBM Plex Sans"/>
              <a:sym typeface="IBM Plex Sans"/>
            </a:endParaRPr>
          </a:p>
        </p:txBody>
      </p:sp>
      <p:sp>
        <p:nvSpPr>
          <p:cNvPr id="217" name="Google Shape;217;h1a4c769d1022f2f8_2_0"/>
          <p:cNvSpPr txBox="1"/>
          <p:nvPr>
            <p:ph type="title"/>
          </p:nvPr>
        </p:nvSpPr>
        <p:spPr>
          <a:xfrm>
            <a:off x="1691700" y="1186825"/>
            <a:ext cx="10883400" cy="492600"/>
          </a:xfrm>
          <a:prstGeom prst="rect">
            <a:avLst/>
          </a:prstGeom>
          <a:noFill/>
          <a:ln>
            <a:noFill/>
          </a:ln>
        </p:spPr>
        <p:txBody>
          <a:bodyPr anchorCtr="0" anchor="t" bIns="0" lIns="0" spcFirstLastPara="1" rIns="0" wrap="square" tIns="0">
            <a:normAutofit fontScale="90000"/>
          </a:bodyPr>
          <a:lstStyle/>
          <a:p>
            <a:pPr indent="0" lvl="0" marL="0" rtl="0" algn="l">
              <a:spcBef>
                <a:spcPts val="0"/>
              </a:spcBef>
              <a:spcAft>
                <a:spcPts val="0"/>
              </a:spcAft>
              <a:buClr>
                <a:schemeClr val="dk1"/>
              </a:buClr>
              <a:buSzPct val="100000"/>
              <a:buFont typeface="IBM Plex Sans"/>
              <a:buNone/>
            </a:pPr>
            <a:r>
              <a:rPr b="1" lang="en-US">
                <a:solidFill>
                  <a:schemeClr val="dk1"/>
                </a:solidFill>
              </a:rPr>
              <a:t>Demos de NGBoost aplicado</a:t>
            </a:r>
            <a:endParaRPr>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lnSpc>
                <a:spcPct val="115000"/>
              </a:lnSpc>
              <a:spcBef>
                <a:spcPts val="0"/>
              </a:spcBef>
              <a:spcAft>
                <a:spcPts val="0"/>
              </a:spcAft>
              <a:buClr>
                <a:srgbClr val="0B2545"/>
              </a:buClr>
              <a:buSzPct val="100000"/>
              <a:buFont typeface="IBM Plex Sans"/>
              <a:buNone/>
            </a:pPr>
            <a:r>
              <a:t/>
            </a:r>
            <a:endParaRPr b="1"/>
          </a:p>
        </p:txBody>
      </p:sp>
      <p:pic>
        <p:nvPicPr>
          <p:cNvPr id="218" name="Google Shape;218;h1a4c769d1022f2f8_2_0"/>
          <p:cNvPicPr preferRelativeResize="0"/>
          <p:nvPr/>
        </p:nvPicPr>
        <p:blipFill>
          <a:blip r:embed="rId6">
            <a:alphaModFix/>
          </a:blip>
          <a:stretch>
            <a:fillRect/>
          </a:stretch>
        </p:blipFill>
        <p:spPr>
          <a:xfrm>
            <a:off x="819150" y="1108224"/>
            <a:ext cx="592600" cy="592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3" name="Shape 223"/>
        <p:cNvGrpSpPr/>
        <p:nvPr/>
      </p:nvGrpSpPr>
      <p:grpSpPr>
        <a:xfrm>
          <a:off x="0" y="0"/>
          <a:ext cx="0" cy="0"/>
          <a:chOff x="0" y="0"/>
          <a:chExt cx="0" cy="0"/>
        </a:xfrm>
      </p:grpSpPr>
      <p:sp>
        <p:nvSpPr>
          <p:cNvPr id="224" name="Google Shape;224;p11"/>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200"/>
              <a:buFont typeface="IBM Plex Sans"/>
              <a:buNone/>
            </a:pPr>
            <a:r>
              <a:rPr b="1" i="0" lang="en-US" sz="1200" u="none" cap="none" strike="noStrike">
                <a:solidFill>
                  <a:srgbClr val="1B5FA8"/>
                </a:solidFill>
                <a:latin typeface="IBM Plex Sans"/>
                <a:ea typeface="IBM Plex Sans"/>
                <a:cs typeface="IBM Plex Sans"/>
                <a:sym typeface="IBM Plex Sans"/>
              </a:rPr>
              <a:t>EVIDENCIA</a:t>
            </a:r>
            <a:endParaRPr b="0" i="0" sz="1200" u="none" cap="none" strike="noStrike">
              <a:solidFill>
                <a:schemeClr val="dk1"/>
              </a:solidFill>
              <a:latin typeface="IBM Plex Sans"/>
              <a:ea typeface="IBM Plex Sans"/>
              <a:cs typeface="IBM Plex Sans"/>
              <a:sym typeface="IBM Plex Sans"/>
            </a:endParaRPr>
          </a:p>
        </p:txBody>
      </p:sp>
      <p:sp>
        <p:nvSpPr>
          <p:cNvPr id="225" name="Google Shape;225;p11"/>
          <p:cNvSpPr/>
          <p:nvPr/>
        </p:nvSpPr>
        <p:spPr>
          <a:xfrm>
            <a:off x="812800" y="1823641"/>
            <a:ext cx="10883392" cy="26541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400"/>
              <a:buFont typeface="IBM Plex Sans"/>
              <a:buNone/>
            </a:pPr>
            <a:r>
              <a:rPr b="0" i="0" lang="en-US" sz="1400" u="none" cap="none" strike="noStrike">
                <a:solidFill>
                  <a:srgbClr val="3B4A5E"/>
                </a:solidFill>
                <a:latin typeface="IBM Plex Sans"/>
                <a:ea typeface="IBM Plex Sans"/>
                <a:cs typeface="IBM Plex Sans"/>
                <a:sym typeface="IBM Plex Sans"/>
              </a:rPr>
              <a:t>10 datasets de regresión (UCI), de 308 a más de 500.000 filas · 20 particiones train/test · Normal + árboles de profundidad 3</a:t>
            </a:r>
            <a:endParaRPr b="0" i="0" sz="1400" u="none" cap="none" strike="noStrike">
              <a:solidFill>
                <a:schemeClr val="dk1"/>
              </a:solidFill>
              <a:latin typeface="IBM Plex Sans"/>
              <a:ea typeface="IBM Plex Sans"/>
              <a:cs typeface="IBM Plex Sans"/>
              <a:sym typeface="IBM Plex Sans"/>
            </a:endParaRPr>
          </a:p>
        </p:txBody>
      </p:sp>
      <p:sp>
        <p:nvSpPr>
          <p:cNvPr id="226" name="Google Shape;226;p11"/>
          <p:cNvSpPr/>
          <p:nvPr/>
        </p:nvSpPr>
        <p:spPr>
          <a:xfrm>
            <a:off x="819150" y="2324001"/>
            <a:ext cx="3373934" cy="3511649"/>
          </a:xfrm>
          <a:prstGeom prst="roundRect">
            <a:avLst>
              <a:gd fmla="val 2823"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a:off x="1054100" y="2558951"/>
            <a:ext cx="299115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A8F"/>
              </a:buClr>
              <a:buSzPts val="1200"/>
              <a:buFont typeface="IBM Plex Sans"/>
              <a:buNone/>
            </a:pPr>
            <a:r>
              <a:rPr b="1" i="0" lang="en-US" sz="1200" u="none" cap="none" strike="noStrike">
                <a:solidFill>
                  <a:srgbClr val="6B7A8F"/>
                </a:solidFill>
                <a:latin typeface="IBM Plex Sans"/>
                <a:ea typeface="IBM Plex Sans"/>
                <a:cs typeface="IBM Plex Sans"/>
                <a:sym typeface="IBM Plex Sans"/>
              </a:rPr>
              <a:t>TABLA 1 · NLL</a:t>
            </a:r>
            <a:endParaRPr b="0" i="0" sz="1200" u="none" cap="none" strike="noStrike">
              <a:solidFill>
                <a:schemeClr val="dk1"/>
              </a:solidFill>
              <a:latin typeface="IBM Plex Sans"/>
              <a:ea typeface="IBM Plex Sans"/>
              <a:cs typeface="IBM Plex Sans"/>
              <a:sym typeface="IBM Plex Sans"/>
            </a:endParaRPr>
          </a:p>
        </p:txBody>
      </p:sp>
      <p:sp>
        <p:nvSpPr>
          <p:cNvPr id="228" name="Google Shape;228;p11"/>
          <p:cNvSpPr/>
          <p:nvPr/>
        </p:nvSpPr>
        <p:spPr>
          <a:xfrm>
            <a:off x="1054100" y="2873871"/>
            <a:ext cx="2991155" cy="28446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B2545"/>
              </a:buClr>
              <a:buSzPts val="1700"/>
              <a:buFont typeface="IBM Plex Sans"/>
              <a:buNone/>
            </a:pPr>
            <a:r>
              <a:rPr b="1" i="0" lang="en-US" sz="1700" u="none" cap="none" strike="noStrike">
                <a:solidFill>
                  <a:srgbClr val="0B2545"/>
                </a:solidFill>
                <a:latin typeface="IBM Plex Sans"/>
                <a:ea typeface="IBM Plex Sans"/>
                <a:cs typeface="IBM Plex Sans"/>
                <a:sym typeface="IBM Plex Sans"/>
              </a:rPr>
              <a:t>vs. métodos probabilísticos</a:t>
            </a:r>
            <a:endParaRPr b="0" i="0" sz="1700" u="none" cap="none" strike="noStrike">
              <a:solidFill>
                <a:schemeClr val="dk1"/>
              </a:solidFill>
              <a:latin typeface="IBM Plex Sans"/>
              <a:ea typeface="IBM Plex Sans"/>
              <a:cs typeface="IBM Plex Sans"/>
              <a:sym typeface="IBM Plex Sans"/>
            </a:endParaRPr>
          </a:p>
        </p:txBody>
      </p:sp>
      <p:sp>
        <p:nvSpPr>
          <p:cNvPr id="229" name="Google Shape;229;p11"/>
          <p:cNvSpPr/>
          <p:nvPr/>
        </p:nvSpPr>
        <p:spPr>
          <a:xfrm>
            <a:off x="1054100" y="3234531"/>
            <a:ext cx="2991155" cy="74543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400"/>
              <a:buFont typeface="IBM Plex Sans"/>
              <a:buNone/>
            </a:pPr>
            <a:r>
              <a:rPr b="0" i="0" lang="en-US" sz="1400" u="none" cap="none" strike="noStrike">
                <a:solidFill>
                  <a:srgbClr val="3B4A5E"/>
                </a:solidFill>
                <a:latin typeface="IBM Plex Sans"/>
                <a:ea typeface="IBM Plex Sans"/>
                <a:cs typeface="IBM Plex Sans"/>
                <a:sym typeface="IBM Plex Sans"/>
              </a:rPr>
              <a:t>Competitivo con redes bayesianas, procesos gaussianos y GAMLSS. Destaca en datasets chicos.</a:t>
            </a:r>
            <a:endParaRPr b="0" i="0" sz="1400" u="none" cap="none" strike="noStrike">
              <a:solidFill>
                <a:schemeClr val="dk1"/>
              </a:solidFill>
              <a:latin typeface="IBM Plex Sans"/>
              <a:ea typeface="IBM Plex Sans"/>
              <a:cs typeface="IBM Plex Sans"/>
              <a:sym typeface="IBM Plex Sans"/>
            </a:endParaRPr>
          </a:p>
        </p:txBody>
      </p:sp>
      <p:sp>
        <p:nvSpPr>
          <p:cNvPr id="230" name="Google Shape;230;p11"/>
          <p:cNvSpPr/>
          <p:nvPr/>
        </p:nvSpPr>
        <p:spPr>
          <a:xfrm>
            <a:off x="1054100" y="4056162"/>
            <a:ext cx="2991155" cy="50542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2560F"/>
              </a:buClr>
              <a:buSzPts val="1400"/>
              <a:buFont typeface="IBM Plex Sans"/>
              <a:buNone/>
            </a:pPr>
            <a:r>
              <a:rPr b="0" i="0" lang="en-US" sz="1400" u="none" cap="none" strike="noStrike">
                <a:solidFill>
                  <a:srgbClr val="C2560F"/>
                </a:solidFill>
                <a:latin typeface="IBM Plex Sans"/>
                <a:ea typeface="IBM Plex Sans"/>
                <a:cs typeface="IBM Plex Sans"/>
                <a:sym typeface="IBM Plex Sans"/>
              </a:rPr>
              <a:t>No gana siempre: pierde en Kin8nm, Power y Protein.</a:t>
            </a:r>
            <a:endParaRPr b="0" i="0" sz="1400" u="none" cap="none" strike="noStrike">
              <a:solidFill>
                <a:schemeClr val="dk1"/>
              </a:solidFill>
              <a:latin typeface="IBM Plex Sans"/>
              <a:ea typeface="IBM Plex Sans"/>
              <a:cs typeface="IBM Plex Sans"/>
              <a:sym typeface="IBM Plex Sans"/>
            </a:endParaRPr>
          </a:p>
        </p:txBody>
      </p:sp>
      <p:sp>
        <p:nvSpPr>
          <p:cNvPr id="231" name="Google Shape;231;p11"/>
          <p:cNvSpPr/>
          <p:nvPr/>
        </p:nvSpPr>
        <p:spPr>
          <a:xfrm>
            <a:off x="4402634" y="2317651"/>
            <a:ext cx="3386683" cy="3524349"/>
          </a:xfrm>
          <a:prstGeom prst="roundRect">
            <a:avLst>
              <a:gd fmla="val 3000" name="adj"/>
            </a:avLst>
          </a:prstGeom>
          <a:solidFill>
            <a:srgbClr val="0B25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a:off x="4631234" y="2546251"/>
            <a:ext cx="301736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8E6"/>
              </a:buClr>
              <a:buSzPts val="1200"/>
              <a:buFont typeface="IBM Plex Sans"/>
              <a:buNone/>
            </a:pPr>
            <a:r>
              <a:rPr b="1" i="0" lang="en-US" sz="1200" u="none" cap="none" strike="noStrike">
                <a:solidFill>
                  <a:srgbClr val="8FB8E6"/>
                </a:solidFill>
                <a:latin typeface="IBM Plex Sans"/>
                <a:ea typeface="IBM Plex Sans"/>
                <a:cs typeface="IBM Plex Sans"/>
                <a:sym typeface="IBM Plex Sans"/>
              </a:rPr>
              <a:t>TABLA 2 · ABLACIÓN</a:t>
            </a:r>
            <a:endParaRPr b="0" i="0" sz="1200" u="none" cap="none" strike="noStrike">
              <a:solidFill>
                <a:schemeClr val="dk1"/>
              </a:solidFill>
              <a:latin typeface="IBM Plex Sans"/>
              <a:ea typeface="IBM Plex Sans"/>
              <a:cs typeface="IBM Plex Sans"/>
              <a:sym typeface="IBM Plex Sans"/>
            </a:endParaRPr>
          </a:p>
        </p:txBody>
      </p:sp>
      <p:sp>
        <p:nvSpPr>
          <p:cNvPr id="233" name="Google Shape;233;p11"/>
          <p:cNvSpPr/>
          <p:nvPr/>
        </p:nvSpPr>
        <p:spPr>
          <a:xfrm>
            <a:off x="4631234" y="2861171"/>
            <a:ext cx="3017368" cy="28446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5F7FA"/>
              </a:buClr>
              <a:buSzPts val="1700"/>
              <a:buFont typeface="IBM Plex Sans"/>
              <a:buNone/>
            </a:pPr>
            <a:r>
              <a:rPr b="1" i="0" lang="en-US" sz="1700" u="none" cap="none" strike="noStrike">
                <a:solidFill>
                  <a:srgbClr val="F5F7FA"/>
                </a:solidFill>
                <a:latin typeface="IBM Plex Sans"/>
                <a:ea typeface="IBM Plex Sans"/>
                <a:cs typeface="IBM Plex Sans"/>
                <a:sym typeface="IBM Plex Sans"/>
              </a:rPr>
              <a:t>¿Hace falta cada pieza?</a:t>
            </a:r>
            <a:endParaRPr b="0" i="0" sz="1700" u="none" cap="none" strike="noStrike">
              <a:solidFill>
                <a:schemeClr val="dk1"/>
              </a:solidFill>
              <a:latin typeface="IBM Plex Sans"/>
              <a:ea typeface="IBM Plex Sans"/>
              <a:cs typeface="IBM Plex Sans"/>
              <a:sym typeface="IBM Plex Sans"/>
            </a:endParaRPr>
          </a:p>
        </p:txBody>
      </p:sp>
      <p:sp>
        <p:nvSpPr>
          <p:cNvPr id="234" name="Google Shape;234;p11"/>
          <p:cNvSpPr/>
          <p:nvPr/>
        </p:nvSpPr>
        <p:spPr>
          <a:xfrm>
            <a:off x="4631234" y="3221831"/>
            <a:ext cx="3017368" cy="98544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D4E2F2"/>
              </a:buClr>
              <a:buSzPts val="1400"/>
              <a:buFont typeface="IBM Plex Sans"/>
              <a:buNone/>
            </a:pPr>
            <a:r>
              <a:rPr b="0" i="0" lang="en-US" sz="1400" u="none" cap="none" strike="noStrike">
                <a:solidFill>
                  <a:srgbClr val="D4E2F2"/>
                </a:solidFill>
                <a:latin typeface="IBM Plex Sans"/>
                <a:ea typeface="IBM Plex Sans"/>
                <a:cs typeface="IBM Plex Sans"/>
                <a:sym typeface="IBM Plex Sans"/>
              </a:rPr>
              <a:t>NGBoost completo gana en casi todos.</a:t>
            </a:r>
            <a:endParaRPr>
              <a:solidFill>
                <a:srgbClr val="D4E2F2"/>
              </a:solidFill>
              <a:latin typeface="IBM Plex Sans"/>
              <a:ea typeface="IBM Plex Sans"/>
              <a:cs typeface="IBM Plex Sans"/>
              <a:sym typeface="IBM Plex Sans"/>
            </a:endParaRPr>
          </a:p>
          <a:p>
            <a:pPr indent="0" lvl="0" marL="0" marR="0" rtl="0" algn="l">
              <a:lnSpc>
                <a:spcPct val="135000"/>
              </a:lnSpc>
              <a:spcBef>
                <a:spcPts val="0"/>
              </a:spcBef>
              <a:spcAft>
                <a:spcPts val="0"/>
              </a:spcAft>
              <a:buClr>
                <a:srgbClr val="D4E2F2"/>
              </a:buClr>
              <a:buSzPts val="1400"/>
              <a:buFont typeface="IBM Plex Sans"/>
              <a:buNone/>
            </a:pPr>
            <a:r>
              <a:rPr b="0" i="0" lang="en-US" sz="1400" u="none" cap="none" strike="noStrike">
                <a:solidFill>
                  <a:srgbClr val="D4E2F2"/>
                </a:solidFill>
                <a:latin typeface="IBM Plex Sans"/>
                <a:ea typeface="IBM Plex Sans"/>
                <a:cs typeface="IBM Plex Sans"/>
                <a:sym typeface="IBM Plex Sans"/>
              </a:rPr>
              <a:t>Con gradiente común, muchas veces queda </a:t>
            </a:r>
            <a:r>
              <a:rPr b="1" i="0" lang="en-US" sz="1400" u="none" cap="none" strike="noStrike">
                <a:solidFill>
                  <a:srgbClr val="D4E2F2"/>
                </a:solidFill>
                <a:latin typeface="IBM Plex Sans"/>
                <a:ea typeface="IBM Plex Sans"/>
                <a:cs typeface="IBM Plex Sans"/>
                <a:sym typeface="IBM Plex Sans"/>
              </a:rPr>
              <a:t>peor que σ constante</a:t>
            </a:r>
            <a:r>
              <a:rPr b="0" i="0" lang="en-US" sz="1400" u="none" cap="none" strike="noStrike">
                <a:solidFill>
                  <a:srgbClr val="D4E2F2"/>
                </a:solidFill>
                <a:latin typeface="IBM Plex Sans"/>
                <a:ea typeface="IBM Plex Sans"/>
                <a:cs typeface="IBM Plex Sans"/>
                <a:sym typeface="IBM Plex Sans"/>
              </a:rPr>
              <a:t>.</a:t>
            </a:r>
            <a:endParaRPr b="0" i="0" sz="1400" u="none" cap="none" strike="noStrike">
              <a:solidFill>
                <a:schemeClr val="dk1"/>
              </a:solidFill>
              <a:latin typeface="IBM Plex Sans"/>
              <a:ea typeface="IBM Plex Sans"/>
              <a:cs typeface="IBM Plex Sans"/>
              <a:sym typeface="IBM Plex Sans"/>
            </a:endParaRPr>
          </a:p>
        </p:txBody>
      </p:sp>
      <p:sp>
        <p:nvSpPr>
          <p:cNvPr id="235" name="Google Shape;235;p11"/>
          <p:cNvSpPr/>
          <p:nvPr/>
        </p:nvSpPr>
        <p:spPr>
          <a:xfrm>
            <a:off x="7998867" y="2324001"/>
            <a:ext cx="3373934" cy="3511649"/>
          </a:xfrm>
          <a:prstGeom prst="roundRect">
            <a:avLst>
              <a:gd fmla="val 2823" name="adj"/>
            </a:avLst>
          </a:prstGeom>
          <a:solidFill>
            <a:srgbClr val="FFFFFF"/>
          </a:solidFill>
          <a:ln cap="flat" cmpd="sng" w="12700">
            <a:solidFill>
              <a:srgbClr val="D5DE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a:off x="8233817" y="2558951"/>
            <a:ext cx="299115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A8F"/>
              </a:buClr>
              <a:buSzPts val="1200"/>
              <a:buFont typeface="IBM Plex Sans"/>
              <a:buNone/>
            </a:pPr>
            <a:r>
              <a:rPr b="1" i="0" lang="en-US" sz="1200" u="none" cap="none" strike="noStrike">
                <a:solidFill>
                  <a:srgbClr val="6B7A8F"/>
                </a:solidFill>
                <a:latin typeface="IBM Plex Sans"/>
                <a:ea typeface="IBM Plex Sans"/>
                <a:cs typeface="IBM Plex Sans"/>
                <a:sym typeface="IBM Plex Sans"/>
              </a:rPr>
              <a:t>TABLA 3 · RMSE</a:t>
            </a:r>
            <a:endParaRPr b="0" i="0" sz="1200" u="none" cap="none" strike="noStrike">
              <a:solidFill>
                <a:schemeClr val="dk1"/>
              </a:solidFill>
              <a:latin typeface="IBM Plex Sans"/>
              <a:ea typeface="IBM Plex Sans"/>
              <a:cs typeface="IBM Plex Sans"/>
              <a:sym typeface="IBM Plex Sans"/>
            </a:endParaRPr>
          </a:p>
        </p:txBody>
      </p:sp>
      <p:sp>
        <p:nvSpPr>
          <p:cNvPr id="237" name="Google Shape;237;p11"/>
          <p:cNvSpPr/>
          <p:nvPr/>
        </p:nvSpPr>
        <p:spPr>
          <a:xfrm>
            <a:off x="8233817" y="2873871"/>
            <a:ext cx="2991155" cy="28446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B2545"/>
              </a:buClr>
              <a:buSzPts val="1700"/>
              <a:buFont typeface="IBM Plex Sans"/>
              <a:buNone/>
            </a:pPr>
            <a:r>
              <a:rPr b="1" i="0" lang="en-US" sz="1700" u="none" cap="none" strike="noStrike">
                <a:solidFill>
                  <a:srgbClr val="0B2545"/>
                </a:solidFill>
                <a:latin typeface="IBM Plex Sans"/>
                <a:ea typeface="IBM Plex Sans"/>
                <a:cs typeface="IBM Plex Sans"/>
                <a:sym typeface="IBM Plex Sans"/>
              </a:rPr>
              <a:t>Predicción puntual</a:t>
            </a:r>
            <a:endParaRPr b="0" i="0" sz="1700" u="none" cap="none" strike="noStrike">
              <a:solidFill>
                <a:schemeClr val="dk1"/>
              </a:solidFill>
              <a:latin typeface="IBM Plex Sans"/>
              <a:ea typeface="IBM Plex Sans"/>
              <a:cs typeface="IBM Plex Sans"/>
              <a:sym typeface="IBM Plex Sans"/>
            </a:endParaRPr>
          </a:p>
        </p:txBody>
      </p:sp>
      <p:sp>
        <p:nvSpPr>
          <p:cNvPr id="238" name="Google Shape;238;p11"/>
          <p:cNvSpPr/>
          <p:nvPr/>
        </p:nvSpPr>
        <p:spPr>
          <a:xfrm>
            <a:off x="8233817" y="3234531"/>
            <a:ext cx="2991155" cy="74543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400"/>
              <a:buFont typeface="IBM Plex Sans"/>
              <a:buNone/>
            </a:pPr>
            <a:r>
              <a:rPr b="0" i="0" lang="en-US" sz="1400" u="none" cap="none" strike="noStrike">
                <a:solidFill>
                  <a:srgbClr val="3B4A5E"/>
                </a:solidFill>
                <a:latin typeface="IBM Plex Sans"/>
                <a:ea typeface="IBM Plex Sans"/>
                <a:cs typeface="IBM Plex Sans"/>
                <a:sym typeface="IBM Plex Sans"/>
              </a:rPr>
              <a:t>Mejor que Elastic Net, parecido a Random Forest, apenas detrás de Gradient Boosting.</a:t>
            </a:r>
            <a:endParaRPr b="0" i="0" sz="1400" u="none" cap="none" strike="noStrike">
              <a:solidFill>
                <a:schemeClr val="dk1"/>
              </a:solidFill>
              <a:latin typeface="IBM Plex Sans"/>
              <a:ea typeface="IBM Plex Sans"/>
              <a:cs typeface="IBM Plex Sans"/>
              <a:sym typeface="IBM Plex Sans"/>
            </a:endParaRPr>
          </a:p>
        </p:txBody>
      </p:sp>
      <p:sp>
        <p:nvSpPr>
          <p:cNvPr id="239" name="Google Shape;239;p11"/>
          <p:cNvSpPr/>
          <p:nvPr/>
        </p:nvSpPr>
        <p:spPr>
          <a:xfrm>
            <a:off x="8233817" y="4056162"/>
            <a:ext cx="2991155" cy="26541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B5FA8"/>
              </a:buClr>
              <a:buSzPts val="1400"/>
              <a:buFont typeface="IBM Plex Sans"/>
              <a:buNone/>
            </a:pPr>
            <a:r>
              <a:rPr b="0" i="0" lang="en-US" sz="1400" u="none" cap="none" strike="noStrike">
                <a:solidFill>
                  <a:srgbClr val="1B5FA8"/>
                </a:solidFill>
                <a:latin typeface="IBM Plex Sans"/>
                <a:ea typeface="IBM Plex Sans"/>
                <a:cs typeface="IBM Plex Sans"/>
                <a:sym typeface="IBM Plex Sans"/>
              </a:rPr>
              <a:t>La incertidumbre sale “casi gratis”.</a:t>
            </a:r>
            <a:endParaRPr b="0" i="0" sz="1400" u="none" cap="none" strike="noStrike">
              <a:solidFill>
                <a:schemeClr val="dk1"/>
              </a:solidFill>
              <a:latin typeface="IBM Plex Sans"/>
              <a:ea typeface="IBM Plex Sans"/>
              <a:cs typeface="IBM Plex Sans"/>
              <a:sym typeface="IBM Plex Sans"/>
            </a:endParaRPr>
          </a:p>
        </p:txBody>
      </p:sp>
      <p:sp>
        <p:nvSpPr>
          <p:cNvPr id="240" name="Google Shape;240;p11"/>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A8F"/>
              </a:buClr>
              <a:buSzPts val="1200"/>
              <a:buFont typeface="IBM Plex Sans"/>
              <a:buNone/>
            </a:pPr>
            <a:r>
              <a:rPr b="0" i="0" lang="en-US" sz="1200" u="none" cap="none" strike="noStrike">
                <a:solidFill>
                  <a:srgbClr val="6B7A8F"/>
                </a:solidFill>
                <a:latin typeface="IBM Plex Sans"/>
                <a:ea typeface="IBM Plex Sans"/>
                <a:cs typeface="IBM Plex Sans"/>
                <a:sym typeface="IBM Plex Sans"/>
              </a:rPr>
              <a:t>NGBoost · Análisis Predictivo · 1</a:t>
            </a:r>
            <a:r>
              <a:rPr lang="en-US" sz="1200">
                <a:solidFill>
                  <a:srgbClr val="6B7A8F"/>
                </a:solidFill>
                <a:latin typeface="IBM Plex Sans"/>
                <a:ea typeface="IBM Plex Sans"/>
                <a:cs typeface="IBM Plex Sans"/>
                <a:sym typeface="IBM Plex Sans"/>
              </a:rPr>
              <a:t>2</a:t>
            </a:r>
            <a:r>
              <a:rPr b="0" i="0" lang="en-US" sz="1200" u="none" cap="none" strike="noStrike">
                <a:solidFill>
                  <a:srgbClr val="6B7A8F"/>
                </a:solidFill>
                <a:latin typeface="IBM Plex Sans"/>
                <a:ea typeface="IBM Plex Sans"/>
                <a:cs typeface="IBM Plex Sans"/>
                <a:sym typeface="IBM Plex Sans"/>
              </a:rPr>
              <a:t> · Duan et al. (2019), sección 4</a:t>
            </a:r>
            <a:endParaRPr b="0" i="0" sz="1200" u="none" cap="none" strike="noStrike">
              <a:solidFill>
                <a:schemeClr val="dk1"/>
              </a:solidFill>
              <a:latin typeface="IBM Plex Sans"/>
              <a:ea typeface="IBM Plex Sans"/>
              <a:cs typeface="IBM Plex Sans"/>
              <a:sym typeface="IBM Plex Sans"/>
            </a:endParaRPr>
          </a:p>
        </p:txBody>
      </p:sp>
      <p:sp>
        <p:nvSpPr>
          <p:cNvPr id="241" name="Google Shape;241;p11"/>
          <p:cNvSpPr txBox="1"/>
          <p:nvPr>
            <p:ph type="title"/>
          </p:nvPr>
        </p:nvSpPr>
        <p:spPr>
          <a:xfrm>
            <a:off x="1691700" y="1186825"/>
            <a:ext cx="10883400" cy="492600"/>
          </a:xfrm>
          <a:prstGeom prst="rect">
            <a:avLst/>
          </a:prstGeom>
          <a:noFill/>
          <a:ln>
            <a:noFill/>
          </a:ln>
        </p:spPr>
        <p:txBody>
          <a:bodyPr anchorCtr="0" anchor="t" bIns="0" lIns="0" spcFirstLastPara="1" rIns="0" wrap="square" tIns="0">
            <a:normAutofit fontScale="90000"/>
          </a:bodyPr>
          <a:lstStyle/>
          <a:p>
            <a:pPr indent="0" lvl="0" marL="0" rtl="0" algn="l">
              <a:spcBef>
                <a:spcPts val="0"/>
              </a:spcBef>
              <a:spcAft>
                <a:spcPts val="0"/>
              </a:spcAft>
              <a:buClr>
                <a:schemeClr val="dk1"/>
              </a:buClr>
              <a:buSzPct val="100000"/>
              <a:buFont typeface="IBM Plex Sans"/>
              <a:buNone/>
            </a:pPr>
            <a:r>
              <a:rPr b="1" lang="en-US">
                <a:solidFill>
                  <a:schemeClr val="dk1"/>
                </a:solidFill>
              </a:rPr>
              <a:t>Qué muestra el paper</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lnSpc>
                <a:spcPct val="115000"/>
              </a:lnSpc>
              <a:spcBef>
                <a:spcPts val="0"/>
              </a:spcBef>
              <a:spcAft>
                <a:spcPts val="0"/>
              </a:spcAft>
              <a:buClr>
                <a:srgbClr val="0B2545"/>
              </a:buClr>
              <a:buSzPct val="100000"/>
              <a:buFont typeface="IBM Plex Sans"/>
              <a:buNone/>
            </a:pPr>
            <a:r>
              <a:t/>
            </a:r>
            <a:endParaRPr b="1"/>
          </a:p>
        </p:txBody>
      </p:sp>
      <p:pic>
        <p:nvPicPr>
          <p:cNvPr id="242" name="Google Shape;242;p11"/>
          <p:cNvPicPr preferRelativeResize="0"/>
          <p:nvPr/>
        </p:nvPicPr>
        <p:blipFill>
          <a:blip r:embed="rId4">
            <a:alphaModFix/>
          </a:blip>
          <a:stretch>
            <a:fillRect/>
          </a:stretch>
        </p:blipFill>
        <p:spPr>
          <a:xfrm>
            <a:off x="819150" y="1125388"/>
            <a:ext cx="624400" cy="624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7" name="Shape 247"/>
        <p:cNvGrpSpPr/>
        <p:nvPr/>
      </p:nvGrpSpPr>
      <p:grpSpPr>
        <a:xfrm>
          <a:off x="0" y="0"/>
          <a:ext cx="0" cy="0"/>
          <a:chOff x="0" y="0"/>
          <a:chExt cx="0" cy="0"/>
        </a:xfrm>
      </p:grpSpPr>
      <p:sp>
        <p:nvSpPr>
          <p:cNvPr id="248" name="Google Shape;248;p1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200"/>
              <a:buFont typeface="IBM Plex Sans"/>
              <a:buNone/>
            </a:pPr>
            <a:r>
              <a:rPr b="1" i="0" lang="en-US" sz="1200" u="none" cap="none" strike="noStrike">
                <a:solidFill>
                  <a:srgbClr val="1B5FA8"/>
                </a:solidFill>
                <a:latin typeface="IBM Plex Sans"/>
                <a:ea typeface="IBM Plex Sans"/>
                <a:cs typeface="IBM Plex Sans"/>
                <a:sym typeface="IBM Plex Sans"/>
              </a:rPr>
              <a:t>BALANCE</a:t>
            </a:r>
            <a:endParaRPr b="0" i="0" sz="1200" u="none" cap="none" strike="noStrike">
              <a:solidFill>
                <a:schemeClr val="dk1"/>
              </a:solidFill>
              <a:latin typeface="IBM Plex Sans"/>
              <a:ea typeface="IBM Plex Sans"/>
              <a:cs typeface="IBM Plex Sans"/>
              <a:sym typeface="IBM Plex Sans"/>
            </a:endParaRPr>
          </a:p>
        </p:txBody>
      </p:sp>
      <p:pic>
        <p:nvPicPr>
          <p:cNvPr descr="CheckCircle" id="249" name="Google Shape;249;p13"/>
          <p:cNvPicPr preferRelativeResize="0"/>
          <p:nvPr/>
        </p:nvPicPr>
        <p:blipFill rotWithShape="1">
          <a:blip r:embed="rId4">
            <a:alphaModFix/>
          </a:blip>
          <a:srcRect b="0" l="0" r="0" t="0"/>
          <a:stretch/>
        </p:blipFill>
        <p:spPr>
          <a:xfrm>
            <a:off x="812800" y="2513404"/>
            <a:ext cx="304800" cy="304800"/>
          </a:xfrm>
          <a:prstGeom prst="rect">
            <a:avLst/>
          </a:prstGeom>
          <a:noFill/>
          <a:ln>
            <a:noFill/>
          </a:ln>
        </p:spPr>
      </p:pic>
      <p:sp>
        <p:nvSpPr>
          <p:cNvPr id="250" name="Google Shape;250;p13"/>
          <p:cNvSpPr/>
          <p:nvPr/>
        </p:nvSpPr>
        <p:spPr>
          <a:xfrm>
            <a:off x="1270000" y="2513404"/>
            <a:ext cx="4229700" cy="292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500"/>
              <a:buFont typeface="IBM Plex Sans"/>
              <a:buNone/>
            </a:pPr>
            <a:r>
              <a:rPr b="1" i="0" lang="en-US" sz="1500" u="none" cap="none" strike="noStrike">
                <a:solidFill>
                  <a:srgbClr val="0B2545"/>
                </a:solidFill>
                <a:latin typeface="IBM Plex Sans"/>
                <a:ea typeface="IBM Plex Sans"/>
                <a:cs typeface="IBM Plex Sans"/>
                <a:sym typeface="IBM Plex Sans"/>
              </a:rPr>
              <a:t>Distribución completa por observación</a:t>
            </a:r>
            <a:endParaRPr b="0" i="0" sz="1500" u="none" cap="none" strike="noStrike">
              <a:solidFill>
                <a:schemeClr val="dk1"/>
              </a:solidFill>
              <a:latin typeface="IBM Plex Sans"/>
              <a:ea typeface="IBM Plex Sans"/>
              <a:cs typeface="IBM Plex Sans"/>
              <a:sym typeface="IBM Plex Sans"/>
            </a:endParaRPr>
          </a:p>
        </p:txBody>
      </p:sp>
      <p:sp>
        <p:nvSpPr>
          <p:cNvPr id="251" name="Google Shape;251;p13"/>
          <p:cNvSpPr/>
          <p:nvPr/>
        </p:nvSpPr>
        <p:spPr>
          <a:xfrm>
            <a:off x="1270000" y="2818204"/>
            <a:ext cx="4927500" cy="2481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300"/>
              <a:buFont typeface="IBM Plex Sans"/>
              <a:buNone/>
            </a:pPr>
            <a:r>
              <a:rPr b="0" i="0" lang="en-US" sz="1300" u="none" cap="none" strike="noStrike">
                <a:solidFill>
                  <a:srgbClr val="3B4A5E"/>
                </a:solidFill>
                <a:latin typeface="IBM Plex Sans"/>
                <a:ea typeface="IBM Plex Sans"/>
                <a:cs typeface="IBM Plex Sans"/>
                <a:sym typeface="IBM Plex Sans"/>
              </a:rPr>
              <a:t>Intervalos, cuantiles y probabilidad de cualquier evento</a:t>
            </a:r>
            <a:endParaRPr b="0" i="0" sz="1300" u="none" cap="none" strike="noStrike">
              <a:solidFill>
                <a:schemeClr val="dk1"/>
              </a:solidFill>
              <a:latin typeface="IBM Plex Sans"/>
              <a:ea typeface="IBM Plex Sans"/>
              <a:cs typeface="IBM Plex Sans"/>
              <a:sym typeface="IBM Plex Sans"/>
            </a:endParaRPr>
          </a:p>
        </p:txBody>
      </p:sp>
      <p:pic>
        <p:nvPicPr>
          <p:cNvPr descr="CheckCircle" id="252" name="Google Shape;252;p13"/>
          <p:cNvPicPr preferRelativeResize="0"/>
          <p:nvPr/>
        </p:nvPicPr>
        <p:blipFill rotWithShape="1">
          <a:blip r:embed="rId4">
            <a:alphaModFix/>
          </a:blip>
          <a:srcRect b="0" l="0" r="0" t="0"/>
          <a:stretch/>
        </p:blipFill>
        <p:spPr>
          <a:xfrm>
            <a:off x="6096000" y="2513404"/>
            <a:ext cx="304800" cy="304800"/>
          </a:xfrm>
          <a:prstGeom prst="rect">
            <a:avLst/>
          </a:prstGeom>
          <a:noFill/>
          <a:ln>
            <a:noFill/>
          </a:ln>
        </p:spPr>
      </p:pic>
      <p:sp>
        <p:nvSpPr>
          <p:cNvPr id="253" name="Google Shape;253;p13"/>
          <p:cNvSpPr/>
          <p:nvPr/>
        </p:nvSpPr>
        <p:spPr>
          <a:xfrm>
            <a:off x="6553200" y="2513404"/>
            <a:ext cx="3191400" cy="292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500"/>
              <a:buFont typeface="IBM Plex Sans"/>
              <a:buNone/>
            </a:pPr>
            <a:r>
              <a:rPr b="1" i="0" lang="en-US" sz="1500" u="none" cap="none" strike="noStrike">
                <a:solidFill>
                  <a:srgbClr val="0B2545"/>
                </a:solidFill>
                <a:latin typeface="IBM Plex Sans"/>
                <a:ea typeface="IBM Plex Sans"/>
                <a:cs typeface="IBM Plex Sans"/>
                <a:sym typeface="IBM Plex Sans"/>
              </a:rPr>
              <a:t>Incertidumbre que cambia con x</a:t>
            </a:r>
            <a:endParaRPr b="0" i="0" sz="1500" u="none" cap="none" strike="noStrike">
              <a:solidFill>
                <a:schemeClr val="dk1"/>
              </a:solidFill>
              <a:latin typeface="IBM Plex Sans"/>
              <a:ea typeface="IBM Plex Sans"/>
              <a:cs typeface="IBM Plex Sans"/>
              <a:sym typeface="IBM Plex Sans"/>
            </a:endParaRPr>
          </a:p>
        </p:txBody>
      </p:sp>
      <p:sp>
        <p:nvSpPr>
          <p:cNvPr id="254" name="Google Shape;254;p13"/>
          <p:cNvSpPr/>
          <p:nvPr/>
        </p:nvSpPr>
        <p:spPr>
          <a:xfrm>
            <a:off x="6553200" y="2818204"/>
            <a:ext cx="3718200" cy="2481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300"/>
              <a:buFont typeface="IBM Plex Sans"/>
              <a:buNone/>
            </a:pPr>
            <a:r>
              <a:rPr b="0" i="0" lang="en-US" sz="1300" u="none" cap="none" strike="noStrike">
                <a:solidFill>
                  <a:srgbClr val="3B4A5E"/>
                </a:solidFill>
                <a:latin typeface="IBM Plex Sans"/>
                <a:ea typeface="IBM Plex Sans"/>
                <a:cs typeface="IBM Plex Sans"/>
                <a:sym typeface="IBM Plex Sans"/>
              </a:rPr>
              <a:t>No supone varianza constante: la aprende</a:t>
            </a:r>
            <a:endParaRPr b="0" i="0" sz="1300" u="none" cap="none" strike="noStrike">
              <a:solidFill>
                <a:schemeClr val="dk1"/>
              </a:solidFill>
              <a:latin typeface="IBM Plex Sans"/>
              <a:ea typeface="IBM Plex Sans"/>
              <a:cs typeface="IBM Plex Sans"/>
              <a:sym typeface="IBM Plex Sans"/>
            </a:endParaRPr>
          </a:p>
        </p:txBody>
      </p:sp>
      <p:pic>
        <p:nvPicPr>
          <p:cNvPr descr="CheckCircle" id="255" name="Google Shape;255;p13"/>
          <p:cNvPicPr preferRelativeResize="0"/>
          <p:nvPr/>
        </p:nvPicPr>
        <p:blipFill rotWithShape="1">
          <a:blip r:embed="rId4">
            <a:alphaModFix/>
          </a:blip>
          <a:srcRect b="0" l="0" r="0" t="0"/>
          <a:stretch/>
        </p:blipFill>
        <p:spPr>
          <a:xfrm>
            <a:off x="812800" y="3041049"/>
            <a:ext cx="304800" cy="304800"/>
          </a:xfrm>
          <a:prstGeom prst="rect">
            <a:avLst/>
          </a:prstGeom>
          <a:noFill/>
          <a:ln>
            <a:noFill/>
          </a:ln>
        </p:spPr>
      </p:pic>
      <p:sp>
        <p:nvSpPr>
          <p:cNvPr id="256" name="Google Shape;256;p13"/>
          <p:cNvSpPr/>
          <p:nvPr/>
        </p:nvSpPr>
        <p:spPr>
          <a:xfrm>
            <a:off x="1270000" y="3041049"/>
            <a:ext cx="4284000" cy="292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500"/>
              <a:buFont typeface="IBM Plex Sans"/>
              <a:buNone/>
            </a:pPr>
            <a:r>
              <a:rPr b="1" i="0" lang="en-US" sz="1500" u="none" cap="none" strike="noStrike">
                <a:solidFill>
                  <a:srgbClr val="0B2545"/>
                </a:solidFill>
                <a:latin typeface="IBM Plex Sans"/>
                <a:ea typeface="IBM Plex Sans"/>
                <a:cs typeface="IBM Plex Sans"/>
                <a:sym typeface="IBM Plex Sans"/>
              </a:rPr>
              <a:t>Modular</a:t>
            </a:r>
            <a:endParaRPr b="0" i="0" sz="1500" u="none" cap="none" strike="noStrike">
              <a:solidFill>
                <a:schemeClr val="dk1"/>
              </a:solidFill>
              <a:latin typeface="IBM Plex Sans"/>
              <a:ea typeface="IBM Plex Sans"/>
              <a:cs typeface="IBM Plex Sans"/>
              <a:sym typeface="IBM Plex Sans"/>
            </a:endParaRPr>
          </a:p>
        </p:txBody>
      </p:sp>
      <p:sp>
        <p:nvSpPr>
          <p:cNvPr id="257" name="Google Shape;257;p13"/>
          <p:cNvSpPr/>
          <p:nvPr/>
        </p:nvSpPr>
        <p:spPr>
          <a:xfrm>
            <a:off x="1270000" y="3345849"/>
            <a:ext cx="4991100" cy="2481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300"/>
              <a:buFont typeface="IBM Plex Sans"/>
              <a:buNone/>
            </a:pPr>
            <a:r>
              <a:rPr b="0" i="0" lang="en-US" sz="1300" u="none" cap="none" strike="noStrike">
                <a:solidFill>
                  <a:srgbClr val="3B4A5E"/>
                </a:solidFill>
                <a:latin typeface="IBM Plex Sans"/>
                <a:ea typeface="IBM Plex Sans"/>
                <a:cs typeface="IBM Plex Sans"/>
                <a:sym typeface="IBM Plex Sans"/>
              </a:rPr>
              <a:t>Distribución, scoring rule y base learner intercambiables</a:t>
            </a:r>
            <a:endParaRPr b="0" i="0" sz="1300" u="none" cap="none" strike="noStrike">
              <a:solidFill>
                <a:schemeClr val="dk1"/>
              </a:solidFill>
              <a:latin typeface="IBM Plex Sans"/>
              <a:ea typeface="IBM Plex Sans"/>
              <a:cs typeface="IBM Plex Sans"/>
              <a:sym typeface="IBM Plex Sans"/>
            </a:endParaRPr>
          </a:p>
        </p:txBody>
      </p:sp>
      <p:pic>
        <p:nvPicPr>
          <p:cNvPr descr="CheckCircle" id="258" name="Google Shape;258;p13"/>
          <p:cNvPicPr preferRelativeResize="0"/>
          <p:nvPr/>
        </p:nvPicPr>
        <p:blipFill rotWithShape="1">
          <a:blip r:embed="rId4">
            <a:alphaModFix/>
          </a:blip>
          <a:srcRect b="0" l="0" r="0" t="0"/>
          <a:stretch/>
        </p:blipFill>
        <p:spPr>
          <a:xfrm>
            <a:off x="6096000" y="3041049"/>
            <a:ext cx="304800" cy="304800"/>
          </a:xfrm>
          <a:prstGeom prst="rect">
            <a:avLst/>
          </a:prstGeom>
          <a:noFill/>
          <a:ln>
            <a:noFill/>
          </a:ln>
        </p:spPr>
      </p:pic>
      <p:sp>
        <p:nvSpPr>
          <p:cNvPr id="259" name="Google Shape;259;p13"/>
          <p:cNvSpPr/>
          <p:nvPr/>
        </p:nvSpPr>
        <p:spPr>
          <a:xfrm>
            <a:off x="6553200" y="3041049"/>
            <a:ext cx="4662600" cy="292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500"/>
              <a:buFont typeface="IBM Plex Sans"/>
              <a:buNone/>
            </a:pPr>
            <a:r>
              <a:rPr b="1" i="0" lang="en-US" sz="1500" u="none" cap="none" strike="noStrike">
                <a:solidFill>
                  <a:srgbClr val="0B2545"/>
                </a:solidFill>
                <a:latin typeface="IBM Plex Sans"/>
                <a:ea typeface="IBM Plex Sans"/>
                <a:cs typeface="IBM Plex Sans"/>
                <a:sym typeface="IBM Plex Sans"/>
              </a:rPr>
              <a:t>Un paquete, varios problemas</a:t>
            </a:r>
            <a:endParaRPr b="0" i="0" sz="1500" u="none" cap="none" strike="noStrike">
              <a:solidFill>
                <a:schemeClr val="dk1"/>
              </a:solidFill>
              <a:latin typeface="IBM Plex Sans"/>
              <a:ea typeface="IBM Plex Sans"/>
              <a:cs typeface="IBM Plex Sans"/>
              <a:sym typeface="IBM Plex Sans"/>
            </a:endParaRPr>
          </a:p>
        </p:txBody>
      </p:sp>
      <p:sp>
        <p:nvSpPr>
          <p:cNvPr id="260" name="Google Shape;260;p13"/>
          <p:cNvSpPr/>
          <p:nvPr/>
        </p:nvSpPr>
        <p:spPr>
          <a:xfrm>
            <a:off x="6553200" y="3345849"/>
            <a:ext cx="5432100" cy="2481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300"/>
              <a:buFont typeface="IBM Plex Sans"/>
              <a:buNone/>
            </a:pPr>
            <a:r>
              <a:rPr b="0" i="0" lang="en-US" sz="1300" u="none" cap="none" strike="noStrike">
                <a:solidFill>
                  <a:srgbClr val="3B4A5E"/>
                </a:solidFill>
                <a:latin typeface="IBM Plex Sans"/>
                <a:ea typeface="IBM Plex Sans"/>
                <a:cs typeface="IBM Plex Sans"/>
                <a:sym typeface="IBM Plex Sans"/>
              </a:rPr>
              <a:t>Regresión, clasificación, conteos y supervivencia con censura</a:t>
            </a:r>
            <a:endParaRPr b="0" i="0" sz="1300" u="none" cap="none" strike="noStrike">
              <a:solidFill>
                <a:schemeClr val="dk1"/>
              </a:solidFill>
              <a:latin typeface="IBM Plex Sans"/>
              <a:ea typeface="IBM Plex Sans"/>
              <a:cs typeface="IBM Plex Sans"/>
              <a:sym typeface="IBM Plex Sans"/>
            </a:endParaRPr>
          </a:p>
        </p:txBody>
      </p:sp>
      <p:pic>
        <p:nvPicPr>
          <p:cNvPr descr="CheckCircle" id="261" name="Google Shape;261;p13"/>
          <p:cNvPicPr preferRelativeResize="0"/>
          <p:nvPr/>
        </p:nvPicPr>
        <p:blipFill rotWithShape="1">
          <a:blip r:embed="rId4">
            <a:alphaModFix/>
          </a:blip>
          <a:srcRect b="0" l="0" r="0" t="0"/>
          <a:stretch/>
        </p:blipFill>
        <p:spPr>
          <a:xfrm>
            <a:off x="812800" y="3568693"/>
            <a:ext cx="304800" cy="304800"/>
          </a:xfrm>
          <a:prstGeom prst="rect">
            <a:avLst/>
          </a:prstGeom>
          <a:noFill/>
          <a:ln>
            <a:noFill/>
          </a:ln>
        </p:spPr>
      </p:pic>
      <p:sp>
        <p:nvSpPr>
          <p:cNvPr id="262" name="Google Shape;262;p13"/>
          <p:cNvSpPr/>
          <p:nvPr/>
        </p:nvSpPr>
        <p:spPr>
          <a:xfrm>
            <a:off x="1270000" y="3568693"/>
            <a:ext cx="4476300" cy="292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500"/>
              <a:buFont typeface="IBM Plex Sans"/>
              <a:buNone/>
            </a:pPr>
            <a:r>
              <a:rPr b="1" i="0" lang="en-US" sz="1500" u="none" cap="none" strike="noStrike">
                <a:solidFill>
                  <a:srgbClr val="0B2545"/>
                </a:solidFill>
                <a:latin typeface="IBM Plex Sans"/>
                <a:ea typeface="IBM Plex Sans"/>
                <a:cs typeface="IBM Plex Sans"/>
                <a:sym typeface="IBM Plex Sans"/>
              </a:rPr>
              <a:t>Predicción puntual competitiva</a:t>
            </a:r>
            <a:endParaRPr b="0" i="0" sz="1500" u="none" cap="none" strike="noStrike">
              <a:solidFill>
                <a:schemeClr val="dk1"/>
              </a:solidFill>
              <a:latin typeface="IBM Plex Sans"/>
              <a:ea typeface="IBM Plex Sans"/>
              <a:cs typeface="IBM Plex Sans"/>
              <a:sym typeface="IBM Plex Sans"/>
            </a:endParaRPr>
          </a:p>
        </p:txBody>
      </p:sp>
      <p:sp>
        <p:nvSpPr>
          <p:cNvPr id="263" name="Google Shape;263;p13"/>
          <p:cNvSpPr/>
          <p:nvPr/>
        </p:nvSpPr>
        <p:spPr>
          <a:xfrm>
            <a:off x="1270000" y="3873494"/>
            <a:ext cx="5214900" cy="2481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300"/>
              <a:buFont typeface="IBM Plex Sans"/>
              <a:buNone/>
            </a:pPr>
            <a:r>
              <a:rPr b="0" i="0" lang="en-US" sz="1300" u="none" cap="none" strike="noStrike">
                <a:solidFill>
                  <a:srgbClr val="3B4A5E"/>
                </a:solidFill>
                <a:latin typeface="IBM Plex Sans"/>
                <a:ea typeface="IBM Plex Sans"/>
                <a:cs typeface="IBM Plex Sans"/>
                <a:sym typeface="IBM Plex Sans"/>
              </a:rPr>
              <a:t>Cerca de Gradient Boosting, en el paper y en nuestra demo</a:t>
            </a:r>
            <a:endParaRPr b="0" i="0" sz="1300" u="none" cap="none" strike="noStrike">
              <a:solidFill>
                <a:schemeClr val="dk1"/>
              </a:solidFill>
              <a:latin typeface="IBM Plex Sans"/>
              <a:ea typeface="IBM Plex Sans"/>
              <a:cs typeface="IBM Plex Sans"/>
              <a:sym typeface="IBM Plex Sans"/>
            </a:endParaRPr>
          </a:p>
        </p:txBody>
      </p:sp>
      <p:pic>
        <p:nvPicPr>
          <p:cNvPr descr="CheckCircle" id="264" name="Google Shape;264;p13"/>
          <p:cNvPicPr preferRelativeResize="0"/>
          <p:nvPr/>
        </p:nvPicPr>
        <p:blipFill rotWithShape="1">
          <a:blip r:embed="rId5">
            <a:alphaModFix/>
          </a:blip>
          <a:srcRect b="0" l="-442" r="-442" t="0"/>
          <a:stretch/>
        </p:blipFill>
        <p:spPr>
          <a:xfrm>
            <a:off x="6096000" y="3568693"/>
            <a:ext cx="243433" cy="304800"/>
          </a:xfrm>
          <a:prstGeom prst="rect">
            <a:avLst/>
          </a:prstGeom>
          <a:noFill/>
          <a:ln>
            <a:noFill/>
          </a:ln>
        </p:spPr>
      </p:pic>
      <p:sp>
        <p:nvSpPr>
          <p:cNvPr id="265" name="Google Shape;265;p13"/>
          <p:cNvSpPr/>
          <p:nvPr/>
        </p:nvSpPr>
        <p:spPr>
          <a:xfrm>
            <a:off x="6491833" y="3568693"/>
            <a:ext cx="5034000" cy="292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500"/>
              <a:buFont typeface="IBM Plex Sans"/>
              <a:buNone/>
            </a:pPr>
            <a:r>
              <a:rPr b="1" i="0" lang="en-US" sz="1500" u="none" cap="none" strike="noStrike">
                <a:solidFill>
                  <a:srgbClr val="0B2545"/>
                </a:solidFill>
                <a:latin typeface="IBM Plex Sans"/>
                <a:ea typeface="IBM Plex Sans"/>
                <a:cs typeface="IBM Plex Sans"/>
                <a:sym typeface="IBM Plex Sans"/>
              </a:rPr>
              <a:t>Fácil y estable</a:t>
            </a:r>
            <a:endParaRPr b="0" i="0" sz="1500" u="none" cap="none" strike="noStrike">
              <a:solidFill>
                <a:schemeClr val="dk1"/>
              </a:solidFill>
              <a:latin typeface="IBM Plex Sans"/>
              <a:ea typeface="IBM Plex Sans"/>
              <a:cs typeface="IBM Plex Sans"/>
              <a:sym typeface="IBM Plex Sans"/>
            </a:endParaRPr>
          </a:p>
        </p:txBody>
      </p:sp>
      <p:sp>
        <p:nvSpPr>
          <p:cNvPr id="266" name="Google Shape;266;p13"/>
          <p:cNvSpPr/>
          <p:nvPr/>
        </p:nvSpPr>
        <p:spPr>
          <a:xfrm>
            <a:off x="6491833" y="3873494"/>
            <a:ext cx="5034000" cy="4710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300"/>
              <a:buFont typeface="IBM Plex Sans"/>
              <a:buNone/>
            </a:pPr>
            <a:r>
              <a:rPr b="0" i="0" lang="en-US" sz="1300" u="none" cap="none" strike="noStrike">
                <a:solidFill>
                  <a:srgbClr val="3B4A5E"/>
                </a:solidFill>
                <a:latin typeface="IBM Plex Sans"/>
                <a:ea typeface="IBM Plex Sans"/>
                <a:cs typeface="IBM Plex Sans"/>
                <a:sym typeface="IBM Plex Sans"/>
              </a:rPr>
              <a:t>API de sklearn, sin MCMC ni priors; el gradiente natural estabiliza el entrenamiento</a:t>
            </a:r>
            <a:endParaRPr b="0" i="0" sz="1300" u="none" cap="none" strike="noStrike">
              <a:solidFill>
                <a:schemeClr val="dk1"/>
              </a:solidFill>
              <a:latin typeface="IBM Plex Sans"/>
              <a:ea typeface="IBM Plex Sans"/>
              <a:cs typeface="IBM Plex Sans"/>
              <a:sym typeface="IBM Plex Sans"/>
            </a:endParaRPr>
          </a:p>
        </p:txBody>
      </p:sp>
      <p:sp>
        <p:nvSpPr>
          <p:cNvPr id="267" name="Google Shape;267;p13"/>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A8F"/>
              </a:buClr>
              <a:buSzPts val="1200"/>
              <a:buFont typeface="IBM Plex Sans"/>
              <a:buNone/>
            </a:pPr>
            <a:r>
              <a:rPr b="0" i="0" lang="en-US" sz="1200" u="none" cap="none" strike="noStrike">
                <a:solidFill>
                  <a:srgbClr val="6B7A8F"/>
                </a:solidFill>
                <a:latin typeface="IBM Plex Sans"/>
                <a:ea typeface="IBM Plex Sans"/>
                <a:cs typeface="IBM Plex Sans"/>
                <a:sym typeface="IBM Plex Sans"/>
              </a:rPr>
              <a:t>NGBoost · Análisis Predictivo · 13</a:t>
            </a:r>
            <a:endParaRPr b="0" i="0" sz="1200" u="none" cap="none" strike="noStrike">
              <a:solidFill>
                <a:schemeClr val="dk1"/>
              </a:solidFill>
              <a:latin typeface="IBM Plex Sans"/>
              <a:ea typeface="IBM Plex Sans"/>
              <a:cs typeface="IBM Plex Sans"/>
              <a:sym typeface="IBM Plex Sans"/>
            </a:endParaRPr>
          </a:p>
        </p:txBody>
      </p:sp>
      <p:sp>
        <p:nvSpPr>
          <p:cNvPr id="268" name="Google Shape;268;p13"/>
          <p:cNvSpPr txBox="1"/>
          <p:nvPr>
            <p:ph type="title"/>
          </p:nvPr>
        </p:nvSpPr>
        <p:spPr>
          <a:xfrm>
            <a:off x="1691700" y="1186825"/>
            <a:ext cx="10883400" cy="492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chemeClr val="dk1"/>
              </a:buClr>
              <a:buSzPts val="3200"/>
              <a:buFont typeface="IBM Plex Sans"/>
              <a:buNone/>
            </a:pPr>
            <a:r>
              <a:rPr b="1" lang="en-US">
                <a:solidFill>
                  <a:schemeClr val="dk1"/>
                </a:solidFill>
              </a:rPr>
              <a:t>Ventajas</a:t>
            </a:r>
            <a:endParaRPr b="1"/>
          </a:p>
        </p:txBody>
      </p:sp>
      <p:pic>
        <p:nvPicPr>
          <p:cNvPr id="269" name="Google Shape;269;p13"/>
          <p:cNvPicPr preferRelativeResize="0"/>
          <p:nvPr/>
        </p:nvPicPr>
        <p:blipFill>
          <a:blip r:embed="rId6">
            <a:alphaModFix/>
          </a:blip>
          <a:stretch>
            <a:fillRect/>
          </a:stretch>
        </p:blipFill>
        <p:spPr>
          <a:xfrm>
            <a:off x="812800" y="1130462"/>
            <a:ext cx="605325" cy="6053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4" name="Shape 274"/>
        <p:cNvGrpSpPr/>
        <p:nvPr/>
      </p:nvGrpSpPr>
      <p:grpSpPr>
        <a:xfrm>
          <a:off x="0" y="0"/>
          <a:ext cx="0" cy="0"/>
          <a:chOff x="0" y="0"/>
          <a:chExt cx="0" cy="0"/>
        </a:xfrm>
      </p:grpSpPr>
      <p:sp>
        <p:nvSpPr>
          <p:cNvPr id="275" name="Google Shape;275;p14"/>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560F"/>
              </a:buClr>
              <a:buSzPts val="1200"/>
              <a:buFont typeface="IBM Plex Sans"/>
              <a:buNone/>
            </a:pPr>
            <a:r>
              <a:rPr b="1" i="0" lang="en-US" sz="1200" u="none" cap="none" strike="noStrike">
                <a:solidFill>
                  <a:srgbClr val="C2560F"/>
                </a:solidFill>
                <a:latin typeface="IBM Plex Sans"/>
                <a:ea typeface="IBM Plex Sans"/>
                <a:cs typeface="IBM Plex Sans"/>
                <a:sym typeface="IBM Plex Sans"/>
              </a:rPr>
              <a:t>BALANCE</a:t>
            </a:r>
            <a:endParaRPr b="0" i="0" sz="1200" u="none" cap="none" strike="noStrike">
              <a:solidFill>
                <a:schemeClr val="dk1"/>
              </a:solidFill>
              <a:latin typeface="IBM Plex Sans"/>
              <a:ea typeface="IBM Plex Sans"/>
              <a:cs typeface="IBM Plex Sans"/>
              <a:sym typeface="IBM Plex Sans"/>
            </a:endParaRPr>
          </a:p>
        </p:txBody>
      </p:sp>
      <p:pic>
        <p:nvPicPr>
          <p:cNvPr descr="Warning" id="276" name="Google Shape;276;p14"/>
          <p:cNvPicPr preferRelativeResize="0"/>
          <p:nvPr/>
        </p:nvPicPr>
        <p:blipFill rotWithShape="1">
          <a:blip r:embed="rId4">
            <a:alphaModFix/>
          </a:blip>
          <a:srcRect b="-578" l="0" r="0" t="-578"/>
          <a:stretch/>
        </p:blipFill>
        <p:spPr>
          <a:xfrm>
            <a:off x="812800" y="2290554"/>
            <a:ext cx="257373" cy="304800"/>
          </a:xfrm>
          <a:prstGeom prst="rect">
            <a:avLst/>
          </a:prstGeom>
          <a:noFill/>
          <a:ln>
            <a:noFill/>
          </a:ln>
        </p:spPr>
      </p:pic>
      <p:sp>
        <p:nvSpPr>
          <p:cNvPr id="277" name="Google Shape;277;p14"/>
          <p:cNvSpPr/>
          <p:nvPr/>
        </p:nvSpPr>
        <p:spPr>
          <a:xfrm>
            <a:off x="1222573" y="2290554"/>
            <a:ext cx="5019600" cy="292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500"/>
              <a:buFont typeface="IBM Plex Sans"/>
              <a:buNone/>
            </a:pPr>
            <a:r>
              <a:rPr b="1" i="0" lang="en-US" sz="1500" u="none" cap="none" strike="noStrike">
                <a:solidFill>
                  <a:srgbClr val="0B2545"/>
                </a:solidFill>
                <a:latin typeface="IBM Plex Sans"/>
                <a:ea typeface="IBM Plex Sans"/>
                <a:cs typeface="IBM Plex Sans"/>
                <a:sym typeface="IBM Plex Sans"/>
              </a:rPr>
              <a:t>Hay que elegir la familia</a:t>
            </a:r>
            <a:endParaRPr b="0" i="0" sz="1500" u="none" cap="none" strike="noStrike">
              <a:solidFill>
                <a:schemeClr val="dk1"/>
              </a:solidFill>
              <a:latin typeface="IBM Plex Sans"/>
              <a:ea typeface="IBM Plex Sans"/>
              <a:cs typeface="IBM Plex Sans"/>
              <a:sym typeface="IBM Plex Sans"/>
            </a:endParaRPr>
          </a:p>
        </p:txBody>
      </p:sp>
      <p:sp>
        <p:nvSpPr>
          <p:cNvPr id="278" name="Google Shape;278;p14"/>
          <p:cNvSpPr/>
          <p:nvPr/>
        </p:nvSpPr>
        <p:spPr>
          <a:xfrm>
            <a:off x="1222573" y="2595354"/>
            <a:ext cx="5019600" cy="4710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300"/>
              <a:buFont typeface="IBM Plex Sans"/>
              <a:buNone/>
            </a:pPr>
            <a:r>
              <a:rPr b="0" i="0" lang="en-US" sz="1300" u="none" cap="none" strike="noStrike">
                <a:solidFill>
                  <a:srgbClr val="3B4A5E"/>
                </a:solidFill>
                <a:latin typeface="IBM Plex Sans"/>
                <a:ea typeface="IBM Plex Sans"/>
                <a:cs typeface="IBM Plex Sans"/>
                <a:sym typeface="IBM Plex Sans"/>
              </a:rPr>
              <a:t>Si no encaja (asimetría, dos picos, un tope), el modelo queda mal especificado</a:t>
            </a:r>
            <a:endParaRPr b="0" i="0" sz="1300" u="none" cap="none" strike="noStrike">
              <a:solidFill>
                <a:schemeClr val="dk1"/>
              </a:solidFill>
              <a:latin typeface="IBM Plex Sans"/>
              <a:ea typeface="IBM Plex Sans"/>
              <a:cs typeface="IBM Plex Sans"/>
              <a:sym typeface="IBM Plex Sans"/>
            </a:endParaRPr>
          </a:p>
        </p:txBody>
      </p:sp>
      <p:pic>
        <p:nvPicPr>
          <p:cNvPr descr="Warning" id="279" name="Google Shape;279;p14"/>
          <p:cNvPicPr preferRelativeResize="0"/>
          <p:nvPr/>
        </p:nvPicPr>
        <p:blipFill rotWithShape="1">
          <a:blip r:embed="rId5">
            <a:alphaModFix/>
          </a:blip>
          <a:srcRect b="-170" l="0" r="0" t="-170"/>
          <a:stretch/>
        </p:blipFill>
        <p:spPr>
          <a:xfrm>
            <a:off x="6096000" y="2290554"/>
            <a:ext cx="234156" cy="304800"/>
          </a:xfrm>
          <a:prstGeom prst="rect">
            <a:avLst/>
          </a:prstGeom>
          <a:noFill/>
          <a:ln>
            <a:noFill/>
          </a:ln>
        </p:spPr>
      </p:pic>
      <p:sp>
        <p:nvSpPr>
          <p:cNvPr id="280" name="Google Shape;280;p14"/>
          <p:cNvSpPr/>
          <p:nvPr/>
        </p:nvSpPr>
        <p:spPr>
          <a:xfrm>
            <a:off x="6482556" y="2290554"/>
            <a:ext cx="5043600" cy="292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500"/>
              <a:buFont typeface="IBM Plex Sans"/>
              <a:buNone/>
            </a:pPr>
            <a:r>
              <a:rPr b="1" i="0" lang="en-US" sz="1500" u="none" cap="none" strike="noStrike">
                <a:solidFill>
                  <a:srgbClr val="0B2545"/>
                </a:solidFill>
                <a:latin typeface="IBM Plex Sans"/>
                <a:ea typeface="IBM Plex Sans"/>
                <a:cs typeface="IBM Plex Sans"/>
                <a:sym typeface="IBM Plex Sans"/>
              </a:rPr>
              <a:t>Más lento</a:t>
            </a:r>
            <a:endParaRPr b="0" i="0" sz="1500" u="none" cap="none" strike="noStrike">
              <a:solidFill>
                <a:schemeClr val="dk1"/>
              </a:solidFill>
              <a:latin typeface="IBM Plex Sans"/>
              <a:ea typeface="IBM Plex Sans"/>
              <a:cs typeface="IBM Plex Sans"/>
              <a:sym typeface="IBM Plex Sans"/>
            </a:endParaRPr>
          </a:p>
        </p:txBody>
      </p:sp>
      <p:sp>
        <p:nvSpPr>
          <p:cNvPr id="281" name="Google Shape;281;p14"/>
          <p:cNvSpPr/>
          <p:nvPr/>
        </p:nvSpPr>
        <p:spPr>
          <a:xfrm>
            <a:off x="6482556" y="2595354"/>
            <a:ext cx="5043600" cy="4710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300"/>
              <a:buFont typeface="IBM Plex Sans"/>
              <a:buNone/>
            </a:pPr>
            <a:r>
              <a:rPr b="0" i="0" lang="en-US" sz="1300" u="none" cap="none" strike="noStrike">
                <a:solidFill>
                  <a:srgbClr val="3B4A5E"/>
                </a:solidFill>
                <a:latin typeface="IBM Plex Sans"/>
                <a:ea typeface="IBM Plex Sans"/>
                <a:cs typeface="IBM Plex Sans"/>
                <a:sym typeface="IBM Plex Sans"/>
              </a:rPr>
              <a:t>p árboles por etapa y muchas iteraciones; en Python, bastante más lento que XGBoost</a:t>
            </a:r>
            <a:endParaRPr b="0" i="0" sz="1300" u="none" cap="none" strike="noStrike">
              <a:solidFill>
                <a:schemeClr val="dk1"/>
              </a:solidFill>
              <a:latin typeface="IBM Plex Sans"/>
              <a:ea typeface="IBM Plex Sans"/>
              <a:cs typeface="IBM Plex Sans"/>
              <a:sym typeface="IBM Plex Sans"/>
            </a:endParaRPr>
          </a:p>
        </p:txBody>
      </p:sp>
      <p:pic>
        <p:nvPicPr>
          <p:cNvPr descr="Warning" id="282" name="Google Shape;282;p14"/>
          <p:cNvPicPr preferRelativeResize="0"/>
          <p:nvPr/>
        </p:nvPicPr>
        <p:blipFill rotWithShape="1">
          <a:blip r:embed="rId6">
            <a:alphaModFix/>
          </a:blip>
          <a:srcRect b="0" l="0" r="0" t="0"/>
          <a:stretch/>
        </p:blipFill>
        <p:spPr>
          <a:xfrm>
            <a:off x="812800" y="3064275"/>
            <a:ext cx="304800" cy="304800"/>
          </a:xfrm>
          <a:prstGeom prst="rect">
            <a:avLst/>
          </a:prstGeom>
          <a:noFill/>
          <a:ln>
            <a:noFill/>
          </a:ln>
        </p:spPr>
      </p:pic>
      <p:sp>
        <p:nvSpPr>
          <p:cNvPr id="283" name="Google Shape;283;p14"/>
          <p:cNvSpPr/>
          <p:nvPr/>
        </p:nvSpPr>
        <p:spPr>
          <a:xfrm>
            <a:off x="1270000" y="3064275"/>
            <a:ext cx="4683000" cy="292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500"/>
              <a:buFont typeface="IBM Plex Sans"/>
              <a:buNone/>
            </a:pPr>
            <a:r>
              <a:rPr b="1" i="0" lang="en-US" sz="1500" u="none" cap="none" strike="noStrike">
                <a:solidFill>
                  <a:srgbClr val="0B2545"/>
                </a:solidFill>
                <a:latin typeface="IBM Plex Sans"/>
                <a:ea typeface="IBM Plex Sans"/>
                <a:cs typeface="IBM Plex Sans"/>
                <a:sym typeface="IBM Plex Sans"/>
              </a:rPr>
              <a:t>No siempre gana</a:t>
            </a:r>
            <a:endParaRPr b="0" i="0" sz="1500" u="none" cap="none" strike="noStrike">
              <a:solidFill>
                <a:schemeClr val="dk1"/>
              </a:solidFill>
              <a:latin typeface="IBM Plex Sans"/>
              <a:ea typeface="IBM Plex Sans"/>
              <a:cs typeface="IBM Plex Sans"/>
              <a:sym typeface="IBM Plex Sans"/>
            </a:endParaRPr>
          </a:p>
        </p:txBody>
      </p:sp>
      <p:sp>
        <p:nvSpPr>
          <p:cNvPr id="284" name="Google Shape;284;p14"/>
          <p:cNvSpPr/>
          <p:nvPr/>
        </p:nvSpPr>
        <p:spPr>
          <a:xfrm>
            <a:off x="1270000" y="3369075"/>
            <a:ext cx="5263200" cy="2481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300"/>
              <a:buFont typeface="IBM Plex Sans"/>
              <a:buNone/>
            </a:pPr>
            <a:r>
              <a:rPr b="0" i="0" lang="en-US" sz="1300" u="none" cap="none" strike="noStrike">
                <a:solidFill>
                  <a:srgbClr val="3B4A5E"/>
                </a:solidFill>
                <a:latin typeface="IBM Plex Sans"/>
                <a:ea typeface="IBM Plex Sans"/>
                <a:cs typeface="IBM Plex Sans"/>
                <a:sym typeface="IBM Plex Sans"/>
              </a:rPr>
              <a:t>En algunos datasets lo superan otros métodos probabilísticos</a:t>
            </a:r>
            <a:endParaRPr b="0" i="0" sz="1300" u="none" cap="none" strike="noStrike">
              <a:solidFill>
                <a:schemeClr val="dk1"/>
              </a:solidFill>
              <a:latin typeface="IBM Plex Sans"/>
              <a:ea typeface="IBM Plex Sans"/>
              <a:cs typeface="IBM Plex Sans"/>
              <a:sym typeface="IBM Plex Sans"/>
            </a:endParaRPr>
          </a:p>
        </p:txBody>
      </p:sp>
      <p:pic>
        <p:nvPicPr>
          <p:cNvPr descr="Warning" id="285" name="Google Shape;285;p14"/>
          <p:cNvPicPr preferRelativeResize="0"/>
          <p:nvPr/>
        </p:nvPicPr>
        <p:blipFill rotWithShape="1">
          <a:blip r:embed="rId7">
            <a:alphaModFix/>
          </a:blip>
          <a:srcRect b="-148" l="0" r="0" t="-148"/>
          <a:stretch/>
        </p:blipFill>
        <p:spPr>
          <a:xfrm>
            <a:off x="6096000" y="3064275"/>
            <a:ext cx="284907" cy="304800"/>
          </a:xfrm>
          <a:prstGeom prst="rect">
            <a:avLst/>
          </a:prstGeom>
          <a:noFill/>
          <a:ln>
            <a:noFill/>
          </a:ln>
        </p:spPr>
      </p:pic>
      <p:sp>
        <p:nvSpPr>
          <p:cNvPr id="286" name="Google Shape;286;p14"/>
          <p:cNvSpPr/>
          <p:nvPr/>
        </p:nvSpPr>
        <p:spPr>
          <a:xfrm>
            <a:off x="6533307" y="3064275"/>
            <a:ext cx="4991400" cy="292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500"/>
              <a:buFont typeface="IBM Plex Sans"/>
              <a:buNone/>
            </a:pPr>
            <a:r>
              <a:rPr b="1" i="0" lang="en-US" sz="1500" u="none" cap="none" strike="noStrike">
                <a:solidFill>
                  <a:srgbClr val="0B2545"/>
                </a:solidFill>
                <a:latin typeface="IBM Plex Sans"/>
                <a:ea typeface="IBM Plex Sans"/>
                <a:cs typeface="IBM Plex Sans"/>
                <a:sym typeface="IBM Plex Sans"/>
              </a:rPr>
              <a:t>Si solo importa el número</a:t>
            </a:r>
            <a:endParaRPr b="0" i="0" sz="1500" u="none" cap="none" strike="noStrike">
              <a:solidFill>
                <a:schemeClr val="dk1"/>
              </a:solidFill>
              <a:latin typeface="IBM Plex Sans"/>
              <a:ea typeface="IBM Plex Sans"/>
              <a:cs typeface="IBM Plex Sans"/>
              <a:sym typeface="IBM Plex Sans"/>
            </a:endParaRPr>
          </a:p>
        </p:txBody>
      </p:sp>
      <p:sp>
        <p:nvSpPr>
          <p:cNvPr id="287" name="Google Shape;287;p14"/>
          <p:cNvSpPr/>
          <p:nvPr/>
        </p:nvSpPr>
        <p:spPr>
          <a:xfrm>
            <a:off x="6533307" y="3369075"/>
            <a:ext cx="4991400" cy="4710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300"/>
              <a:buFont typeface="IBM Plex Sans"/>
              <a:buNone/>
            </a:pPr>
            <a:r>
              <a:rPr b="0" i="0" lang="en-US" sz="1300" u="none" cap="none" strike="noStrike">
                <a:solidFill>
                  <a:srgbClr val="3B4A5E"/>
                </a:solidFill>
                <a:latin typeface="IBM Plex Sans"/>
                <a:ea typeface="IBM Plex Sans"/>
                <a:cs typeface="IBM Plex Sans"/>
                <a:sym typeface="IBM Plex Sans"/>
              </a:rPr>
              <a:t>Un boosting clásico bien tuneado rinde igual o mejor, con menos costo</a:t>
            </a:r>
            <a:endParaRPr b="0" i="0" sz="1300" u="none" cap="none" strike="noStrike">
              <a:solidFill>
                <a:schemeClr val="dk1"/>
              </a:solidFill>
              <a:latin typeface="IBM Plex Sans"/>
              <a:ea typeface="IBM Plex Sans"/>
              <a:cs typeface="IBM Plex Sans"/>
              <a:sym typeface="IBM Plex Sans"/>
            </a:endParaRPr>
          </a:p>
        </p:txBody>
      </p:sp>
      <p:pic>
        <p:nvPicPr>
          <p:cNvPr descr="Warning" id="288" name="Google Shape;288;p14"/>
          <p:cNvPicPr preferRelativeResize="0"/>
          <p:nvPr/>
        </p:nvPicPr>
        <p:blipFill rotWithShape="1">
          <a:blip r:embed="rId6">
            <a:alphaModFix/>
          </a:blip>
          <a:srcRect b="0" l="0" r="0" t="0"/>
          <a:stretch/>
        </p:blipFill>
        <p:spPr>
          <a:xfrm>
            <a:off x="812800" y="3814766"/>
            <a:ext cx="304800" cy="304800"/>
          </a:xfrm>
          <a:prstGeom prst="rect">
            <a:avLst/>
          </a:prstGeom>
          <a:noFill/>
          <a:ln>
            <a:noFill/>
          </a:ln>
        </p:spPr>
      </p:pic>
      <p:sp>
        <p:nvSpPr>
          <p:cNvPr id="289" name="Google Shape;289;p14"/>
          <p:cNvSpPr/>
          <p:nvPr/>
        </p:nvSpPr>
        <p:spPr>
          <a:xfrm>
            <a:off x="1270000" y="3814766"/>
            <a:ext cx="3472500" cy="292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500"/>
              <a:buFont typeface="IBM Plex Sans"/>
              <a:buNone/>
            </a:pPr>
            <a:r>
              <a:rPr b="1" i="0" lang="en-US" sz="1500" u="none" cap="none" strike="noStrike">
                <a:solidFill>
                  <a:srgbClr val="0B2545"/>
                </a:solidFill>
                <a:latin typeface="IBM Plex Sans"/>
                <a:ea typeface="IBM Plex Sans"/>
                <a:cs typeface="IBM Plex Sans"/>
                <a:sym typeface="IBM Plex Sans"/>
              </a:rPr>
              <a:t>Interpretabilidad limitada</a:t>
            </a:r>
            <a:endParaRPr b="0" i="0" sz="1500" u="none" cap="none" strike="noStrike">
              <a:solidFill>
                <a:schemeClr val="dk1"/>
              </a:solidFill>
              <a:latin typeface="IBM Plex Sans"/>
              <a:ea typeface="IBM Plex Sans"/>
              <a:cs typeface="IBM Plex Sans"/>
              <a:sym typeface="IBM Plex Sans"/>
            </a:endParaRPr>
          </a:p>
        </p:txBody>
      </p:sp>
      <p:sp>
        <p:nvSpPr>
          <p:cNvPr id="290" name="Google Shape;290;p14"/>
          <p:cNvSpPr/>
          <p:nvPr/>
        </p:nvSpPr>
        <p:spPr>
          <a:xfrm>
            <a:off x="1270000" y="4119566"/>
            <a:ext cx="4045500" cy="2481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300"/>
              <a:buFont typeface="IBM Plex Sans"/>
              <a:buNone/>
            </a:pPr>
            <a:r>
              <a:rPr b="0" i="0" lang="en-US" sz="1300" u="none" cap="none" strike="noStrike">
                <a:solidFill>
                  <a:srgbClr val="3B4A5E"/>
                </a:solidFill>
                <a:latin typeface="IBM Plex Sans"/>
                <a:ea typeface="IBM Plex Sans"/>
                <a:cs typeface="IBM Plex Sans"/>
                <a:sym typeface="IBM Plex Sans"/>
              </a:rPr>
              <a:t>Un ensamble de árboles para cada parámetro</a:t>
            </a:r>
            <a:endParaRPr b="0" i="0" sz="1300" u="none" cap="none" strike="noStrike">
              <a:solidFill>
                <a:schemeClr val="dk1"/>
              </a:solidFill>
              <a:latin typeface="IBM Plex Sans"/>
              <a:ea typeface="IBM Plex Sans"/>
              <a:cs typeface="IBM Plex Sans"/>
              <a:sym typeface="IBM Plex Sans"/>
            </a:endParaRPr>
          </a:p>
        </p:txBody>
      </p:sp>
      <p:sp>
        <p:nvSpPr>
          <p:cNvPr id="291" name="Google Shape;291;p14"/>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A8F"/>
              </a:buClr>
              <a:buSzPts val="1200"/>
              <a:buFont typeface="IBM Plex Sans"/>
              <a:buNone/>
            </a:pPr>
            <a:r>
              <a:rPr b="0" i="0" lang="en-US" sz="1200" u="none" cap="none" strike="noStrike">
                <a:solidFill>
                  <a:srgbClr val="6B7A8F"/>
                </a:solidFill>
                <a:latin typeface="IBM Plex Sans"/>
                <a:ea typeface="IBM Plex Sans"/>
                <a:cs typeface="IBM Plex Sans"/>
                <a:sym typeface="IBM Plex Sans"/>
              </a:rPr>
              <a:t>NGBoost · Análisis Predictivo · 14</a:t>
            </a:r>
            <a:endParaRPr b="0" i="0" sz="1200" u="none" cap="none" strike="noStrike">
              <a:solidFill>
                <a:schemeClr val="dk1"/>
              </a:solidFill>
              <a:latin typeface="IBM Plex Sans"/>
              <a:ea typeface="IBM Plex Sans"/>
              <a:cs typeface="IBM Plex Sans"/>
              <a:sym typeface="IBM Plex Sans"/>
            </a:endParaRPr>
          </a:p>
        </p:txBody>
      </p:sp>
      <p:sp>
        <p:nvSpPr>
          <p:cNvPr id="292" name="Google Shape;292;p14"/>
          <p:cNvSpPr txBox="1"/>
          <p:nvPr>
            <p:ph type="title"/>
          </p:nvPr>
        </p:nvSpPr>
        <p:spPr>
          <a:xfrm>
            <a:off x="1691700" y="1186825"/>
            <a:ext cx="10883400" cy="492600"/>
          </a:xfrm>
          <a:prstGeom prst="rect">
            <a:avLst/>
          </a:prstGeom>
          <a:noFill/>
          <a:ln>
            <a:noFill/>
          </a:ln>
        </p:spPr>
        <p:txBody>
          <a:bodyPr anchorCtr="0" anchor="t" bIns="0" lIns="0" spcFirstLastPara="1" rIns="0" wrap="square" tIns="0">
            <a:normAutofit fontScale="90000"/>
          </a:bodyPr>
          <a:lstStyle/>
          <a:p>
            <a:pPr indent="0" lvl="0" marL="0" rtl="0" algn="l">
              <a:spcBef>
                <a:spcPts val="0"/>
              </a:spcBef>
              <a:spcAft>
                <a:spcPts val="0"/>
              </a:spcAft>
              <a:buClr>
                <a:schemeClr val="dk1"/>
              </a:buClr>
              <a:buSzPct val="100000"/>
              <a:buFont typeface="IBM Plex Sans"/>
              <a:buNone/>
            </a:pPr>
            <a:r>
              <a:rPr b="1" lang="en-US">
                <a:solidFill>
                  <a:schemeClr val="dk1"/>
                </a:solidFill>
              </a:rPr>
              <a:t>Desventajas</a:t>
            </a:r>
            <a:endParaRPr>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spcBef>
                <a:spcPts val="0"/>
              </a:spcBef>
              <a:spcAft>
                <a:spcPts val="0"/>
              </a:spcAft>
              <a:buClr>
                <a:schemeClr val="dk1"/>
              </a:buClr>
              <a:buSzPct val="100000"/>
              <a:buFont typeface="IBM Plex Sans"/>
              <a:buNone/>
            </a:pPr>
            <a:r>
              <a:t/>
            </a:r>
            <a:endParaRPr b="1">
              <a:solidFill>
                <a:schemeClr val="dk1"/>
              </a:solidFill>
            </a:endParaRPr>
          </a:p>
          <a:p>
            <a:pPr indent="0" lvl="0" marL="0" rtl="0" algn="l">
              <a:lnSpc>
                <a:spcPct val="115000"/>
              </a:lnSpc>
              <a:spcBef>
                <a:spcPts val="0"/>
              </a:spcBef>
              <a:spcAft>
                <a:spcPts val="0"/>
              </a:spcAft>
              <a:buClr>
                <a:srgbClr val="0B2545"/>
              </a:buClr>
              <a:buSzPct val="100000"/>
              <a:buFont typeface="IBM Plex Sans"/>
              <a:buNone/>
            </a:pPr>
            <a:r>
              <a:t/>
            </a:r>
            <a:endParaRPr b="1"/>
          </a:p>
        </p:txBody>
      </p:sp>
      <p:pic>
        <p:nvPicPr>
          <p:cNvPr id="293" name="Google Shape;293;p14"/>
          <p:cNvPicPr preferRelativeResize="0"/>
          <p:nvPr/>
        </p:nvPicPr>
        <p:blipFill>
          <a:blip r:embed="rId8">
            <a:alphaModFix/>
          </a:blip>
          <a:stretch>
            <a:fillRect/>
          </a:stretch>
        </p:blipFill>
        <p:spPr>
          <a:xfrm>
            <a:off x="812800" y="1109917"/>
            <a:ext cx="646425" cy="6464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8" name="Shape 298"/>
        <p:cNvGrpSpPr/>
        <p:nvPr/>
      </p:nvGrpSpPr>
      <p:grpSpPr>
        <a:xfrm>
          <a:off x="0" y="0"/>
          <a:ext cx="0" cy="0"/>
          <a:chOff x="0" y="0"/>
          <a:chExt cx="0" cy="0"/>
        </a:xfrm>
      </p:grpSpPr>
      <p:sp>
        <p:nvSpPr>
          <p:cNvPr id="299" name="Google Shape;299;p1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8E6"/>
              </a:buClr>
              <a:buSzPts val="1200"/>
              <a:buFont typeface="IBM Plex Sans"/>
              <a:buNone/>
            </a:pPr>
            <a:r>
              <a:rPr b="1" i="0" lang="en-US" sz="1200" u="none" cap="none" strike="noStrike">
                <a:solidFill>
                  <a:srgbClr val="8FB8E6"/>
                </a:solidFill>
                <a:latin typeface="IBM Plex Sans"/>
                <a:ea typeface="IBM Plex Sans"/>
                <a:cs typeface="IBM Plex Sans"/>
                <a:sym typeface="IBM Plex Sans"/>
              </a:rPr>
              <a:t>CONCLUSIÓN</a:t>
            </a:r>
            <a:endParaRPr b="0" i="0" sz="1200" u="none" cap="none" strike="noStrike">
              <a:solidFill>
                <a:schemeClr val="dk1"/>
              </a:solidFill>
              <a:latin typeface="IBM Plex Sans"/>
              <a:ea typeface="IBM Plex Sans"/>
              <a:cs typeface="IBM Plex Sans"/>
              <a:sym typeface="IBM Plex Sans"/>
            </a:endParaRPr>
          </a:p>
        </p:txBody>
      </p:sp>
      <p:sp>
        <p:nvSpPr>
          <p:cNvPr id="300" name="Google Shape;300;p15"/>
          <p:cNvSpPr txBox="1"/>
          <p:nvPr>
            <p:ph type="title"/>
          </p:nvPr>
        </p:nvSpPr>
        <p:spPr>
          <a:xfrm>
            <a:off x="812800" y="1102320"/>
            <a:ext cx="10883392" cy="10769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F5F7FA"/>
              </a:buClr>
              <a:buSzPts val="3600"/>
              <a:buFont typeface="IBM Plex Sans"/>
              <a:buNone/>
            </a:pPr>
            <a:r>
              <a:rPr b="1" i="0" lang="en-US" sz="3600">
                <a:solidFill>
                  <a:srgbClr val="F5F7FA"/>
                </a:solidFill>
                <a:latin typeface="IBM Plex Sans"/>
                <a:ea typeface="IBM Plex Sans"/>
                <a:cs typeface="IBM Plex Sans"/>
                <a:sym typeface="IBM Plex Sans"/>
              </a:rPr>
              <a:t>NGBoost no predice mejor el número: predice cuánto confiar en él.</a:t>
            </a:r>
            <a:endParaRPr sz="3600"/>
          </a:p>
        </p:txBody>
      </p:sp>
      <p:cxnSp>
        <p:nvCxnSpPr>
          <p:cNvPr id="301" name="Google Shape;301;p15"/>
          <p:cNvCxnSpPr/>
          <p:nvPr/>
        </p:nvCxnSpPr>
        <p:spPr>
          <a:xfrm>
            <a:off x="812800" y="2528491"/>
            <a:ext cx="5130800" cy="0"/>
          </a:xfrm>
          <a:prstGeom prst="straightConnector1">
            <a:avLst/>
          </a:prstGeom>
          <a:noFill/>
          <a:ln cap="flat" cmpd="sng" w="38100">
            <a:solidFill>
              <a:srgbClr val="3D8BD9"/>
            </a:solidFill>
            <a:prstDash val="solid"/>
            <a:round/>
            <a:headEnd len="sm" w="sm" type="none"/>
            <a:tailEnd len="sm" w="sm" type="none"/>
          </a:ln>
        </p:spPr>
      </p:cxnSp>
      <p:sp>
        <p:nvSpPr>
          <p:cNvPr id="302" name="Google Shape;302;p15"/>
          <p:cNvSpPr/>
          <p:nvPr/>
        </p:nvSpPr>
        <p:spPr>
          <a:xfrm>
            <a:off x="812800" y="2725341"/>
            <a:ext cx="5284724" cy="29969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5F7FA"/>
              </a:buClr>
              <a:buSzPts val="1800"/>
              <a:buFont typeface="IBM Plex Sans"/>
              <a:buNone/>
            </a:pPr>
            <a:r>
              <a:rPr b="1" i="0" lang="en-US" sz="1800" u="none" cap="none" strike="noStrike">
                <a:solidFill>
                  <a:srgbClr val="F5F7FA"/>
                </a:solidFill>
                <a:latin typeface="IBM Plex Sans"/>
                <a:ea typeface="IBM Plex Sans"/>
                <a:cs typeface="IBM Plex Sans"/>
                <a:sym typeface="IBM Plex Sans"/>
              </a:rPr>
              <a:t>Usar NGBoost si…</a:t>
            </a:r>
            <a:endParaRPr b="0" i="0" sz="1800" u="none" cap="none" strike="noStrike">
              <a:solidFill>
                <a:schemeClr val="dk1"/>
              </a:solidFill>
              <a:latin typeface="IBM Plex Sans"/>
              <a:ea typeface="IBM Plex Sans"/>
              <a:cs typeface="IBM Plex Sans"/>
              <a:sym typeface="IBM Plex Sans"/>
            </a:endParaRPr>
          </a:p>
        </p:txBody>
      </p:sp>
      <p:sp>
        <p:nvSpPr>
          <p:cNvPr id="303" name="Google Shape;303;p15"/>
          <p:cNvSpPr/>
          <p:nvPr/>
        </p:nvSpPr>
        <p:spPr>
          <a:xfrm>
            <a:off x="812800" y="3101231"/>
            <a:ext cx="5284724"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4E2F2"/>
              </a:buClr>
              <a:buSzPts val="1500"/>
              <a:buFont typeface="IBM Plex Sans"/>
              <a:buNone/>
            </a:pPr>
            <a:r>
              <a:rPr b="0" i="0" lang="en-US" sz="1500" u="none" cap="none" strike="noStrike">
                <a:solidFill>
                  <a:srgbClr val="D4E2F2"/>
                </a:solidFill>
                <a:latin typeface="IBM Plex Sans"/>
                <a:ea typeface="IBM Plex Sans"/>
                <a:cs typeface="IBM Plex Sans"/>
                <a:sym typeface="IBM Plex Sans"/>
              </a:rPr>
              <a:t>La decisión depende de un rango o una probabilidad, la incertidumbre cambia entre casos y los datos son tabulares.</a:t>
            </a:r>
            <a:endParaRPr b="0" i="0" sz="1500" u="none" cap="none" strike="noStrike">
              <a:solidFill>
                <a:schemeClr val="dk1"/>
              </a:solidFill>
              <a:latin typeface="IBM Plex Sans"/>
              <a:ea typeface="IBM Plex Sans"/>
              <a:cs typeface="IBM Plex Sans"/>
              <a:sym typeface="IBM Plex Sans"/>
            </a:endParaRPr>
          </a:p>
        </p:txBody>
      </p:sp>
      <p:cxnSp>
        <p:nvCxnSpPr>
          <p:cNvPr id="304" name="Google Shape;304;p15"/>
          <p:cNvCxnSpPr/>
          <p:nvPr/>
        </p:nvCxnSpPr>
        <p:spPr>
          <a:xfrm>
            <a:off x="6248400" y="2528491"/>
            <a:ext cx="5130800" cy="0"/>
          </a:xfrm>
          <a:prstGeom prst="straightConnector1">
            <a:avLst/>
          </a:prstGeom>
          <a:noFill/>
          <a:ln cap="flat" cmpd="sng" w="38100">
            <a:solidFill>
              <a:srgbClr val="E08A4C"/>
            </a:solidFill>
            <a:prstDash val="solid"/>
            <a:round/>
            <a:headEnd len="sm" w="sm" type="none"/>
            <a:tailEnd len="sm" w="sm" type="none"/>
          </a:ln>
        </p:spPr>
      </p:cxnSp>
      <p:sp>
        <p:nvSpPr>
          <p:cNvPr id="305" name="Google Shape;305;p15"/>
          <p:cNvSpPr/>
          <p:nvPr/>
        </p:nvSpPr>
        <p:spPr>
          <a:xfrm>
            <a:off x="6248400" y="2725341"/>
            <a:ext cx="5284724" cy="29969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5F7FA"/>
              </a:buClr>
              <a:buSzPts val="1800"/>
              <a:buFont typeface="IBM Plex Sans"/>
              <a:buNone/>
            </a:pPr>
            <a:r>
              <a:rPr b="1" i="0" lang="en-US" sz="1800" u="none" cap="none" strike="noStrike">
                <a:solidFill>
                  <a:srgbClr val="F5F7FA"/>
                </a:solidFill>
                <a:latin typeface="IBM Plex Sans"/>
                <a:ea typeface="IBM Plex Sans"/>
                <a:cs typeface="IBM Plex Sans"/>
                <a:sym typeface="IBM Plex Sans"/>
              </a:rPr>
              <a:t>Quedarse con XGBoost si…</a:t>
            </a:r>
            <a:endParaRPr b="0" i="0" sz="1800" u="none" cap="none" strike="noStrike">
              <a:solidFill>
                <a:schemeClr val="dk1"/>
              </a:solidFill>
              <a:latin typeface="IBM Plex Sans"/>
              <a:ea typeface="IBM Plex Sans"/>
              <a:cs typeface="IBM Plex Sans"/>
              <a:sym typeface="IBM Plex Sans"/>
            </a:endParaRPr>
          </a:p>
        </p:txBody>
      </p:sp>
      <p:sp>
        <p:nvSpPr>
          <p:cNvPr id="306" name="Google Shape;306;p15"/>
          <p:cNvSpPr/>
          <p:nvPr/>
        </p:nvSpPr>
        <p:spPr>
          <a:xfrm>
            <a:off x="6248400" y="3101231"/>
            <a:ext cx="5284724"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4E2F2"/>
              </a:buClr>
              <a:buSzPts val="1500"/>
              <a:buFont typeface="IBM Plex Sans"/>
              <a:buNone/>
            </a:pPr>
            <a:r>
              <a:rPr b="0" i="0" lang="en-US" sz="1500" u="none" cap="none" strike="noStrike">
                <a:solidFill>
                  <a:srgbClr val="D4E2F2"/>
                </a:solidFill>
                <a:latin typeface="IBM Plex Sans"/>
                <a:ea typeface="IBM Plex Sans"/>
                <a:cs typeface="IBM Plex Sans"/>
                <a:sym typeface="IBM Plex Sans"/>
              </a:rPr>
              <a:t>Solo importa el valor puntual</a:t>
            </a:r>
            <a:r>
              <a:rPr b="0" i="0" lang="en-US" sz="1500" u="none" cap="none" strike="noStrike">
                <a:solidFill>
                  <a:srgbClr val="D4E2F2"/>
                </a:solidFill>
                <a:latin typeface="IBM Plex Sans"/>
                <a:ea typeface="IBM Plex Sans"/>
                <a:cs typeface="IBM Plex Sans"/>
                <a:sym typeface="IBM Plex Sans"/>
              </a:rPr>
              <a:t>, </a:t>
            </a:r>
            <a:r>
              <a:rPr b="0" i="0" lang="en-US" sz="1500" u="none" cap="none" strike="noStrike">
                <a:solidFill>
                  <a:srgbClr val="D4E2F2"/>
                </a:solidFill>
                <a:latin typeface="IBM Plex Sans"/>
                <a:ea typeface="IBM Plex Sans"/>
                <a:cs typeface="IBM Plex Sans"/>
                <a:sym typeface="IBM Plex Sans"/>
              </a:rPr>
              <a:t>el volumen de datos es enorme o la velocidad de entrenamiento es crítica.</a:t>
            </a:r>
            <a:endParaRPr b="0" i="0" sz="1500" u="none" cap="none" strike="noStrike">
              <a:solidFill>
                <a:schemeClr val="dk1"/>
              </a:solidFill>
              <a:latin typeface="IBM Plex Sans"/>
              <a:ea typeface="IBM Plex Sans"/>
              <a:cs typeface="IBM Plex Sans"/>
              <a:sym typeface="IBM Plex Sans"/>
            </a:endParaRPr>
          </a:p>
        </p:txBody>
      </p:sp>
      <p:sp>
        <p:nvSpPr>
          <p:cNvPr id="307" name="Google Shape;307;p15"/>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B8E6"/>
              </a:buClr>
              <a:buSzPts val="1200"/>
              <a:buFont typeface="IBM Plex Sans"/>
              <a:buNone/>
            </a:pPr>
            <a:r>
              <a:rPr b="0" i="0" lang="en-US" sz="1200" u="none" cap="none" strike="noStrike">
                <a:solidFill>
                  <a:srgbClr val="8FB8E6"/>
                </a:solidFill>
                <a:latin typeface="IBM Plex Sans"/>
                <a:ea typeface="IBM Plex Sans"/>
                <a:cs typeface="IBM Plex Sans"/>
                <a:sym typeface="IBM Plex Sans"/>
              </a:rPr>
              <a:t>NGBoost · Análisis Predictivo · 15</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2" name="Shape 312"/>
        <p:cNvGrpSpPr/>
        <p:nvPr/>
      </p:nvGrpSpPr>
      <p:grpSpPr>
        <a:xfrm>
          <a:off x="0" y="0"/>
          <a:ext cx="0" cy="0"/>
          <a:chOff x="0" y="0"/>
          <a:chExt cx="0" cy="0"/>
        </a:xfrm>
      </p:grpSpPr>
      <p:sp>
        <p:nvSpPr>
          <p:cNvPr id="313" name="Google Shape;313;p1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B5FA8"/>
              </a:buClr>
              <a:buSzPts val="1200"/>
              <a:buFont typeface="IBM Plex Sans"/>
              <a:buNone/>
            </a:pPr>
            <a:r>
              <a:rPr b="1" i="0" lang="en-US" sz="1200" u="none" cap="none" strike="noStrike">
                <a:solidFill>
                  <a:srgbClr val="1B5FA8"/>
                </a:solidFill>
                <a:latin typeface="IBM Plex Sans"/>
                <a:ea typeface="IBM Plex Sans"/>
                <a:cs typeface="IBM Plex Sans"/>
                <a:sym typeface="IBM Plex Sans"/>
              </a:rPr>
              <a:t>REFERENCIAS</a:t>
            </a:r>
            <a:endParaRPr b="0" i="0" sz="1200" u="none" cap="none" strike="noStrike">
              <a:solidFill>
                <a:schemeClr val="dk1"/>
              </a:solidFill>
              <a:latin typeface="IBM Plex Sans"/>
              <a:ea typeface="IBM Plex Sans"/>
              <a:cs typeface="IBM Plex Sans"/>
              <a:sym typeface="IBM Plex Sans"/>
            </a:endParaRPr>
          </a:p>
        </p:txBody>
      </p:sp>
      <p:sp>
        <p:nvSpPr>
          <p:cNvPr id="314" name="Google Shape;314;p16"/>
          <p:cNvSpPr txBox="1"/>
          <p:nvPr>
            <p:ph type="title"/>
          </p:nvPr>
        </p:nvSpPr>
        <p:spPr>
          <a:xfrm>
            <a:off x="812800" y="1102320"/>
            <a:ext cx="10883392" cy="4927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0B2545"/>
              </a:buClr>
              <a:buSzPts val="3200"/>
              <a:buFont typeface="IBM Plex Sans"/>
              <a:buNone/>
            </a:pPr>
            <a:r>
              <a:rPr b="1" i="0" lang="en-US" sz="3200">
                <a:solidFill>
                  <a:srgbClr val="0B2545"/>
                </a:solidFill>
                <a:latin typeface="IBM Plex Sans"/>
                <a:ea typeface="IBM Plex Sans"/>
                <a:cs typeface="IBM Plex Sans"/>
                <a:sym typeface="IBM Plex Sans"/>
              </a:rPr>
              <a:t>Fuentes y código</a:t>
            </a:r>
            <a:endParaRPr sz="3200"/>
          </a:p>
        </p:txBody>
      </p:sp>
      <p:sp>
        <p:nvSpPr>
          <p:cNvPr id="315" name="Google Shape;315;p16"/>
          <p:cNvSpPr/>
          <p:nvPr/>
        </p:nvSpPr>
        <p:spPr>
          <a:xfrm>
            <a:off x="812800" y="1874441"/>
            <a:ext cx="10883392" cy="3098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600"/>
              <a:buFont typeface="IBM Plex Sans"/>
              <a:buNone/>
            </a:pPr>
            <a:r>
              <a:rPr b="1" i="0" lang="en-US" sz="1600" u="none" cap="none" strike="noStrike">
                <a:solidFill>
                  <a:srgbClr val="0B2545"/>
                </a:solidFill>
                <a:latin typeface="IBM Plex Sans"/>
                <a:ea typeface="IBM Plex Sans"/>
                <a:cs typeface="IBM Plex Sans"/>
                <a:sym typeface="IBM Plex Sans"/>
              </a:rPr>
              <a:t>Paper original</a:t>
            </a:r>
            <a:endParaRPr b="0" i="0" sz="1600" u="none" cap="none" strike="noStrike">
              <a:solidFill>
                <a:schemeClr val="dk1"/>
              </a:solidFill>
              <a:latin typeface="IBM Plex Sans"/>
              <a:ea typeface="IBM Plex Sans"/>
              <a:cs typeface="IBM Plex Sans"/>
              <a:sym typeface="IBM Plex Sans"/>
            </a:endParaRPr>
          </a:p>
        </p:txBody>
      </p:sp>
      <p:sp>
        <p:nvSpPr>
          <p:cNvPr id="316" name="Google Shape;316;p16"/>
          <p:cNvSpPr/>
          <p:nvPr/>
        </p:nvSpPr>
        <p:spPr>
          <a:xfrm>
            <a:off x="812800" y="2197001"/>
            <a:ext cx="10883392" cy="50542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400"/>
              <a:buFont typeface="IBM Plex Sans"/>
              <a:buNone/>
            </a:pPr>
            <a:r>
              <a:rPr b="0" i="0" lang="en-US" sz="1400" u="none" cap="none" strike="noStrike">
                <a:solidFill>
                  <a:srgbClr val="3B4A5E"/>
                </a:solidFill>
                <a:latin typeface="IBM Plex Sans"/>
                <a:ea typeface="IBM Plex Sans"/>
                <a:cs typeface="IBM Plex Sans"/>
                <a:sym typeface="IBM Plex Sans"/>
              </a:rPr>
              <a:t>Duan, Avati, Ding, Thai, Basu, Ng y Schuler (2019). NGBoost: Natural Gradient Boosting for Probabilistic Prediction. </a:t>
            </a:r>
            <a:r>
              <a:rPr b="0" i="0" lang="en-US" sz="1400" u="sng" cap="none" strike="noStrike">
                <a:solidFill>
                  <a:srgbClr val="1B5FA8"/>
                </a:solidFill>
                <a:latin typeface="IBM Plex Sans"/>
                <a:ea typeface="IBM Plex Sans"/>
                <a:cs typeface="IBM Plex Sans"/>
                <a:sym typeface="IBM Plex Sans"/>
                <a:hlinkClick r:id="rId4">
                  <a:extLst>
                    <a:ext uri="{A12FA001-AC4F-418D-AE19-62706E023703}">
                      <ahyp:hlinkClr val="tx"/>
                    </a:ext>
                  </a:extLst>
                </a:hlinkClick>
              </a:rPr>
              <a:t>arXiv:1910.03225</a:t>
            </a:r>
            <a:endParaRPr b="0" i="0" sz="1400" u="none" cap="none" strike="noStrike">
              <a:solidFill>
                <a:schemeClr val="dk1"/>
              </a:solidFill>
              <a:latin typeface="IBM Plex Sans"/>
              <a:ea typeface="IBM Plex Sans"/>
              <a:cs typeface="IBM Plex Sans"/>
              <a:sym typeface="IBM Plex Sans"/>
            </a:endParaRPr>
          </a:p>
        </p:txBody>
      </p:sp>
      <p:sp>
        <p:nvSpPr>
          <p:cNvPr id="317" name="Google Shape;317;p16"/>
          <p:cNvSpPr/>
          <p:nvPr/>
        </p:nvSpPr>
        <p:spPr>
          <a:xfrm>
            <a:off x="812800" y="2905621"/>
            <a:ext cx="10883392" cy="3098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600"/>
              <a:buFont typeface="IBM Plex Sans"/>
              <a:buNone/>
            </a:pPr>
            <a:r>
              <a:rPr b="1" i="0" lang="en-US" sz="1600" u="none" cap="none" strike="noStrike">
                <a:solidFill>
                  <a:srgbClr val="0B2545"/>
                </a:solidFill>
                <a:latin typeface="IBM Plex Sans"/>
                <a:ea typeface="IBM Plex Sans"/>
                <a:cs typeface="IBM Plex Sans"/>
                <a:sym typeface="IBM Plex Sans"/>
              </a:rPr>
              <a:t>Documentación oficial</a:t>
            </a:r>
            <a:endParaRPr b="0" i="0" sz="1600" u="none" cap="none" strike="noStrike">
              <a:solidFill>
                <a:schemeClr val="dk1"/>
              </a:solidFill>
              <a:latin typeface="IBM Plex Sans"/>
              <a:ea typeface="IBM Plex Sans"/>
              <a:cs typeface="IBM Plex Sans"/>
              <a:sym typeface="IBM Plex Sans"/>
            </a:endParaRPr>
          </a:p>
        </p:txBody>
      </p:sp>
      <p:sp>
        <p:nvSpPr>
          <p:cNvPr id="318" name="Google Shape;318;p16"/>
          <p:cNvSpPr/>
          <p:nvPr/>
        </p:nvSpPr>
        <p:spPr>
          <a:xfrm>
            <a:off x="812800" y="3228181"/>
            <a:ext cx="10883392" cy="26541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B5FA8"/>
              </a:buClr>
              <a:buSzPts val="1400"/>
              <a:buFont typeface="IBM Plex Sans"/>
              <a:buNone/>
            </a:pPr>
            <a:r>
              <a:rPr b="0" i="0" lang="en-US" sz="1400" u="sng" cap="none" strike="noStrike">
                <a:solidFill>
                  <a:srgbClr val="1B5FA8"/>
                </a:solidFill>
                <a:latin typeface="IBM Plex Sans"/>
                <a:ea typeface="IBM Plex Sans"/>
                <a:cs typeface="IBM Plex Sans"/>
                <a:sym typeface="IBM Plex Sans"/>
                <a:hlinkClick r:id="rId5">
                  <a:extLst>
                    <a:ext uri="{A12FA001-AC4F-418D-AE19-62706E023703}">
                      <ahyp:hlinkClr val="tx"/>
                    </a:ext>
                  </a:extLst>
                </a:hlinkClick>
              </a:rPr>
              <a:t>stanfordmlgroup.github.io/ngboost</a:t>
            </a:r>
            <a:r>
              <a:rPr b="0" i="0" lang="en-US" sz="1400" u="none" cap="none" strike="noStrike">
                <a:solidFill>
                  <a:srgbClr val="3B4A5E"/>
                </a:solidFill>
                <a:latin typeface="IBM Plex Sans"/>
                <a:ea typeface="IBM Plex Sans"/>
                <a:cs typeface="IBM Plex Sans"/>
                <a:sym typeface="IBM Plex Sans"/>
              </a:rPr>
              <a:t> · librería </a:t>
            </a:r>
            <a:r>
              <a:rPr b="0" i="0" lang="en-US" sz="1400" u="sng" cap="none" strike="noStrike">
                <a:solidFill>
                  <a:srgbClr val="1B5FA8"/>
                </a:solidFill>
                <a:latin typeface="IBM Plex Sans"/>
                <a:ea typeface="IBM Plex Sans"/>
                <a:cs typeface="IBM Plex Sans"/>
                <a:sym typeface="IBM Plex Sans"/>
                <a:hlinkClick r:id="rId6">
                  <a:extLst>
                    <a:ext uri="{A12FA001-AC4F-418D-AE19-62706E023703}">
                      <ahyp:hlinkClr val="tx"/>
                    </a:ext>
                  </a:extLst>
                </a:hlinkClick>
              </a:rPr>
              <a:t>github.com/stanfordmlgroup/ngboost</a:t>
            </a:r>
            <a:endParaRPr b="0" i="0" sz="1400" u="none" cap="none" strike="noStrike">
              <a:solidFill>
                <a:schemeClr val="dk1"/>
              </a:solidFill>
              <a:latin typeface="IBM Plex Sans"/>
              <a:ea typeface="IBM Plex Sans"/>
              <a:cs typeface="IBM Plex Sans"/>
              <a:sym typeface="IBM Plex Sans"/>
            </a:endParaRPr>
          </a:p>
        </p:txBody>
      </p:sp>
      <p:sp>
        <p:nvSpPr>
          <p:cNvPr id="319" name="Google Shape;319;p16"/>
          <p:cNvSpPr/>
          <p:nvPr/>
        </p:nvSpPr>
        <p:spPr>
          <a:xfrm>
            <a:off x="812800" y="3696791"/>
            <a:ext cx="10883392" cy="3098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B2545"/>
              </a:buClr>
              <a:buSzPts val="1600"/>
              <a:buFont typeface="IBM Plex Sans"/>
              <a:buNone/>
            </a:pPr>
            <a:r>
              <a:rPr b="1" i="0" lang="en-US" sz="1600" u="none" cap="none" strike="noStrike">
                <a:solidFill>
                  <a:srgbClr val="0B2545"/>
                </a:solidFill>
                <a:latin typeface="IBM Plex Sans"/>
                <a:ea typeface="IBM Plex Sans"/>
                <a:cs typeface="IBM Plex Sans"/>
                <a:sym typeface="IBM Plex Sans"/>
              </a:rPr>
              <a:t>Nuestro notebook</a:t>
            </a:r>
            <a:endParaRPr b="0" i="0" sz="1600" u="none" cap="none" strike="noStrike">
              <a:solidFill>
                <a:schemeClr val="dk1"/>
              </a:solidFill>
              <a:latin typeface="IBM Plex Sans"/>
              <a:ea typeface="IBM Plex Sans"/>
              <a:cs typeface="IBM Plex Sans"/>
              <a:sym typeface="IBM Plex Sans"/>
            </a:endParaRPr>
          </a:p>
        </p:txBody>
      </p:sp>
      <p:sp>
        <p:nvSpPr>
          <p:cNvPr id="320" name="Google Shape;320;p16"/>
          <p:cNvSpPr/>
          <p:nvPr/>
        </p:nvSpPr>
        <p:spPr>
          <a:xfrm>
            <a:off x="812800" y="4019352"/>
            <a:ext cx="10883392" cy="50542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B4A5E"/>
              </a:buClr>
              <a:buSzPts val="1400"/>
              <a:buFont typeface="IBM Plex Sans"/>
              <a:buNone/>
            </a:pPr>
            <a:r>
              <a:rPr b="0" i="0" lang="en-US" sz="1400" u="none" cap="none" strike="noStrike">
                <a:solidFill>
                  <a:srgbClr val="3B4A5E"/>
                </a:solidFill>
                <a:latin typeface="IBM Plex Sans"/>
                <a:ea typeface="IBM Plex Sans"/>
                <a:cs typeface="IBM Plex Sans"/>
                <a:sym typeface="IBM Plex Sans"/>
              </a:rPr>
              <a:t>Ejemplo de juguete, California Housing, calibración, ablación y Normal vs. LogNormal: </a:t>
            </a:r>
            <a:r>
              <a:rPr b="0" i="0" lang="en-US" sz="1400" u="sng" cap="none" strike="noStrike">
                <a:solidFill>
                  <a:srgbClr val="1B5FA8"/>
                </a:solidFill>
                <a:latin typeface="IBM Plex Sans"/>
                <a:ea typeface="IBM Plex Sans"/>
                <a:cs typeface="IBM Plex Sans"/>
                <a:sym typeface="IBM Plex Sans"/>
                <a:hlinkClick r:id="rId7">
                  <a:extLst>
                    <a:ext uri="{A12FA001-AC4F-418D-AE19-62706E023703}">
                      <ahyp:hlinkClr val="tx"/>
                    </a:ext>
                  </a:extLst>
                </a:hlinkClick>
              </a:rPr>
              <a:t>github.com/andresglau/tp2-predictivo-ngboost</a:t>
            </a:r>
            <a:endParaRPr b="0" i="0" sz="1400" u="none" cap="none" strike="noStrike">
              <a:solidFill>
                <a:schemeClr val="dk1"/>
              </a:solidFill>
              <a:latin typeface="IBM Plex Sans"/>
              <a:ea typeface="IBM Plex Sans"/>
              <a:cs typeface="IBM Plex Sans"/>
              <a:sym typeface="IBM Plex Sans"/>
            </a:endParaRPr>
          </a:p>
        </p:txBody>
      </p:sp>
      <p:sp>
        <p:nvSpPr>
          <p:cNvPr id="321" name="Google Shape;321;p16"/>
          <p:cNvSpPr/>
          <p:nvPr/>
        </p:nvSpPr>
        <p:spPr>
          <a:xfrm>
            <a:off x="812800" y="623828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A8F"/>
              </a:buClr>
              <a:buSzPts val="1200"/>
              <a:buFont typeface="IBM Plex Sans"/>
              <a:buNone/>
            </a:pPr>
            <a:r>
              <a:rPr b="0" i="0" lang="en-US" sz="1200" u="none" cap="none" strike="noStrike">
                <a:solidFill>
                  <a:srgbClr val="6B7A8F"/>
                </a:solidFill>
                <a:latin typeface="IBM Plex Sans"/>
                <a:ea typeface="IBM Plex Sans"/>
                <a:cs typeface="IBM Plex Sans"/>
                <a:sym typeface="IBM Plex Sans"/>
              </a:rPr>
              <a:t>NGBoost · Análisis Predictivo · 16</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theme/theme1.xml><?xml version="1.0" encoding="utf-8"?>
<a:theme xmlns:a="http://schemas.openxmlformats.org/drawingml/2006/main" xmlns:r="http://schemas.openxmlformats.org/officeDocument/2006/relationships" name="NGBoost — Análisis Predictivo">
  <a:themeElements>
    <a:clrScheme name="NGBoost — Análisis Predictivo">
      <a:dk1>
        <a:srgbClr val="0B2545"/>
      </a:dk1>
      <a:lt1>
        <a:srgbClr val="F5F7FA"/>
      </a:lt1>
      <a:dk2>
        <a:srgbClr val="465A72"/>
      </a:dk2>
      <a:lt2>
        <a:srgbClr val="DEE2E8"/>
      </a:lt2>
      <a:accent1>
        <a:srgbClr val="1B5FA8"/>
      </a:accent1>
      <a:accent2>
        <a:srgbClr val="C2560F"/>
      </a:accent2>
      <a:accent3>
        <a:srgbClr val="8FB8E6"/>
      </a:accent3>
      <a:accent4>
        <a:srgbClr val="BFD3EA"/>
      </a:accent4>
      <a:accent5>
        <a:srgbClr val="3D8BD9"/>
      </a:accent5>
      <a:accent6>
        <a:srgbClr val="3B4A5E"/>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GBoost — Análisis Predictivo">
  <a:themeElements>
    <a:clrScheme name="NGBoost — Análisis Predictivo">
      <a:dk1>
        <a:srgbClr val="0B2545"/>
      </a:dk1>
      <a:lt1>
        <a:srgbClr val="F5F7FA"/>
      </a:lt1>
      <a:dk2>
        <a:srgbClr val="465A72"/>
      </a:dk2>
      <a:lt2>
        <a:srgbClr val="DEE2E8"/>
      </a:lt2>
      <a:accent1>
        <a:srgbClr val="1B5FA8"/>
      </a:accent1>
      <a:accent2>
        <a:srgbClr val="C2560F"/>
      </a:accent2>
      <a:accent3>
        <a:srgbClr val="8FB8E6"/>
      </a:accent3>
      <a:accent4>
        <a:srgbClr val="BFD3EA"/>
      </a:accent4>
      <a:accent5>
        <a:srgbClr val="3D8BD9"/>
      </a:accent5>
      <a:accent6>
        <a:srgbClr val="3B4A5E"/>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2026-10-12T17:56:38Z</dcterms:created>
</cp:coreProperties>
</file>